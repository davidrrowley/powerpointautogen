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891" r:id="rId1"/>
  </p:sldMasterIdLst>
  <p:notesMasterIdLst>
    <p:notesMasterId r:id="rId94"/>
  </p:notesMasterIdLst>
  <p:handoutMasterIdLst>
    <p:handoutMasterId r:id="rId95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x="9144000" cy="5143500" type="screen16x9"/>
  <p:notesSz cx="6858000" cy="9144000"/>
  <p:defaultTextStyle>
    <a:defPPr>
      <a:defRPr lang="en-US"/>
    </a:defPPr>
    <a:lvl1pPr marL="0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91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983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974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966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957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949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940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932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ons" id="{672E31BB-9F53-944C-AFF7-1F240E61BE18}">
          <p14:sldIdLst>
            <p14:sldId id="262"/>
            <p14:sldId id="256"/>
            <p14:sldId id="258"/>
            <p14:sldId id="336"/>
            <p14:sldId id="360"/>
            <p14:sldId id="261"/>
            <p14:sldId id="349"/>
            <p14:sldId id="265"/>
            <p14:sldId id="257"/>
            <p14:sldId id="266"/>
            <p14:sldId id="264"/>
          </p14:sldIdLst>
        </p14:section>
        <p14:section name="Covers and front matter designs" id="{591A3328-AB40-EB40-8371-0BE8997D5ECA}">
          <p14:sldIdLst>
            <p14:sldId id="269"/>
            <p14:sldId id="383"/>
            <p14:sldId id="386"/>
            <p14:sldId id="387"/>
            <p14:sldId id="388"/>
            <p14:sldId id="389"/>
            <p14:sldId id="361"/>
            <p14:sldId id="363"/>
            <p14:sldId id="362"/>
            <p14:sldId id="275"/>
            <p14:sldId id="395"/>
            <p14:sldId id="396"/>
            <p14:sldId id="397"/>
            <p14:sldId id="398"/>
            <p14:sldId id="399"/>
            <p14:sldId id="281"/>
            <p14:sldId id="370"/>
            <p14:sldId id="283"/>
            <p14:sldId id="364"/>
            <p14:sldId id="284"/>
            <p14:sldId id="285"/>
          </p14:sldIdLst>
        </p14:section>
        <p14:section name="Sample slides" id="{FE79D234-09B0-7A4C-9C40-866AE14B99F0}">
          <p14:sldIdLst>
            <p14:sldId id="286"/>
            <p14:sldId id="287"/>
            <p14:sldId id="288"/>
            <p14:sldId id="365"/>
            <p14:sldId id="290"/>
            <p14:sldId id="291"/>
            <p14:sldId id="292"/>
            <p14:sldId id="293"/>
            <p14:sldId id="294"/>
            <p14:sldId id="295"/>
            <p14:sldId id="296"/>
            <p14:sldId id="410"/>
            <p14:sldId id="297"/>
            <p14:sldId id="298"/>
            <p14:sldId id="299"/>
            <p14:sldId id="304"/>
            <p14:sldId id="300"/>
            <p14:sldId id="301"/>
            <p14:sldId id="302"/>
            <p14:sldId id="303"/>
            <p14:sldId id="305"/>
            <p14:sldId id="381"/>
            <p14:sldId id="306"/>
            <p14:sldId id="382"/>
            <p14:sldId id="327"/>
            <p14:sldId id="328"/>
            <p14:sldId id="326"/>
            <p14:sldId id="307"/>
            <p14:sldId id="411"/>
            <p14:sldId id="412"/>
            <p14:sldId id="400"/>
            <p14:sldId id="401"/>
            <p14:sldId id="402"/>
            <p14:sldId id="403"/>
            <p14:sldId id="404"/>
            <p14:sldId id="405"/>
            <p14:sldId id="406"/>
            <p14:sldId id="407"/>
            <p14:sldId id="377"/>
            <p14:sldId id="378"/>
            <p14:sldId id="308"/>
          </p14:sldIdLst>
        </p14:section>
        <p14:section name="Sample charts &amp; tables" id="{269F54EE-045D-8D4D-9D1D-F95D304254CD}">
          <p14:sldIdLst>
            <p14:sldId id="356"/>
            <p14:sldId id="310"/>
            <p14:sldId id="357"/>
            <p14:sldId id="342"/>
            <p14:sldId id="313"/>
            <p14:sldId id="316"/>
            <p14:sldId id="369"/>
            <p14:sldId id="318"/>
            <p14:sldId id="358"/>
            <p14:sldId id="359"/>
            <p14:sldId id="314"/>
            <p14:sldId id="347"/>
            <p14:sldId id="338"/>
            <p14:sldId id="339"/>
            <p14:sldId id="322"/>
            <p14:sldId id="323"/>
            <p14:sldId id="325"/>
            <p14:sldId id="324"/>
          </p14:sldIdLst>
        </p14:section>
        <p14:section name="Color palette" id="{65FF3ABE-B9F3-0A45-B4B2-DBFBFD1D9A4D}">
          <p14:sldIdLst>
            <p14:sldId id="3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achary Anderson" initials="ZA" lastIdx="26" clrIdx="0">
    <p:extLst>
      <p:ext uri="{19B8F6BF-5375-455C-9EA6-DF929625EA0E}">
        <p15:presenceInfo xmlns:p15="http://schemas.microsoft.com/office/powerpoint/2012/main" userId="S::zanderson@vsapartners.com::b6da4b55-2f36-4779-ba8b-606d779a32e3" providerId="AD"/>
      </p:ext>
    </p:extLst>
  </p:cmAuthor>
  <p:cmAuthor id="2" name="Liz Sadler" initials="LS" lastIdx="36" clrIdx="1">
    <p:extLst>
      <p:ext uri="{19B8F6BF-5375-455C-9EA6-DF929625EA0E}">
        <p15:presenceInfo xmlns:p15="http://schemas.microsoft.com/office/powerpoint/2012/main" userId="Liz Sadl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32"/>
    <p:restoredTop sz="96327"/>
  </p:normalViewPr>
  <p:slideViewPr>
    <p:cSldViewPr snapToGrid="0" snapToObjects="1">
      <p:cViewPr varScale="1">
        <p:scale>
          <a:sx n="159" d="100"/>
          <a:sy n="159" d="100"/>
        </p:scale>
        <p:origin x="464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231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8" d="100"/>
          <a:sy n="88" d="100"/>
        </p:scale>
        <p:origin x="3872" y="17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94" Type="http://schemas.openxmlformats.org/officeDocument/2006/relationships/notesMaster" Target="notesMasters/notesMaster1.xml"/><Relationship Id="rId95" Type="http://schemas.openxmlformats.org/officeDocument/2006/relationships/handoutMaster" Target="handoutMasters/handoutMaster1.xml"/><Relationship Id="rId96" Type="http://schemas.openxmlformats.org/officeDocument/2006/relationships/commentAuthors" Target="commentAuthors.xml"/><Relationship Id="rId97" Type="http://schemas.openxmlformats.org/officeDocument/2006/relationships/presProps" Target="presProps.xml"/><Relationship Id="rId98" Type="http://schemas.openxmlformats.org/officeDocument/2006/relationships/viewProps" Target="viewProps.xml"/><Relationship Id="rId99" Type="http://schemas.openxmlformats.org/officeDocument/2006/relationships/theme" Target="theme/theme1.xml"/><Relationship Id="rId10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pPr algn="l"/>
            <a:fld id="{614B4878-71CB-8F40-B9DD-F26F1F6CA014}" type="slidenum">
              <a:rPr lang="en-US" sz="600" smtClean="0">
                <a:solidFill>
                  <a:schemeClr val="bg1"/>
                </a:solidFill>
                <a:latin typeface="Arial" panose="020B0604020202020204" pitchFamily="34" charset="0"/>
                <a:ea typeface="IBM Plex Sans Light" charset="0"/>
                <a:cs typeface="Arial" panose="020B0604020202020204" pitchFamily="34" charset="0"/>
              </a:rPr>
              <a:pPr algn="l"/>
              <a:t>‹#›</a:t>
            </a:fld>
            <a:endParaRPr lang="en-US" sz="600" dirty="0">
              <a:solidFill>
                <a:schemeClr val="bg1"/>
              </a:solidFill>
              <a:latin typeface="Arial" panose="020B0604020202020204" pitchFamily="34" charset="0"/>
              <a:ea typeface="IBM Plex Sans Light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en-US" sz="600" dirty="0">
                <a:solidFill>
                  <a:schemeClr val="bg1"/>
                </a:solidFill>
                <a:latin typeface="Arial" panose="020B0604020202020204" pitchFamily="34" charset="0"/>
                <a:ea typeface="IBM Plex Sans Light" charset="0"/>
                <a:cs typeface="Arial" panose="020B0604020202020204" pitchFamily="34" charset="0"/>
              </a:rPr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480278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22450" y="228600"/>
            <a:ext cx="3213100" cy="1807369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6ABF5568-9620-E34F-9423-054ABD0598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19456" y="2247900"/>
            <a:ext cx="6419088" cy="615950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marL="803275" marR="0" lvl="4" indent="-1714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Tx/>
              <a:buFont typeface="IBM Plex Sans Light" charset="-120"/>
              <a:buChar char="»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 panose="020B0503050203000203" pitchFamily="34" charset="0"/>
                <a:ea typeface="+mn-ea"/>
                <a:cs typeface="+mn-cs"/>
              </a:rPr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E2E38B8-B0B4-AD41-AC6E-B781F46A9F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79159858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spcBef>
        <a:spcPts val="600"/>
      </a:spcBef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1pPr>
    <a:lvl2pPr marL="174625" indent="-169863" algn="l" defTabSz="914400" rtl="0" eaLnBrk="1" latinLnBrk="0" hangingPunct="1">
      <a:spcBef>
        <a:spcPts val="600"/>
      </a:spcBef>
      <a:buFont typeface="IBM Plex Sans"/>
      <a:buChar char="–"/>
      <a:tabLst/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2pPr>
    <a:lvl3pPr marL="347472" indent="-173736" algn="l" defTabSz="914400" rtl="0" eaLnBrk="1" latinLnBrk="0" hangingPunct="1">
      <a:spcBef>
        <a:spcPts val="600"/>
      </a:spcBef>
      <a:buFont typeface="IBM Plex Sans Light" panose="020B0604020202020204" pitchFamily="34" charset="0"/>
      <a:buChar char="•"/>
      <a:tabLst/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3pPr>
    <a:lvl4pPr marL="630936" indent="-173736" algn="l" defTabSz="914400" rtl="0" eaLnBrk="1" latinLnBrk="0" hangingPunct="1">
      <a:spcBef>
        <a:spcPts val="600"/>
      </a:spcBef>
      <a:buFont typeface="IBM Plex Sans Light"/>
      <a:buChar char="–"/>
      <a:tabLst/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4pPr>
    <a:lvl5pPr marL="174625" marR="0" indent="-169863" algn="l" defTabSz="914400" rtl="0" eaLnBrk="1" fontAlgn="base" latinLnBrk="0" hangingPunct="1">
      <a:lnSpc>
        <a:spcPct val="100000"/>
      </a:lnSpc>
      <a:spcBef>
        <a:spcPts val="600"/>
      </a:spcBef>
      <a:spcAft>
        <a:spcPct val="0"/>
      </a:spcAft>
      <a:buClr>
        <a:srgbClr val="000000"/>
      </a:buClr>
      <a:buSzTx/>
      <a:buFont typeface="IBM Plex Sans Light" charset="-120"/>
      <a:buChar char="»"/>
      <a:tabLst/>
      <a:defRPr sz="1000" b="0" i="0" kern="1200">
        <a:solidFill>
          <a:schemeClr val="bg1"/>
        </a:solidFill>
        <a:latin typeface="IBM Plex Sans Medm" panose="020B0503050203000203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emf"/><Relationship Id="rId4" Type="http://schemas.openxmlformats.org/officeDocument/2006/relationships/image" Target="../media/image4.png"/><Relationship Id="rId5" Type="http://schemas.openxmlformats.org/officeDocument/2006/relationships/image" Target="../media/image5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2.emf"/><Relationship Id="rId4" Type="http://schemas.openxmlformats.org/officeDocument/2006/relationships/image" Target="../media/image4.png"/><Relationship Id="rId5" Type="http://schemas.openxmlformats.org/officeDocument/2006/relationships/image" Target="../media/image5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1.png"/><Relationship Id="rId4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1.png"/><Relationship Id="rId4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gif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gif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gif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gif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gif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5" name="Picture">
            <a:extLst>
              <a:ext uri="{FF2B5EF4-FFF2-40B4-BE49-F238E27FC236}">
                <a16:creationId xmlns:a16="http://schemas.microsoft.com/office/drawing/2014/main" id="{8F105A4A-9552-334A-9BC6-8D24E7F7BA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393813" y="4705253"/>
            <a:ext cx="521587" cy="208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766AD5-4616-AD47-BF56-4CF516CAE9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504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6" y="457"/>
            <a:ext cx="9133548" cy="5142585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AFBEF0-43ED-3247-83DD-DC66028EC0C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C84EB7A-8D89-4847-A981-950437F1385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59756" y="4020192"/>
            <a:ext cx="684924" cy="109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977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6" y="457"/>
            <a:ext cx="9133548" cy="5142584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2852DC-D56D-D74A-8D1A-E2957BA8F7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ECEE8E4C-96B1-AA43-9432-4E6A518DB1B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59756" y="4020192"/>
            <a:ext cx="684924" cy="109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273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7" y="457"/>
            <a:ext cx="9133545" cy="5142583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6" name="Picture">
            <a:extLst>
              <a:ext uri="{FF2B5EF4-FFF2-40B4-BE49-F238E27FC236}">
                <a16:creationId xmlns:a16="http://schemas.microsoft.com/office/drawing/2014/main" id="{30DC9BF6-7093-1544-9101-FC7B73CE9A9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93813" y="4705253"/>
            <a:ext cx="521587" cy="208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B6A17C-AFF6-C640-9555-FFFE815C65A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010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7" y="457"/>
            <a:ext cx="9133545" cy="5142582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6" name="Picture">
            <a:extLst>
              <a:ext uri="{FF2B5EF4-FFF2-40B4-BE49-F238E27FC236}">
                <a16:creationId xmlns:a16="http://schemas.microsoft.com/office/drawing/2014/main" id="{73D7ADEB-1992-754B-AD9C-1F55CD8E826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93813" y="4705253"/>
            <a:ext cx="521587" cy="208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ECEF78-9864-0D48-9AB2-8447ACC853D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125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074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0100"/>
          </a:xfrm>
        </p:spPr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rgbClr val="002D9C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rgbClr val="002D9C"/>
                </a:solidFill>
              </a:defRPr>
            </a:lvl2pPr>
            <a:lvl3pPr marL="201615" indent="0">
              <a:buNone/>
              <a:defRPr/>
            </a:lvl3pPr>
            <a:lvl4pPr marL="434981" indent="0">
              <a:buNone/>
              <a:defRPr/>
            </a:lvl4pPr>
            <a:lvl5pPr marL="631833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791456" y="1243584"/>
            <a:ext cx="4123944" cy="3252216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rgbClr val="002D9C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rgbClr val="002D9C"/>
                </a:solidFill>
              </a:defRPr>
            </a:lvl2pPr>
            <a:lvl3pPr marL="201615" indent="0">
              <a:buNone/>
              <a:defRPr/>
            </a:lvl3pPr>
            <a:lvl4pPr marL="434981" indent="0">
              <a:buNone/>
              <a:defRPr/>
            </a:lvl4pPr>
            <a:lvl5pPr marL="631833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390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9456" y="219456"/>
            <a:ext cx="4133088" cy="804672"/>
          </a:xfrm>
        </p:spPr>
        <p:txBody>
          <a:bodyPr/>
          <a:lstStyle>
            <a:lvl1pPr>
              <a:defRPr sz="1600">
                <a:solidFill>
                  <a:srgbClr val="002D9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37160" y="1133856"/>
            <a:ext cx="4206240" cy="3361944"/>
          </a:xfrm>
        </p:spPr>
        <p:txBody>
          <a:bodyPr/>
          <a:lstStyle>
            <a:lvl1pPr>
              <a:lnSpc>
                <a:spcPct val="90000"/>
              </a:lnSpc>
              <a:defRPr sz="9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605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, half-image (bleed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9456" y="219456"/>
            <a:ext cx="4133088" cy="804672"/>
          </a:xfrm>
        </p:spPr>
        <p:txBody>
          <a:bodyPr/>
          <a:lstStyle>
            <a:lvl1pPr>
              <a:defRPr sz="1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37160" y="1133856"/>
            <a:ext cx="4206240" cy="3361944"/>
          </a:xfrm>
        </p:spPr>
        <p:txBody>
          <a:bodyPr/>
          <a:lstStyle>
            <a:lvl1pPr>
              <a:lnSpc>
                <a:spcPct val="90000"/>
              </a:lnSpc>
              <a:defRPr sz="9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154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37161" y="91440"/>
            <a:ext cx="8778172" cy="4404360"/>
          </a:xfrm>
        </p:spPr>
        <p:txBody>
          <a:bodyPr/>
          <a:lstStyle>
            <a:lvl1pPr>
              <a:defRPr sz="9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276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3" y="201168"/>
            <a:ext cx="5562535" cy="4294632"/>
          </a:xfrm>
        </p:spPr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742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4123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1301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791457" y="1243584"/>
            <a:ext cx="4123876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7521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, different text siz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10312" y="1216152"/>
            <a:ext cx="4142232" cy="327964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7856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four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505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791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7077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682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5741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narrow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1837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7077456" y="201168"/>
            <a:ext cx="1837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872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split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3" y="201168"/>
            <a:ext cx="414216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Black rectangle">
            <a:extLst>
              <a:ext uri="{FF2B5EF4-FFF2-40B4-BE49-F238E27FC236}">
                <a16:creationId xmlns:a16="http://schemas.microsoft.com/office/drawing/2014/main" id="{612CE115-19C6-174D-97D1-85AD78D8B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tx2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2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4123944" cy="4294632"/>
          </a:xfrm>
        </p:spPr>
        <p:txBody>
          <a:bodyPr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IBM Consulting / DOC ID / Month XX,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6411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4687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half-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7231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174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"/>
          <p:cNvSpPr>
            <a:spLocks noGrp="1"/>
          </p:cNvSpPr>
          <p:nvPr>
            <p:ph sz="quarter" idx="17"/>
          </p:nvPr>
        </p:nvSpPr>
        <p:spPr>
          <a:xfrm>
            <a:off x="4572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8"/>
          </p:nvPr>
        </p:nvSpPr>
        <p:spPr>
          <a:xfrm>
            <a:off x="6858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9"/>
          </p:nvPr>
        </p:nvSpPr>
        <p:spPr>
          <a:xfrm>
            <a:off x="4572000" y="2570163"/>
            <a:ext cx="4572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9AF558B-7F9E-D94C-91DC-907B299967CF}"/>
              </a:ext>
            </a:extLst>
          </p:cNvPr>
          <p:cNvCxnSpPr/>
          <p:nvPr userDrawn="1"/>
        </p:nvCxnSpPr>
        <p:spPr bwMode="auto">
          <a:xfrm flipV="1">
            <a:off x="4572000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13EAF49-221E-8B43-8D20-D58F4F88516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4434" y="234951"/>
            <a:ext cx="0" cy="211690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F54D63C-09D4-6A49-B605-D1076B01100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792362" y="2570163"/>
            <a:ext cx="41148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28083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-1"/>
            <a:ext cx="4572000" cy="2571751"/>
          </a:xfrm>
          <a:noFill/>
        </p:spPr>
        <p:txBody>
          <a:bodyPr lIns="210312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1"/>
          <p:cNvSpPr>
            <a:spLocks noGrp="1"/>
          </p:cNvSpPr>
          <p:nvPr>
            <p:ph sz="quarter" idx="17"/>
          </p:nvPr>
        </p:nvSpPr>
        <p:spPr>
          <a:xfrm>
            <a:off x="4572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8"/>
          </p:nvPr>
        </p:nvSpPr>
        <p:spPr>
          <a:xfrm>
            <a:off x="6858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quarter" idx="20"/>
          </p:nvPr>
        </p:nvSpPr>
        <p:spPr>
          <a:xfrm>
            <a:off x="0" y="2570163"/>
            <a:ext cx="4572000" cy="2573337"/>
          </a:xfrm>
          <a:noFill/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4"/>
          <p:cNvSpPr>
            <a:spLocks noGrp="1"/>
          </p:cNvSpPr>
          <p:nvPr>
            <p:ph sz="quarter" idx="19"/>
          </p:nvPr>
        </p:nvSpPr>
        <p:spPr>
          <a:xfrm>
            <a:off x="4572000" y="2570163"/>
            <a:ext cx="4572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703589-7433-EC4D-BE5D-6575D7E7166A}"/>
              </a:ext>
            </a:extLst>
          </p:cNvPr>
          <p:cNvCxnSpPr/>
          <p:nvPr userDrawn="1"/>
        </p:nvCxnSpPr>
        <p:spPr bwMode="auto">
          <a:xfrm flipV="1">
            <a:off x="4572000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18C1B72-1958-D34C-A6E7-456FA9B0FC9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28600" y="2566988"/>
            <a:ext cx="41148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06980A7-369F-8B4C-8947-FB084B5C4D98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792362" y="2566988"/>
            <a:ext cx="41148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255AABD-2874-C04C-A3C5-21D11C37116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5768" y="234951"/>
            <a:ext cx="0" cy="211690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27739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1 large, 4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2569463"/>
          </a:xfrm>
          <a:noFill/>
        </p:spPr>
        <p:txBody>
          <a:bodyPr lIns="182880" tIns="164592" rIns="228600" bIns="228600"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1"/>
          <p:cNvSpPr>
            <a:spLocks noGrp="1"/>
          </p:cNvSpPr>
          <p:nvPr>
            <p:ph sz="quarter" idx="20"/>
          </p:nvPr>
        </p:nvSpPr>
        <p:spPr>
          <a:xfrm>
            <a:off x="0" y="2570163"/>
            <a:ext cx="2286000" cy="2573337"/>
          </a:xfrm>
          <a:noFill/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9"/>
          </p:nvPr>
        </p:nvSpPr>
        <p:spPr>
          <a:xfrm>
            <a:off x="2286001" y="2570163"/>
            <a:ext cx="2286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quarter" idx="17"/>
          </p:nvPr>
        </p:nvSpPr>
        <p:spPr>
          <a:xfrm>
            <a:off x="4572000" y="2570162"/>
            <a:ext cx="2286000" cy="2573338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4"/>
          <p:cNvSpPr>
            <a:spLocks noGrp="1"/>
          </p:cNvSpPr>
          <p:nvPr>
            <p:ph sz="quarter" idx="18"/>
          </p:nvPr>
        </p:nvSpPr>
        <p:spPr>
          <a:xfrm>
            <a:off x="6858000" y="2570162"/>
            <a:ext cx="2286000" cy="2573338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8320A1C-9D4D-2642-8A60-4D7502759E0A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2286000" y="2791641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51D6F0D-CE7A-AD49-AE36-D798DDFEB592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4572000" y="2791641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E4FA535-4023-394A-90AB-A2087397CBB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8000" y="2791641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EB495F-72F9-774E-A3C3-3B24D9E37D7D}"/>
              </a:ext>
            </a:extLst>
          </p:cNvPr>
          <p:cNvCxnSpPr/>
          <p:nvPr userDrawn="1"/>
        </p:nvCxnSpPr>
        <p:spPr bwMode="auto">
          <a:xfrm>
            <a:off x="228600" y="2571750"/>
            <a:ext cx="8686800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38155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gray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76350"/>
          </a:xfrm>
          <a:solidFill>
            <a:schemeClr val="tx2"/>
          </a:solidFill>
        </p:spPr>
        <p:txBody>
          <a:bodyPr lIns="210312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"/>
          <p:cNvSpPr>
            <a:spLocks noGrp="1"/>
          </p:cNvSpPr>
          <p:nvPr>
            <p:ph type="pic" sz="quarter" idx="12"/>
          </p:nvPr>
        </p:nvSpPr>
        <p:spPr>
          <a:xfrm>
            <a:off x="0" y="1276350"/>
            <a:ext cx="9144000" cy="386715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4250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gray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8072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-3" y="2571750"/>
            <a:ext cx="2286003" cy="2571750"/>
          </a:xfrm>
          <a:solidFill>
            <a:schemeClr val="tx2"/>
          </a:solidFill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8794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"/>
          <p:cNvSpPr>
            <a:spLocks noGrp="1"/>
          </p:cNvSpPr>
          <p:nvPr>
            <p:ph sz="quarter" idx="12"/>
          </p:nvPr>
        </p:nvSpPr>
        <p:spPr>
          <a:xfrm>
            <a:off x="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sz="quarter" idx="13"/>
          </p:nvPr>
        </p:nvSpPr>
        <p:spPr>
          <a:xfrm>
            <a:off x="228600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3"/>
          <p:cNvSpPr>
            <a:spLocks noGrp="1"/>
          </p:cNvSpPr>
          <p:nvPr>
            <p:ph sz="quarter" idx="14"/>
          </p:nvPr>
        </p:nvSpPr>
        <p:spPr>
          <a:xfrm>
            <a:off x="457200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4"/>
          <p:cNvSpPr>
            <a:spLocks noGrp="1"/>
          </p:cNvSpPr>
          <p:nvPr>
            <p:ph sz="quarter" idx="15"/>
          </p:nvPr>
        </p:nvSpPr>
        <p:spPr>
          <a:xfrm>
            <a:off x="685800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C2E18FC-E432-1E42-B894-602F7E42F9FA}"/>
              </a:ext>
            </a:extLst>
          </p:cNvPr>
          <p:cNvCxnSpPr/>
          <p:nvPr userDrawn="1"/>
        </p:nvCxnSpPr>
        <p:spPr bwMode="auto">
          <a:xfrm flipV="1">
            <a:off x="4572000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75E39C-0AE8-5A49-B52F-35BB80D2B041}"/>
              </a:ext>
            </a:extLst>
          </p:cNvPr>
          <p:cNvCxnSpPr/>
          <p:nvPr userDrawn="1"/>
        </p:nvCxnSpPr>
        <p:spPr bwMode="auto">
          <a:xfrm flipV="1">
            <a:off x="2283769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7AC78C-6E13-604B-BABB-F3F41F933F3B}"/>
              </a:ext>
            </a:extLst>
          </p:cNvPr>
          <p:cNvCxnSpPr/>
          <p:nvPr userDrawn="1"/>
        </p:nvCxnSpPr>
        <p:spPr bwMode="auto">
          <a:xfrm flipV="1">
            <a:off x="6855769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64260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content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514600" y="1243584"/>
            <a:ext cx="6400800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605913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blank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88199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1: title, text (two columns)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05456" y="1259626"/>
            <a:ext cx="1837944" cy="3252216"/>
          </a:xfrm>
        </p:spPr>
        <p:txBody>
          <a:bodyPr/>
          <a:lstStyle>
            <a:lvl1pPr>
              <a:spcBef>
                <a:spcPts val="300"/>
              </a:spcBef>
              <a:defRPr sz="1400">
                <a:solidFill>
                  <a:schemeClr val="tx1"/>
                </a:solidFill>
              </a:defRPr>
            </a:lvl1pPr>
            <a:lvl2pPr>
              <a:spcBef>
                <a:spcPts val="1100"/>
              </a:spcBef>
              <a:defRPr sz="1400">
                <a:solidFill>
                  <a:schemeClr val="tx1"/>
                </a:solidFill>
              </a:defRPr>
            </a:lvl2pPr>
            <a:lvl3pPr>
              <a:spcBef>
                <a:spcPts val="1100"/>
              </a:spcBef>
              <a:defRPr sz="1400">
                <a:solidFill>
                  <a:schemeClr val="tx1"/>
                </a:solidFill>
              </a:defRPr>
            </a:lvl3pPr>
            <a:lvl4pPr>
              <a:spcBef>
                <a:spcPts val="110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110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527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2: title, text (2/4), quote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505456" y="1262634"/>
            <a:ext cx="1837944" cy="3252216"/>
          </a:xfrm>
        </p:spPr>
        <p:txBody>
          <a:bodyPr/>
          <a:lstStyle>
            <a:lvl1pPr>
              <a:spcBef>
                <a:spcPts val="300"/>
              </a:spcBef>
              <a:defRPr sz="1000">
                <a:solidFill>
                  <a:schemeClr val="tx1"/>
                </a:solidFill>
              </a:defRPr>
            </a:lvl1pPr>
            <a:lvl2pPr>
              <a:spcBef>
                <a:spcPts val="300"/>
              </a:spcBef>
              <a:defRPr sz="1000">
                <a:solidFill>
                  <a:schemeClr val="tx1"/>
                </a:solidFill>
              </a:defRPr>
            </a:lvl2pPr>
            <a:lvl3pPr>
              <a:spcBef>
                <a:spcPts val="300"/>
              </a:spcBef>
              <a:defRPr sz="1000">
                <a:solidFill>
                  <a:schemeClr val="tx1"/>
                </a:solidFill>
              </a:defRPr>
            </a:lvl3pPr>
            <a:lvl4pPr>
              <a:spcBef>
                <a:spcPts val="300"/>
              </a:spcBef>
              <a:defRPr sz="1000">
                <a:solidFill>
                  <a:schemeClr val="tx1"/>
                </a:solidFill>
              </a:defRPr>
            </a:lvl4pPr>
            <a:lvl5pPr>
              <a:spcBef>
                <a:spcPts val="300"/>
              </a:spcBef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773168" y="1216152"/>
            <a:ext cx="4142232" cy="327964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4675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201168"/>
            <a:ext cx="1837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able Placeholder"/>
          <p:cNvSpPr>
            <a:spLocks noGrp="1"/>
          </p:cNvSpPr>
          <p:nvPr>
            <p:ph type="tbl" sz="quarter" idx="13"/>
          </p:nvPr>
        </p:nvSpPr>
        <p:spPr>
          <a:xfrm>
            <a:off x="2505457" y="201168"/>
            <a:ext cx="6409876" cy="4294632"/>
          </a:xfrm>
        </p:spPr>
        <p:txBody>
          <a:bodyPr lIns="0" tIns="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7208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90248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7917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61872"/>
            <a:ext cx="4123944" cy="1309878"/>
          </a:xfrm>
        </p:spPr>
        <p:txBody>
          <a:bodyPr/>
          <a:lstStyle>
            <a:lvl1pPr>
              <a:spcBef>
                <a:spcPts val="0"/>
              </a:spcBef>
              <a:defRPr sz="10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/>
            </a:lvl2pPr>
            <a:lvl3pPr marL="201615" indent="0">
              <a:buNone/>
              <a:defRPr/>
            </a:lvl3pPr>
            <a:lvl4pPr marL="434981" indent="0">
              <a:buNone/>
              <a:defRPr/>
            </a:lvl4pPr>
            <a:lvl5pPr marL="63183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1C6F2CA-B8B6-BF4F-8900-E2319DA9DD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9456" y="3209544"/>
            <a:ext cx="6409944" cy="1307592"/>
          </a:xfrm>
        </p:spPr>
        <p:txBody>
          <a:bodyPr anchor="b"/>
          <a:lstStyle>
            <a:lvl1pPr>
              <a:spcBef>
                <a:spcPts val="300"/>
              </a:spcBef>
              <a:defRPr sz="600">
                <a:solidFill>
                  <a:schemeClr val="tx1"/>
                </a:solidFill>
              </a:defRPr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82133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red4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E30253-DA74-3E44-9BC6-8B5C1DD668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97236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yellow2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5EEBA7C-F498-524A-9427-6358C4846A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63799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red2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F54E53-3A23-9A4B-B6FC-E1BD369164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12137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teal4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C727A0-1A17-074E-8354-E327AC2DBC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51783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grey2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835D96-8926-B845-B252-0835183F218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89591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red40)">
    <p:bg>
      <p:bgPr>
        <a:solidFill>
          <a:srgbClr val="FF83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37339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yellow20)">
    <p:bg>
      <p:bgPr>
        <a:solidFill>
          <a:srgbClr val="FDDC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95130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red20)">
    <p:bg>
      <p:bgPr>
        <a:solidFill>
          <a:srgbClr val="FFD7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59848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teal40)">
    <p:bg>
      <p:bgPr>
        <a:solidFill>
          <a:srgbClr val="08BD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98589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ue6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">
            <a:extLst>
              <a:ext uri="{FF2B5EF4-FFF2-40B4-BE49-F238E27FC236}">
                <a16:creationId xmlns:a16="http://schemas.microsoft.com/office/drawing/2014/main" id="{934B3B19-0C45-9541-83FA-EE9B1AA972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8" y="2312885"/>
            <a:ext cx="1297604" cy="51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6193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ue80)">
    <p:bg>
      <p:bgPr>
        <a:solidFill>
          <a:srgbClr val="BA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>
            <a:extLst>
              <a:ext uri="{FF2B5EF4-FFF2-40B4-BE49-F238E27FC236}">
                <a16:creationId xmlns:a16="http://schemas.microsoft.com/office/drawing/2014/main" id="{4A23D73C-34B1-FF44-9B5A-0AD4D78DA0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8" y="2312885"/>
            <a:ext cx="1297604" cy="51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40142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7" y="2312884"/>
            <a:ext cx="1297606" cy="517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9311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tic Rebus sign-off (grey20)">
    <p:bg>
      <p:bgPr>
        <a:solidFill>
          <a:srgbClr val="E0E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80322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"/>
          <p:cNvSpPr>
            <a:spLocks noGrp="1"/>
          </p:cNvSpPr>
          <p:nvPr>
            <p:ph type="body" idx="1"/>
          </p:nvPr>
        </p:nvSpPr>
        <p:spPr>
          <a:xfrm>
            <a:off x="4791456" y="201168"/>
            <a:ext cx="4123944" cy="42946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"/>
          <p:cNvSpPr>
            <a:spLocks noGrp="1"/>
          </p:cNvSpPr>
          <p:nvPr>
            <p:ph type="ftr" sz="quarter" idx="3"/>
          </p:nvPr>
        </p:nvSpPr>
        <p:spPr>
          <a:xfrm>
            <a:off x="228666" y="4800600"/>
            <a:ext cx="4114735" cy="1666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marR="0" indent="0" algn="l" defTabSz="6859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7086601" y="4800600"/>
            <a:ext cx="1828732" cy="1666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20BB8D8-C46D-7A4B-97AF-798F102BA8D4}"/>
              </a:ext>
            </a:extLst>
          </p:cNvPr>
          <p:cNvGrpSpPr/>
          <p:nvPr userDrawn="1"/>
        </p:nvGrpSpPr>
        <p:grpSpPr>
          <a:xfrm>
            <a:off x="-109730" y="-110490"/>
            <a:ext cx="9364220" cy="5364480"/>
            <a:chOff x="-109730" y="-110490"/>
            <a:chExt cx="9364220" cy="5364480"/>
          </a:xfrm>
        </p:grpSpPr>
        <p:grpSp>
          <p:nvGrpSpPr>
            <p:cNvPr id="60" name="Group 59"/>
            <p:cNvGrpSpPr/>
            <p:nvPr userDrawn="1"/>
          </p:nvGrpSpPr>
          <p:grpSpPr>
            <a:xfrm>
              <a:off x="228600" y="-110490"/>
              <a:ext cx="8686732" cy="91440"/>
              <a:chOff x="228600" y="-152400"/>
              <a:chExt cx="8686732" cy="152400"/>
            </a:xfrm>
          </p:grpSpPr>
          <p:cxnSp>
            <p:nvCxnSpPr>
              <p:cNvPr id="93" name="Straight Connector 9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Group 60"/>
            <p:cNvGrpSpPr/>
            <p:nvPr userDrawn="1"/>
          </p:nvGrpSpPr>
          <p:grpSpPr>
            <a:xfrm>
              <a:off x="228600" y="5162550"/>
              <a:ext cx="8686732" cy="91440"/>
              <a:chOff x="228600" y="5143500"/>
              <a:chExt cx="8686732" cy="152400"/>
            </a:xfrm>
          </p:grpSpPr>
          <p:cxnSp>
            <p:nvCxnSpPr>
              <p:cNvPr id="82" name="Straight Connector 8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/>
            <p:cNvGrpSpPr/>
            <p:nvPr userDrawn="1"/>
          </p:nvGrpSpPr>
          <p:grpSpPr>
            <a:xfrm>
              <a:off x="-109730" y="228219"/>
              <a:ext cx="91440" cy="4686681"/>
              <a:chOff x="-109730" y="228219"/>
              <a:chExt cx="91440" cy="4686681"/>
            </a:xfrm>
          </p:grpSpPr>
          <p:cxnSp>
            <p:nvCxnSpPr>
              <p:cNvPr id="73" name="Straight Connector 7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53796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930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938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70990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954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962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7451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28219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14900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/>
            <p:cNvGrpSpPr/>
            <p:nvPr userDrawn="1"/>
          </p:nvGrpSpPr>
          <p:grpSpPr>
            <a:xfrm>
              <a:off x="9163050" y="228219"/>
              <a:ext cx="91440" cy="4685665"/>
              <a:chOff x="-109730" y="221869"/>
              <a:chExt cx="91440" cy="4685665"/>
            </a:xfrm>
          </p:grpSpPr>
          <p:cxnSp>
            <p:nvCxnSpPr>
              <p:cNvPr id="64" name="Straight Connector 6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47446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295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303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6311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319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327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1101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21869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0753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400780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92" r:id="rId1"/>
    <p:sldLayoutId id="2147483926" r:id="rId2"/>
    <p:sldLayoutId id="2147483935" r:id="rId3"/>
    <p:sldLayoutId id="2147483938" r:id="rId4"/>
    <p:sldLayoutId id="2147483939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  <p:sldLayoutId id="2147483906" r:id="rId19"/>
    <p:sldLayoutId id="2147483907" r:id="rId20"/>
    <p:sldLayoutId id="2147483908" r:id="rId21"/>
    <p:sldLayoutId id="2147483909" r:id="rId22"/>
    <p:sldLayoutId id="2147483910" r:id="rId23"/>
    <p:sldLayoutId id="2147483911" r:id="rId24"/>
    <p:sldLayoutId id="2147483912" r:id="rId25"/>
    <p:sldLayoutId id="2147483913" r:id="rId26"/>
    <p:sldLayoutId id="2147483914" r:id="rId27"/>
    <p:sldLayoutId id="2147483915" r:id="rId28"/>
    <p:sldLayoutId id="2147483916" r:id="rId29"/>
    <p:sldLayoutId id="2147483917" r:id="rId30"/>
    <p:sldLayoutId id="2147483918" r:id="rId31"/>
    <p:sldLayoutId id="2147483919" r:id="rId32"/>
    <p:sldLayoutId id="2147483920" r:id="rId33"/>
    <p:sldLayoutId id="2147483921" r:id="rId34"/>
    <p:sldLayoutId id="2147483922" r:id="rId35"/>
    <p:sldLayoutId id="2147483941" r:id="rId36"/>
    <p:sldLayoutId id="2147483942" r:id="rId37"/>
    <p:sldLayoutId id="2147483943" r:id="rId38"/>
    <p:sldLayoutId id="2147483944" r:id="rId39"/>
    <p:sldLayoutId id="2147483945" r:id="rId40"/>
    <p:sldLayoutId id="2147483946" r:id="rId41"/>
    <p:sldLayoutId id="2147483947" r:id="rId42"/>
    <p:sldLayoutId id="2147483948" r:id="rId43"/>
    <p:sldLayoutId id="2147483949" r:id="rId44"/>
    <p:sldLayoutId id="2147483933" r:id="rId45"/>
    <p:sldLayoutId id="2147483934" r:id="rId46"/>
    <p:sldLayoutId id="2147483923" r:id="rId47"/>
    <p:sldLayoutId id="2147483950" r:id="rId48"/>
  </p:sldLayoutIdLst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5pPr>
      <a:lvl6pPr marL="36256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6pPr>
      <a:lvl7pPr marL="725139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7pPr>
      <a:lvl8pPr marL="1087707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8pPr>
      <a:lvl9pPr marL="1450276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90000"/>
        <a:buFont typeface="IBM Plex Sans Light" pitchFamily="2" charset="2"/>
        <a:buNone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marL="171452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charset="-120"/>
        <a:buChar char="–"/>
        <a:tabLst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2pPr>
      <a:lvl3pPr marL="342905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panose="020B0604020202020204" pitchFamily="34" charset="0"/>
        <a:buChar char="•"/>
        <a:tabLst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3pPr>
      <a:lvl4pPr marL="628658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charset="-120"/>
        <a:buChar char="–"/>
        <a:tabLst/>
        <a:defRPr sz="1400" b="0" i="0" baseline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4pPr>
      <a:lvl5pPr marL="803285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Font typeface="IBM Plex Sans Light" charset="-120"/>
        <a:buChar char="»"/>
        <a:tabLst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5pPr>
      <a:lvl6pPr marL="1583721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6pPr>
      <a:lvl7pPr marL="1946291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7pPr>
      <a:lvl8pPr marL="2308860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8pPr>
      <a:lvl9pPr marL="2671430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9pPr>
    </p:bodyStyle>
    <p:otherStyle>
      <a:defPPr>
        <a:defRPr lang="en-US"/>
      </a:defPPr>
      <a:lvl1pPr marL="0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1pPr>
      <a:lvl2pPr marL="362568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2pPr>
      <a:lvl3pPr marL="725139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3pPr>
      <a:lvl4pPr marL="1087707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4pPr>
      <a:lvl5pPr marL="1450276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5pPr>
      <a:lvl6pPr marL="1812846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6pPr>
      <a:lvl7pPr marL="2175414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7pPr>
      <a:lvl8pPr marL="2537983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8pPr>
      <a:lvl9pPr marL="2900552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" userDrawn="1">
          <p15:clr>
            <a:srgbClr val="F26B43"/>
          </p15:clr>
        </p15:guide>
        <p15:guide id="2" pos="144" userDrawn="1">
          <p15:clr>
            <a:srgbClr val="F26B43"/>
          </p15:clr>
        </p15:guide>
        <p15:guide id="3" pos="5616" userDrawn="1">
          <p15:clr>
            <a:srgbClr val="F26B43"/>
          </p15:clr>
        </p15:guide>
        <p15:guide id="4" orient="horz" pos="2832" userDrawn="1">
          <p15:clr>
            <a:srgbClr val="F26B43"/>
          </p15:clr>
        </p15:guide>
        <p15:guide id="5" orient="horz" pos="3094" userDrawn="1">
          <p15:clr>
            <a:srgbClr val="F26B43"/>
          </p15:clr>
        </p15:guide>
        <p15:guide id="6" pos="2880" userDrawn="1">
          <p15:clr>
            <a:srgbClr val="F26B43"/>
          </p15:clr>
        </p15:guide>
        <p15:guide id="7" pos="2736" userDrawn="1">
          <p15:clr>
            <a:srgbClr val="F26B43"/>
          </p15:clr>
        </p15:guide>
        <p15:guide id="8" pos="1440" userDrawn="1">
          <p15:clr>
            <a:srgbClr val="F26B43"/>
          </p15:clr>
        </p15:guide>
        <p15:guide id="9" pos="3024" userDrawn="1">
          <p15:clr>
            <a:srgbClr val="F26B43"/>
          </p15:clr>
        </p15:guide>
        <p15:guide id="10" pos="1296" userDrawn="1">
          <p15:clr>
            <a:srgbClr val="F26B43"/>
          </p15:clr>
        </p15:guide>
        <p15:guide id="11" pos="1584" userDrawn="1">
          <p15:clr>
            <a:srgbClr val="F26B43"/>
          </p15:clr>
        </p15:guide>
        <p15:guide id="12" pos="4320" userDrawn="1">
          <p15:clr>
            <a:srgbClr val="F26B43"/>
          </p15:clr>
        </p15:guide>
        <p15:guide id="13" pos="4176" userDrawn="1">
          <p15:clr>
            <a:srgbClr val="F26B43"/>
          </p15:clr>
        </p15:guide>
        <p15:guide id="14" pos="4464" userDrawn="1">
          <p15:clr>
            <a:srgbClr val="F26B43"/>
          </p15:clr>
        </p15:guide>
        <p15:guide id="15" orient="horz" pos="412" userDrawn="1">
          <p15:clr>
            <a:srgbClr val="F26B43"/>
          </p15:clr>
        </p15:guide>
        <p15:guide id="17" orient="horz" pos="812" userDrawn="1">
          <p15:clr>
            <a:srgbClr val="F26B43"/>
          </p15:clr>
        </p15:guide>
        <p15:guide id="18" orient="horz" pos="1620" userDrawn="1">
          <p15:clr>
            <a:srgbClr val="F26B43"/>
          </p15:clr>
        </p15:guide>
        <p15:guide id="19" orient="horz" pos="1216" userDrawn="1">
          <p15:clr>
            <a:srgbClr val="F26B43"/>
          </p15:clr>
        </p15:guide>
        <p15:guide id="20" orient="horz" pos="2022" userDrawn="1">
          <p15:clr>
            <a:srgbClr val="F26B43"/>
          </p15:clr>
        </p15:guide>
        <p15:guide id="21" orient="horz" pos="2424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Spreadsheet logic can move into Fabric without losing control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manual spreadsheet process was becoming difficult to scale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Business logic sat inside spreadsheets rather than a managed execution layer</a:t>
            </a:r>
          </a:p>
          <a:p>
            <a:pPr>
              <a:buChar char="•"/>
            </a:pPr>
            <a:r>
              <a:t>Files required manual handling before they could enter the data platform</a:t>
            </a:r>
          </a:p>
          <a:p>
            <a:pPr>
              <a:buChar char="•"/>
            </a:pPr>
            <a:r>
              <a:t>Auditability and repeatability were weaker than the target operating model required</a:t>
            </a:r>
          </a:p>
          <a:p>
            <a:pPr>
              <a:buChar char="•"/>
            </a:pPr>
            <a:r>
              <a:t>The key question was whether Fabric notebooks could preserve the logic while improving control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PoC had to prove both logic fidelity and platform fit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buChar char="•"/>
            </a:pPr>
            <a:r>
              <a:t>Translate spreadsheet logic into Python notebooks accurately</a:t>
            </a:r>
          </a:p>
          <a:p>
            <a:pPr>
              <a:buChar char="•"/>
            </a:pPr>
            <a:r>
              <a:t>Run the process cleanly inside a Fabric and lakehouse pattern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Improve repeatability across ingestion and execution</a:t>
            </a:r>
          </a:p>
          <a:p>
            <a:pPr>
              <a:buChar char="•"/>
            </a:pPr>
            <a:r>
              <a:t>Strengthen visibility without adding unnecessary complexity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Several paths existed, but only one balanced control and repeatability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buChar char="•"/>
            </a:pPr>
            <a:r>
              <a:t>The decision was not whether change was possible</a:t>
            </a:r>
          </a:p>
          <a:p>
            <a:pPr>
              <a:buChar char="•"/>
            </a:pPr>
            <a:r>
              <a:t>It was which execution model created the strongest operational footing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Retain spreadsheet execution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Automate around the spreadsheet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>
            <a:r>
              <a:t>Translate logic into Fabric notebooks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chosen approach moved logic into Python notebooks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The spreadsheet was treated as logic to be translated rather than simply automated around</a:t>
            </a:r>
          </a:p>
          <a:p>
            <a:pPr>
              <a:buChar char="•"/>
            </a:pPr>
            <a:r>
              <a:t>Fabric notebooks became the execution surface for that logic</a:t>
            </a:r>
          </a:p>
          <a:p>
            <a:pPr>
              <a:buChar char="•"/>
            </a:pPr>
            <a:r>
              <a:t>The surrounding flow was designed to support controlled ingestion into the lakehouse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Architecture: spreadsheet ingestion and notebook execution in Fabric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buChar char="•"/>
            </a:pPr>
            <a:r>
              <a:t>Files move through a controlled ingestion path</a:t>
            </a:r>
          </a:p>
          <a:p>
            <a:pPr>
              <a:buChar char="•"/>
            </a:pPr>
            <a:r>
              <a:t>Python notebooks execute the translated business logic inside Fabric</a:t>
            </a:r>
          </a:p>
          <a:p>
            <a:pPr>
              <a:buChar char="•"/>
            </a:pPr>
            <a:r>
              <a:t>Outputs land in the lakehouse for reporting and downstream reasoning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xample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078230"/>
            <a:ext cx="4480560" cy="2987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PoC proved the logic could move into Fabric cleanly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The notebook pattern was workable, governed and better aligned to repeatable processing.</a:t>
            </a:r>
          </a:p>
          <a:p>
            <a:pPr>
              <a:buChar char="•"/>
            </a:pPr>
            <a:r>
              <a:t>Spreadsheet logic translated successfully into Python notebooks</a:t>
            </a:r>
          </a:p>
          <a:p>
            <a:pPr>
              <a:buChar char="•"/>
            </a:pPr>
            <a:r>
              <a:t>Fabric operated effectively as the execution layer</a:t>
            </a:r>
          </a:p>
          <a:p>
            <a:pPr>
              <a:buChar char="•"/>
            </a:pPr>
            <a:r>
              <a:t>The pattern created a stronger footing for automation and reporting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xample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078230"/>
            <a:ext cx="4480560" cy="2987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main lessons were about process discipline and dependency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The harder problem was surfacing implicit spreadsheet assumptions, not notebook execution</a:t>
            </a:r>
          </a:p>
          <a:p>
            <a:pPr>
              <a:buChar char="•"/>
            </a:pPr>
            <a:r>
              <a:t>Human intervention still mattered at the ingestion boundary where source quality varied</a:t>
            </a:r>
          </a:p>
          <a:p>
            <a:pPr>
              <a:buChar char="•"/>
            </a:pPr>
            <a:r>
              <a:t>Folder and metadata handling mattered more than expected in making the flow reliable</a:t>
            </a:r>
          </a:p>
          <a:p>
            <a:pPr>
              <a:buChar char="•"/>
            </a:pPr>
            <a:r>
              <a:t>A controlled trigger point was better than forcing full end-to-end automation too early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result supports a move to platform-managed execution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The logic no longer needs to remain trapped inside a manually operated spreadsheet</a:t>
            </a:r>
          </a:p>
          <a:p>
            <a:pPr>
              <a:buChar char="•"/>
            </a:pPr>
            <a:r>
              <a:t>Fabric can act as both an execution environment and a bridge into more governed data handling</a:t>
            </a:r>
          </a:p>
          <a:p>
            <a:pPr>
              <a:buChar char="•"/>
            </a:pPr>
            <a:r>
              <a:t>Future automation should focus on reliable ingestion conditions rather than forced autonomy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next step is to operationalise the pattern properly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buChar char="•"/>
            </a:pPr>
            <a:r>
              <a:t>The immediate priority is to move from proof to operational hardening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Refine ingestion controls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Harden notebook execution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>
            <a:r>
              <a:t>Extend lakehouse outputs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BM Brand Template 2022">
  <a:themeElements>
    <a:clrScheme name="IBM brand presentation palette 2022">
      <a:dk1>
        <a:srgbClr val="FFFFFF"/>
      </a:dk1>
      <a:lt1>
        <a:srgbClr val="000000"/>
      </a:lt1>
      <a:dk2>
        <a:srgbClr val="E5F6FF"/>
      </a:dk2>
      <a:lt2>
        <a:srgbClr val="F4F4F4"/>
      </a:lt2>
      <a:accent1>
        <a:srgbClr val="002D9C"/>
      </a:accent1>
      <a:accent2>
        <a:srgbClr val="0F62FE"/>
      </a:accent2>
      <a:accent3>
        <a:srgbClr val="82CFFF"/>
      </a:accent3>
      <a:accent4>
        <a:srgbClr val="9EF0F0"/>
      </a:accent4>
      <a:accent5>
        <a:srgbClr val="E0E0E0"/>
      </a:accent5>
      <a:accent6>
        <a:srgbClr val="FCF4D6"/>
      </a:accent6>
      <a:hlink>
        <a:srgbClr val="0F62FE"/>
      </a:hlink>
      <a:folHlink>
        <a:srgbClr val="6F6F6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System Font Regular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lIns="91440" tIns="91440" rIns="91440" bIns="91440" rtlCol="0">
        <a:spAutoFit/>
      </a:bodyPr>
      <a:lstStyle>
        <a:defPPr marL="173736" indent="-173736" algn="l">
          <a:spcBef>
            <a:spcPts val="1100"/>
          </a:spcBef>
          <a:buFont typeface="System Font Regular"/>
          <a:buChar char="–"/>
          <a:defRPr sz="1400" dirty="0" smtClean="0">
            <a:solidFill>
              <a:schemeClr val="tx1"/>
            </a:solidFill>
            <a:latin typeface="+mn-lt"/>
            <a:ea typeface="Arial" charset="0"/>
            <a:cs typeface="Arial" charset="0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50">
      <a:srgbClr val="FA4D56"/>
    </a:custClr>
    <a:custClr name="Red 40">
      <a:srgbClr val="FF8389"/>
    </a:custClr>
    <a:custClr name="Red 30">
      <a:srgbClr val="FFB3B8"/>
    </a:custClr>
    <a:custClr name="Red 20">
      <a:srgbClr val="FFD7D9"/>
    </a:custClr>
    <a:custClr name="Red 10">
      <a:srgbClr val="FFF1F1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20">
      <a:srgbClr val="FDDC69"/>
    </a:custClr>
    <a:custClr name="Yellow 10">
      <a:srgbClr val="FCF4D6"/>
    </a:custClr>
    <a:custClr name="Teal 50">
      <a:srgbClr val="009D9A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</a:custClrLst>
  <a:extLst>
    <a:ext uri="{05A4C25C-085E-4340-85A3-A5531E510DB2}">
      <thm15:themeFamily xmlns:thm15="http://schemas.microsoft.com/office/thememl/2012/main" name="IBM_Consulting_Master_Presentation_2021_V02_Arial" id="{B2C576C2-600E-F64A-B9E3-D1962F0CA4D8}" vid="{07FDF6E9-F782-6448-8CF6-F1EBA0EAB26E}"/>
    </a:ext>
  </a:extLst>
</a:theme>
</file>

<file path=ppt/theme/theme2.xml><?xml version="1.0" encoding="utf-8"?>
<a:theme xmlns:a="http://schemas.openxmlformats.org/drawingml/2006/main" name="IBM BxD 2018 black background">
  <a:themeElements>
    <a:clrScheme name="Custom 3">
      <a:dk1>
        <a:srgbClr val="FFFFFF"/>
      </a:dk1>
      <a:lt1>
        <a:srgbClr val="000000"/>
      </a:lt1>
      <a:dk2>
        <a:srgbClr val="525252"/>
      </a:dk2>
      <a:lt2>
        <a:srgbClr val="F4F4F4"/>
      </a:lt2>
      <a:accent1>
        <a:srgbClr val="0F62FE"/>
      </a:accent1>
      <a:accent2>
        <a:srgbClr val="002D9C"/>
      </a:accent2>
      <a:accent3>
        <a:srgbClr val="D02670"/>
      </a:accent3>
      <a:accent4>
        <a:srgbClr val="8A3FFC"/>
      </a:accent4>
      <a:accent5>
        <a:srgbClr val="007D79"/>
      </a:accent5>
      <a:accent6>
        <a:srgbClr val="697077"/>
      </a:accent6>
      <a:hlink>
        <a:srgbClr val="4589FF"/>
      </a:hlink>
      <a:folHlink>
        <a:srgbClr val="6F6F6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000" b="0" i="0" u="none" strike="noStrike" cap="none" normalizeH="0" baseline="0" dirty="0" smtClean="0">
            <a:ln>
              <a:noFill/>
            </a:ln>
            <a:solidFill>
              <a:srgbClr val="191919"/>
            </a:solidFill>
            <a:effectLst/>
            <a:latin typeface="Arial" pitchFamily="34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400" dirty="0" smtClean="0">
            <a:solidFill>
              <a:schemeClr val="bg1"/>
            </a:solidFill>
            <a:latin typeface="Arial" charset="0"/>
            <a:ea typeface="Arial" charset="0"/>
            <a:cs typeface="Arial" charset="0"/>
          </a:defRPr>
        </a:defPPr>
      </a:lstStyle>
    </a:txDef>
  </a:objectDefaults>
  <a:extraClrSchemeLst/>
  <a:custClrLst>
    <a:custClr name="Magenta 100">
      <a:srgbClr val="2A0A18"/>
    </a:custClr>
    <a:custClr name="Magenta 90">
      <a:srgbClr val="510224"/>
    </a:custClr>
    <a:custClr name="Magenta 80">
      <a:srgbClr val="740937"/>
    </a:custClr>
    <a:custClr name="Magenta 70">
      <a:srgbClr val="9F1853"/>
    </a:custClr>
    <a:custClr name="Magenta 60">
      <a:srgbClr val="D12771"/>
    </a:custClr>
    <a:custClr name="Magenta 50">
      <a:srgbClr val="EE5396"/>
    </a:custClr>
    <a:custClr name="Magenta 40">
      <a:srgbClr val="FF7EB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100">
      <a:srgbClr val="1C0F30"/>
    </a:custClr>
    <a:custClr name="Purple 90">
      <a:srgbClr val="31135E"/>
    </a:custClr>
    <a:custClr name="Purple 80">
      <a:srgbClr val="491D8B"/>
    </a:custClr>
    <a:custClr name="Purple 70">
      <a:srgbClr val="6929C4"/>
    </a:custClr>
    <a:custClr name="Purple 60">
      <a:srgbClr val="8A3FFC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Blue 50">
      <a:srgbClr val="4589FF"/>
    </a:custClr>
    <a:custClr name="Blue 40">
      <a:srgbClr val="78A9FF"/>
    </a:custClr>
    <a:custClr name="Blue 30">
      <a:srgbClr val="A6C8FF"/>
    </a:custClr>
    <a:custClr name="Blue 20">
      <a:srgbClr val="D0E2FF"/>
    </a:custClr>
    <a:custClr name="Blue 10">
      <a:srgbClr val="EDF5FF"/>
    </a:custClr>
    <a:custClr name="Teal 100">
      <a:srgbClr val="081A1C"/>
    </a:custClr>
    <a:custClr name="Teal 90">
      <a:srgbClr val="022B30"/>
    </a:custClr>
    <a:custClr name="Teal 80">
      <a:srgbClr val="004548"/>
    </a:custClr>
    <a:custClr name="Teal 70">
      <a:srgbClr val="005D5D"/>
    </a:custClr>
    <a:custClr name="Teal 60">
      <a:srgbClr val="007D79"/>
    </a:custClr>
    <a:custClr name="Teal 50">
      <a:srgbClr val="009C98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</a:custClrLst>
  <a:extLst>
    <a:ext uri="{05A4C25C-085E-4340-85A3-A5531E510DB2}">
      <thm15:themeFamily xmlns:thm15="http://schemas.microsoft.com/office/thememl/2012/main" name="IBM_Master_Presentation_1124_V01_Plex.pptx" id="{80B8559C-7CF0-5B40-975D-B007EC7BCB16}" vid="{15B3B518-7CF1-234E-B76B-F16347DE476D}"/>
    </a:ext>
  </a:extLst>
</a:theme>
</file>

<file path=ppt/theme/theme3.xml><?xml version="1.0" encoding="utf-8"?>
<a:theme xmlns:a="http://schemas.openxmlformats.org/drawingml/2006/main" name="IBM BxD 2018 black background">
  <a:themeElements>
    <a:clrScheme name="Custom 3">
      <a:dk1>
        <a:srgbClr val="FFFFFF"/>
      </a:dk1>
      <a:lt1>
        <a:srgbClr val="000000"/>
      </a:lt1>
      <a:dk2>
        <a:srgbClr val="525252"/>
      </a:dk2>
      <a:lt2>
        <a:srgbClr val="F4F4F4"/>
      </a:lt2>
      <a:accent1>
        <a:srgbClr val="0F62FE"/>
      </a:accent1>
      <a:accent2>
        <a:srgbClr val="002D9C"/>
      </a:accent2>
      <a:accent3>
        <a:srgbClr val="D02670"/>
      </a:accent3>
      <a:accent4>
        <a:srgbClr val="8A3FFC"/>
      </a:accent4>
      <a:accent5>
        <a:srgbClr val="007D79"/>
      </a:accent5>
      <a:accent6>
        <a:srgbClr val="697077"/>
      </a:accent6>
      <a:hlink>
        <a:srgbClr val="4589FF"/>
      </a:hlink>
      <a:folHlink>
        <a:srgbClr val="6F6F6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000" b="0" i="0" u="none" strike="noStrike" cap="none" normalizeH="0" baseline="0" dirty="0" smtClean="0">
            <a:ln>
              <a:noFill/>
            </a:ln>
            <a:solidFill>
              <a:srgbClr val="191919"/>
            </a:solidFill>
            <a:effectLst/>
            <a:latin typeface="Arial" pitchFamily="34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400" dirty="0" smtClean="0">
            <a:solidFill>
              <a:schemeClr val="bg1"/>
            </a:solidFill>
            <a:latin typeface="Arial" charset="0"/>
            <a:ea typeface="Arial" charset="0"/>
            <a:cs typeface="Arial" charset="0"/>
          </a:defRPr>
        </a:defPPr>
      </a:lstStyle>
    </a:txDef>
  </a:objectDefaults>
  <a:extraClrSchemeLst/>
  <a:custClrLst>
    <a:custClr name="Magenta 100">
      <a:srgbClr val="2A0A18"/>
    </a:custClr>
    <a:custClr name="Magenta 90">
      <a:srgbClr val="510224"/>
    </a:custClr>
    <a:custClr name="Magenta 80">
      <a:srgbClr val="740937"/>
    </a:custClr>
    <a:custClr name="Magenta 70">
      <a:srgbClr val="9F1853"/>
    </a:custClr>
    <a:custClr name="Magenta 60">
      <a:srgbClr val="D12771"/>
    </a:custClr>
    <a:custClr name="Magenta 50">
      <a:srgbClr val="EE5396"/>
    </a:custClr>
    <a:custClr name="Magenta 40">
      <a:srgbClr val="FF7EB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100">
      <a:srgbClr val="1C0F30"/>
    </a:custClr>
    <a:custClr name="Purple 90">
      <a:srgbClr val="31135E"/>
    </a:custClr>
    <a:custClr name="Purple 80">
      <a:srgbClr val="491D8B"/>
    </a:custClr>
    <a:custClr name="Purple 70">
      <a:srgbClr val="6929C4"/>
    </a:custClr>
    <a:custClr name="Purple 60">
      <a:srgbClr val="8A3FFC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Blue 50">
      <a:srgbClr val="4589FF"/>
    </a:custClr>
    <a:custClr name="Blue 40">
      <a:srgbClr val="78A9FF"/>
    </a:custClr>
    <a:custClr name="Blue 30">
      <a:srgbClr val="A6C8FF"/>
    </a:custClr>
    <a:custClr name="Blue 20">
      <a:srgbClr val="D0E2FF"/>
    </a:custClr>
    <a:custClr name="Blue 10">
      <a:srgbClr val="EDF5FF"/>
    </a:custClr>
    <a:custClr name="Teal 100">
      <a:srgbClr val="081A1C"/>
    </a:custClr>
    <a:custClr name="Teal 90">
      <a:srgbClr val="022B30"/>
    </a:custClr>
    <a:custClr name="Teal 80">
      <a:srgbClr val="004548"/>
    </a:custClr>
    <a:custClr name="Teal 70">
      <a:srgbClr val="005D5D"/>
    </a:custClr>
    <a:custClr name="Teal 60">
      <a:srgbClr val="007D79"/>
    </a:custClr>
    <a:custClr name="Teal 50">
      <a:srgbClr val="009C98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</a:custClrLst>
  <a:extLst>
    <a:ext uri="{05A4C25C-085E-4340-85A3-A5531E510DB2}">
      <thm15:themeFamily xmlns:thm15="http://schemas.microsoft.com/office/thememl/2012/main" name="IBM_Master_Presentation_1124_V01_Plex.pptx" id="{80B8559C-7CF0-5B40-975D-B007EC7BCB16}" vid="{15B3B518-7CF1-234E-B76B-F16347DE4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</TotalTime>
  <Words>6653</Words>
  <Application>Microsoft Macintosh PowerPoint</Application>
  <PresentationFormat>On-screen Show (16:9)</PresentationFormat>
  <Paragraphs>1058</Paragraphs>
  <Slides>92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97" baseType="lpstr">
      <vt:lpstr>Arial</vt:lpstr>
      <vt:lpstr>IBM Plex Sans</vt:lpstr>
      <vt:lpstr>IBM Plex Sans Light</vt:lpstr>
      <vt:lpstr>Wingdings</vt:lpstr>
      <vt:lpstr>IBM Brand Template 2022</vt:lpstr>
      <vt:lpstr>Welcome to the  IBM Consulting  Presentation Template — Arial variant</vt:lpstr>
      <vt:lpstr>About this template</vt:lpstr>
      <vt:lpstr>Master pages</vt:lpstr>
      <vt:lpstr>Master slide type categories</vt:lpstr>
      <vt:lpstr>Background colors</vt:lpstr>
      <vt:lpstr>Guides and grid alignment</vt:lpstr>
      <vt:lpstr>Tick marks</vt:lpstr>
      <vt:lpstr>Color palette</vt:lpstr>
      <vt:lpstr>Theme and custom colors</vt:lpstr>
      <vt:lpstr>Bulleted lists</vt:lpstr>
      <vt:lpstr>Editing footers</vt:lpstr>
      <vt:lpstr>Master presentation template on image background 1, 3 line maximum, sentence case — First Lastname Job Title</vt:lpstr>
      <vt:lpstr>Master presentation template on image background 2, 3 line maximum, sentence case — First Lastname Job Title</vt:lpstr>
      <vt:lpstr>Master presentation template on image background 7, 3 line maximum, sentence case — First Lastname Job Title</vt:lpstr>
      <vt:lpstr>Master presentation template on image background 8, 3 line maximum, sentence case — First Lastname Job Title</vt:lpstr>
      <vt:lpstr>Master presentation template on image background 8, 3 line maximum, sentence case — First Lastname Job Title</vt:lpstr>
      <vt:lpstr>Master presentation template on image background 8, 3 line maximum, sentence case — First Lastname Job Title</vt:lpstr>
      <vt:lpstr>Master presentation template on gray background, 3 line maximum, sentence case — First Lastname Job Title</vt:lpstr>
      <vt:lpstr>Master presentation template on yellow background, 3 line maximum, sentence case — First Lastname Job Title</vt:lpstr>
      <vt:lpstr>Master presentation template on cyan background, 3 line maximum, sentence case — First Lastname Job Title</vt:lpstr>
      <vt:lpstr>Master presentation template on cyan split background, 3 line maximum, sentence case — First Lastname Job Title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Contents</vt:lpstr>
      <vt:lpstr>Contents</vt:lpstr>
      <vt:lpstr>Part or section divider  with highlighted type</vt:lpstr>
      <vt:lpstr>Part or section divider  with highlighted type</vt:lpstr>
      <vt:lpstr>Section divider with page contents</vt:lpstr>
      <vt:lpstr>Section divider</vt:lpstr>
      <vt:lpstr>Fact with small description acting as headline or title of the page</vt:lpstr>
      <vt:lpstr>Fact with small description acting as headline or title with image</vt:lpstr>
      <vt:lpstr>Go simple and big if possible</vt:lpstr>
      <vt:lpstr>Go simple and big if possible</vt:lpstr>
      <vt:lpstr>“Design is a plan for arranging  elements in such a way as best to accomplish a particular purpose.”  Charles Eames The Information Machine, 1964</vt:lpstr>
      <vt:lpstr>PowerPoint Presentation</vt:lpstr>
      <vt:lpstr>Text goes here lorem ipsum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Lorem ipsum dolor sit amet donec quam felis ultricies nec eu pellentesque pretium quis sem. Nulla consequat massa quis enim. </vt:lpstr>
      <vt:lpstr>Lorem ipsum dolor sit amet donec quam felis ultricies</vt:lpstr>
      <vt:lpstr>Boxes (4 tall)</vt:lpstr>
      <vt:lpstr>Headline</vt:lpstr>
      <vt:lpstr>Combined pie charts (unlabeled)</vt:lpstr>
      <vt:lpstr>Table</vt:lpstr>
      <vt:lpstr>Simplified pie chart (unlabeled)</vt:lpstr>
      <vt:lpstr>Case study (option 1)</vt:lpstr>
      <vt:lpstr>Case study (option 2)</vt:lpstr>
      <vt:lpstr>The team</vt:lpstr>
      <vt:lpstr>Thank you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IBM sign-off</vt:lpstr>
      <vt:lpstr>Organizational chart</vt:lpstr>
      <vt:lpstr>Proposed client project structure</vt:lpstr>
      <vt:lpstr>Value tree</vt:lpstr>
      <vt:lpstr>Value tree (complex)</vt:lpstr>
      <vt:lpstr>Graph template</vt:lpstr>
      <vt:lpstr>RACI table</vt:lpstr>
      <vt:lpstr>Portfolio matrix</vt:lpstr>
      <vt:lpstr>Strategy overview</vt:lpstr>
      <vt:lpstr>Combined pie charts (unlabeled)</vt:lpstr>
      <vt:lpstr>Simplified pie chart (unlabeled)</vt:lpstr>
      <vt:lpstr>Opportunity prioritization matrix</vt:lpstr>
      <vt:lpstr>Performance health check framework</vt:lpstr>
      <vt:lpstr>Stacked 3-layer  pyramid </vt:lpstr>
      <vt:lpstr>Stacked 3-layer  pyramid with list</vt:lpstr>
      <vt:lpstr>Puzzle piece detail  (stacked)</vt:lpstr>
      <vt:lpstr>Puzzle piece detail  (horizontal)</vt:lpstr>
      <vt:lpstr>World (editable)</vt:lpstr>
      <vt:lpstr>World (editable with  location markers)</vt:lpstr>
      <vt:lpstr>Color palette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the  IBM Presentation Template — Arial variant</dc:title>
  <dc:creator>Lucas Souza</dc:creator>
  <cp:lastModifiedBy>Katie Andresen</cp:lastModifiedBy>
  <cp:revision>9</cp:revision>
  <cp:lastPrinted>2019-04-25T15:14:05Z</cp:lastPrinted>
  <dcterms:created xsi:type="dcterms:W3CDTF">2022-03-31T19:33:22Z</dcterms:created>
  <dcterms:modified xsi:type="dcterms:W3CDTF">2022-04-01T00:26:21Z</dcterms:modified>
</cp:coreProperties>
</file>