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NRW DDaT Framework Initial Proposal Presentation</a:t>
            </a:r>
          </a:p>
          <a:p>
            <a:r>
              <a:t>IBM Consulting and Stable Joint Delivery Approach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1: Introductions and Context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this session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Clarify key aspects of our initial proposal submission</a:t>
            </a:r>
          </a:p>
          <a:p>
            <a:pPr>
              <a:buChar char="•"/>
            </a:pPr>
            <a:r>
              <a:t>Demonstrate our understanding of NRW priorities and constraints</a:t>
            </a:r>
          </a:p>
          <a:p>
            <a:pPr>
              <a:buChar char="•"/>
            </a:pPr>
            <a:r>
              <a:t>Walk through our delivery approach and capability</a:t>
            </a:r>
          </a:p>
          <a:p>
            <a:pPr>
              <a:buChar char="•"/>
            </a:pPr>
            <a:r>
              <a:t>Provide transparency on how we would mobilise and deliver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proposal is designed to balance transformation ambition with operational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2: Our Understanding of NRW Requirements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understand NRW is operating within a complex environment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Multiple systems supporting customer, environmental and operational services</a:t>
            </a:r>
          </a:p>
          <a:p>
            <a:pPr>
              <a:buChar char="•"/>
            </a:pPr>
            <a:r>
              <a:t>Fragmented customer data across platforms and services</a:t>
            </a:r>
          </a:p>
          <a:p>
            <a:pPr>
              <a:buChar char="•"/>
            </a:pPr>
            <a:r>
              <a:t>Need to modernise without disrupting live service delivery</a:t>
            </a:r>
          </a:p>
          <a:p>
            <a:pPr>
              <a:buChar char="•"/>
            </a:pPr>
            <a:r>
              <a:t>Strong governance, regulatory and sustainability expectations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 NRW is seeking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A coherent customer platform supporting consistent journeys</a:t>
            </a:r>
          </a:p>
          <a:p>
            <a:pPr>
              <a:buChar char="•"/>
            </a:pPr>
            <a:r>
              <a:t>Improved data maturity and trusted insight for decision making</a:t>
            </a:r>
          </a:p>
          <a:p>
            <a:pPr>
              <a:buChar char="•"/>
            </a:pPr>
            <a:r>
              <a:t>Reduced operational complexity and improved integration</a:t>
            </a:r>
          </a:p>
          <a:p>
            <a:pPr>
              <a:buChar char="•"/>
            </a:pPr>
            <a:r>
              <a:t>Sustainable internal capability alongside delivery outcomes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Typical patterns we see in similar organisations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Customer data fragmented across CRM, case systems and documents</a:t>
            </a:r>
          </a:p>
          <a:p>
            <a:pPr>
              <a:buChar char="•"/>
            </a:pPr>
            <a:r>
              <a:t>Integration achieved through point to point connections</a:t>
            </a:r>
          </a:p>
          <a:p>
            <a:pPr>
              <a:buChar char="•"/>
            </a:pPr>
            <a:r>
              <a:t>Limited visibility of end to end user journeys</a:t>
            </a:r>
          </a:p>
          <a:p>
            <a:pPr>
              <a:buChar char="•"/>
            </a:pPr>
            <a:r>
              <a:t>High manual effort to reconcile and validate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means for NRW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Transformation must be phased and evidence led</a:t>
            </a:r>
          </a:p>
          <a:p>
            <a:pPr>
              <a:buChar char="•"/>
            </a:pPr>
            <a:r>
              <a:t>Architecture needs to enable incremental change not replacement</a:t>
            </a:r>
          </a:p>
          <a:p>
            <a:pPr>
              <a:buChar char="•"/>
            </a:pPr>
            <a:r>
              <a:t>Data integration must precede data consolidation</a:t>
            </a:r>
          </a:p>
          <a:p>
            <a:pPr>
              <a:buChar char="•"/>
            </a:pPr>
            <a:r>
              <a:t>Capability uplift must be embedded within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3: Clarifications on Our Proposal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blended delivery model with Stable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Stable is embedded within IBM delivery teams not a peripheral supplier</a:t>
            </a:r>
          </a:p>
          <a:p>
            <a:pPr>
              <a:buChar char="•"/>
            </a:pPr>
            <a:r>
              <a:t>Provides local Welsh capability and continuity of engagement</a:t>
            </a:r>
          </a:p>
          <a:p>
            <a:pPr>
              <a:buChar char="•"/>
            </a:pPr>
            <a:r>
              <a:t>Supports bilingual and user centred service delivery</a:t>
            </a:r>
          </a:p>
          <a:p>
            <a:pPr>
              <a:buChar char="•"/>
            </a:pPr>
            <a:r>
              <a:t>Combined model balances scale with local responsiveness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transformation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Not a single programme delivery but a product aligned evolution</a:t>
            </a:r>
          </a:p>
          <a:p>
            <a:pPr>
              <a:buChar char="•"/>
            </a:pPr>
            <a:r>
              <a:t>Focus on controlled, iterative delivery with measurable outcomes</a:t>
            </a:r>
          </a:p>
          <a:p>
            <a:pPr>
              <a:buChar char="•"/>
            </a:pPr>
            <a:r>
              <a:t>Strong emphasis on governance, traceability and assurance</a:t>
            </a:r>
          </a:p>
          <a:p>
            <a:pPr>
              <a:buChar char="•"/>
            </a:pPr>
            <a:r>
              <a:t>Continuous knowledge transfer to reduce dependency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Clarifying our use of Microsoft ecosystem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Build on existing investment in Azure, Dynamics and Microsoft 365</a:t>
            </a:r>
          </a:p>
          <a:p>
            <a:pPr>
              <a:buChar char="•"/>
            </a:pPr>
            <a:r>
              <a:t>Prioritise SaaS and managed services over bespoke build</a:t>
            </a:r>
          </a:p>
          <a:p>
            <a:pPr>
              <a:buChar char="•"/>
            </a:pPr>
            <a:r>
              <a:t>Use platform capabilities before introducing custom solutions</a:t>
            </a:r>
          </a:p>
          <a:p>
            <a:pPr>
              <a:buChar char="•"/>
            </a:pPr>
            <a:r>
              <a:t>Ensure alignment with existing estate and operating model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4: Customer Platform Approach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propose a structured discovery led platform evolution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Discovery phase establishes roadmap, architecture and investment logic</a:t>
            </a:r>
          </a:p>
          <a:p>
            <a:pPr>
              <a:buChar char="•"/>
            </a:pPr>
            <a:r>
              <a:t>Parallel focus on users, technology and delivery model</a:t>
            </a:r>
          </a:p>
          <a:p>
            <a:pPr>
              <a:buChar char="•"/>
            </a:pPr>
            <a:r>
              <a:t>Outputs support staged and evidence based decision making</a:t>
            </a:r>
          </a:p>
          <a:p>
            <a:pPr>
              <a:buChar char="•"/>
            </a:pPr>
            <a:r>
              <a:t>Foundation for long term product aligned delivery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structured across three parallel workstreams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User and stakeholder discovery to identify priority journeys</a:t>
            </a:r>
          </a:p>
          <a:p>
            <a:pPr>
              <a:buChar char="•"/>
            </a:pPr>
            <a:r>
              <a:t>Technical and architectural assessment of current estate</a:t>
            </a:r>
          </a:p>
          <a:p>
            <a:pPr>
              <a:buChar char="•"/>
            </a:pPr>
            <a:r>
              <a:t>Commercial and delivery shaping for phased execution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customer platform architecture within Microsoft ecosystem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architectural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Cloud first and SaaS preferred with minimal bespoke infrastructure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Modular and loosely coupled architecture across all layers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r>
              <a:t>API first and event driven integration patterns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Data governed with clear ownership lineage and access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to resolving customer data fragmentation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Establish shared customer identifier anchored in Dynamics 365</a:t>
            </a:r>
          </a:p>
          <a:p>
            <a:pPr>
              <a:buChar char="•"/>
            </a:pPr>
            <a:r>
              <a:t>Use integration layer to map and reconcile existing identifiers</a:t>
            </a:r>
          </a:p>
          <a:p>
            <a:pPr>
              <a:buChar char="•"/>
            </a:pPr>
            <a:r>
              <a:t>Avoid immediate consolidation to reduce delivery risk</a:t>
            </a:r>
          </a:p>
          <a:p>
            <a:pPr>
              <a:buChar char="•"/>
            </a:pPr>
            <a:r>
              <a:t>Progressively improve data quality and consistency over time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Sequencing and risk management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Prioritise identity resolution and integration early</a:t>
            </a:r>
          </a:p>
          <a:p>
            <a:pPr>
              <a:buChar char="•"/>
            </a:pPr>
            <a:r>
              <a:t>Maintain existing systems while improving interoperability</a:t>
            </a:r>
          </a:p>
          <a:p>
            <a:pPr>
              <a:buChar char="•"/>
            </a:pPr>
            <a:r>
              <a:t>Introduce consolidation only when data confidence improves</a:t>
            </a:r>
          </a:p>
          <a:p>
            <a:pPr>
              <a:buChar char="•"/>
            </a:pPr>
            <a:r>
              <a:t>Mitigate risk through incremental delivery and validation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5: Delivery Model and Governance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Multidisciplinary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Teams include design, architecture, engineering and data capability</a:t>
            </a:r>
          </a:p>
          <a:p>
            <a:pPr>
              <a:buChar char="•"/>
            </a:pPr>
            <a:r>
              <a:t>Close collaboration with NRW stakeholders and product owners</a:t>
            </a:r>
          </a:p>
          <a:p>
            <a:pPr>
              <a:buChar char="•"/>
            </a:pPr>
            <a:r>
              <a:t>Agile delivery using iterative sprints and continuous validation</a:t>
            </a:r>
          </a:p>
          <a:p>
            <a:pPr>
              <a:buChar char="•"/>
            </a:pPr>
            <a:r>
              <a:t>Blended IBM and NRW teams supporting knowledge transfer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from discovery into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Alpha phase with small number of focused product teams</a:t>
            </a:r>
          </a:p>
          <a:p>
            <a:pPr>
              <a:buChar char="•"/>
            </a:pPr>
            <a:r>
              <a:t>Beta phase expanding capability and delivery throughput</a:t>
            </a:r>
          </a:p>
          <a:p>
            <a:pPr>
              <a:buChar char="•"/>
            </a:pPr>
            <a:r>
              <a:t>Live phase transitioning to sustainable operational teams</a:t>
            </a:r>
          </a:p>
          <a:p>
            <a:pPr>
              <a:buChar char="•"/>
            </a:pPr>
            <a:r>
              <a:t>Progressive handover to NRW ownership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Strategic governance ensuring alignment to organisational priorities</a:t>
            </a:r>
          </a:p>
          <a:p>
            <a:pPr>
              <a:buChar char="•"/>
            </a:pPr>
            <a:r>
              <a:t>Programme governance managing delivery and dependencies</a:t>
            </a:r>
          </a:p>
          <a:p>
            <a:pPr>
              <a:buChar char="•"/>
            </a:pPr>
            <a:r>
              <a:t>Technical governance ensuring architectural consistency</a:t>
            </a:r>
          </a:p>
          <a:p>
            <a:pPr>
              <a:buChar char="•"/>
            </a:pPr>
            <a:r>
              <a:t>Integrated risk management embedded across all levels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delivery risks and mitigations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Data quality challenges affecting identity matching accuracy</a:t>
            </a:r>
          </a:p>
          <a:p>
            <a:pPr>
              <a:buChar char="•"/>
            </a:pPr>
            <a:r>
              <a:t>Legacy system dependencies impacting integration complexity</a:t>
            </a:r>
          </a:p>
          <a:p>
            <a:pPr>
              <a:buChar char="•"/>
            </a:pPr>
            <a:r>
              <a:t>Security and compliance requirements influencing design</a:t>
            </a:r>
          </a:p>
          <a:p>
            <a:pPr>
              <a:buChar char="•"/>
            </a:pPr>
            <a:r>
              <a:t>Organisational readiness for new ways of working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sustainability by design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Zero Trust principles embedded across architecture</a:t>
            </a:r>
          </a:p>
          <a:p>
            <a:pPr>
              <a:buChar char="•"/>
            </a:pPr>
            <a:r>
              <a:t>Compliance aligned to UK GDPR and public sector standards</a:t>
            </a:r>
          </a:p>
          <a:p>
            <a:pPr>
              <a:buChar char="•"/>
            </a:pPr>
            <a:r>
              <a:t>Observability and resilience built into all services</a:t>
            </a:r>
          </a:p>
          <a:p>
            <a:pPr>
              <a:buChar char="•"/>
            </a:pPr>
            <a:r>
              <a:t>Continuous improvement driven by telemetry and feedback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6: Website Innovation Approach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week innovation window designed to reduce uncertainty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Hypothesis led approach focusing on measurable improvements</a:t>
            </a:r>
          </a:p>
          <a:p>
            <a:pPr>
              <a:buChar char="•"/>
            </a:pPr>
            <a:r>
              <a:t>Testing usability, accessibility and content effectiveness</a:t>
            </a:r>
          </a:p>
          <a:p>
            <a:pPr>
              <a:buChar char="•"/>
            </a:pPr>
            <a:r>
              <a:t>Operate within existing NRW technology constraints</a:t>
            </a:r>
          </a:p>
          <a:p>
            <a:pPr>
              <a:buChar char="•"/>
            </a:pPr>
            <a:r>
              <a:t>Focus on evidence to support future investment decisions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phase innovation approach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Explore and discover to define problems and hypotheses</a:t>
            </a:r>
          </a:p>
          <a:p>
            <a:pPr>
              <a:buChar char="•"/>
            </a:pPr>
            <a:r>
              <a:t>Ideate and co create to test concepts quickly</a:t>
            </a:r>
          </a:p>
          <a:p>
            <a:pPr>
              <a:buChar char="•"/>
            </a:pPr>
            <a:r>
              <a:t>Design and build to validate feasibility</a:t>
            </a:r>
          </a:p>
          <a:p>
            <a:pPr>
              <a:buChar char="•"/>
            </a:pPr>
            <a:r>
              <a:t>Scale or stop based on evidence and outcomes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driven delivery 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Improved navigation reduces user effort</a:t>
            </a:r>
          </a:p>
          <a:p>
            <a:pPr>
              <a:buChar char="•"/>
            </a:pPr>
            <a:r>
              <a:t>Enhanced search improves content findability</a:t>
            </a:r>
          </a:p>
          <a:p>
            <a:pPr>
              <a:buChar char="•"/>
            </a:pPr>
            <a:r>
              <a:t>Bilingual design improves accessibility and usability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Measured reduction in task completion time</a:t>
            </a:r>
          </a:p>
          <a:p>
            <a:pPr>
              <a:buChar char="•"/>
            </a:pPr>
            <a:r>
              <a:t>Improved search success rate and engagement</a:t>
            </a:r>
          </a:p>
          <a:p>
            <a:pPr>
              <a:buChar char="•"/>
            </a:pPr>
            <a:r>
              <a:t>Accessibility compliance and user feedback improvements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Outcome of innovation window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Validated hypotheses with clear evidence base</a:t>
            </a:r>
          </a:p>
          <a:p>
            <a:pPr>
              <a:buChar char="•"/>
            </a:pPr>
            <a:r>
              <a:t>Reusable design and content patterns</a:t>
            </a:r>
          </a:p>
          <a:p>
            <a:pPr>
              <a:buChar char="•"/>
            </a:pPr>
            <a:r>
              <a:t>Proven technical feasibility for key concepts</a:t>
            </a:r>
          </a:p>
          <a:p>
            <a:pPr>
              <a:buChar char="•"/>
            </a:pPr>
            <a:r>
              <a:t>Decision ready backlog for future delivery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7: Sustainability and Social Value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sustainability into delivery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Use of cloud platforms to improve energy efficiency</a:t>
            </a:r>
          </a:p>
          <a:p>
            <a:pPr>
              <a:buChar char="•"/>
            </a:pPr>
            <a:r>
              <a:t>FinOps and GreenOps to manage cost and carbon impact</a:t>
            </a:r>
          </a:p>
          <a:p>
            <a:pPr>
              <a:buChar char="•"/>
            </a:pPr>
            <a:r>
              <a:t>Optimisation of workloads and environments</a:t>
            </a:r>
          </a:p>
          <a:p>
            <a:pPr>
              <a:buChar char="•"/>
            </a:pPr>
            <a:r>
              <a:t>Support environmental insight through data platforms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Delivering social value in Wales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Welsh based delivery through Stable partnership</a:t>
            </a:r>
          </a:p>
          <a:p>
            <a:pPr>
              <a:buChar char="•"/>
            </a:pPr>
            <a:r>
              <a:t>Support for local employment and skills development</a:t>
            </a:r>
          </a:p>
          <a:p>
            <a:pPr>
              <a:buChar char="•"/>
            </a:pPr>
            <a:r>
              <a:t>Engagement with Welsh SMEs and social enterprises</a:t>
            </a:r>
          </a:p>
          <a:p>
            <a:pPr>
              <a:buChar char="•"/>
            </a:pPr>
            <a:r>
              <a:t>Structured and measurable social value commitments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8: Commercial Approach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Flexible commercial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We can operate across a range of commercial models depending on delivery phase and scope maturity.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Time and materials for discovery and evolving scope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Fixed price where scope and outcomes are clear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Fixed capacity for controlled delivery periods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Commercial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Transparency of cost drivers and assumptions</a:t>
            </a:r>
          </a:p>
          <a:p>
            <a:pPr>
              <a:buChar char="•"/>
            </a:pPr>
            <a:r>
              <a:t>Flexibility to adapt to delivery phase maturity</a:t>
            </a:r>
          </a:p>
          <a:p>
            <a:pPr>
              <a:buChar char="•"/>
            </a:pPr>
            <a:r>
              <a:t>Alignment to value delivered and outcomes achieved</a:t>
            </a:r>
          </a:p>
          <a:p>
            <a:pPr>
              <a:buChar char="•"/>
            </a:pPr>
            <a:r>
              <a:t>Support for blended delivery with NRW teams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9: Closing and Discussion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Provide further clarification on proposal areas as required</a:t>
            </a:r>
          </a:p>
          <a:p>
            <a:pPr>
              <a:buChar char="•"/>
            </a:pPr>
            <a:r>
              <a:t>Refine scope and assumptions through dialogue</a:t>
            </a:r>
          </a:p>
          <a:p>
            <a:pPr>
              <a:buChar char="•"/>
            </a:pPr>
            <a:r>
              <a:t>Align on priorities for discovery phase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Confirm stakeholders and engagement model</a:t>
            </a:r>
          </a:p>
          <a:p>
            <a:pPr>
              <a:buChar char="•"/>
            </a:pPr>
            <a:r>
              <a:t>Agree mobilisation approach and timelines</a:t>
            </a:r>
          </a:p>
          <a:p>
            <a:pPr>
              <a:buChar char="•"/>
            </a:pPr>
            <a:r>
              <a:t>Progress towards final tender submission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  <a:p>
            <a:r>
              <a:t>We welcome questions and discussion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