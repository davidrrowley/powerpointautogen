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891" r:id="rId1"/>
  </p:sldMasterIdLst>
  <p:notesMasterIdLst>
    <p:notesMasterId r:id="rId94"/>
  </p:notesMasterIdLst>
  <p:handoutMasterIdLst>
    <p:handoutMasterId r:id="rId95"/>
  </p:handout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Lst>
  <p:sldSz cx="9144000" cy="5143500" type="screen16x9"/>
  <p:notesSz cx="6858000" cy="9144000"/>
  <p:defaultTex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672E31BB-9F53-944C-AFF7-1F240E61BE18}">
          <p14:sldIdLst>
            <p14:sldId id="262"/>
            <p14:sldId id="256"/>
            <p14:sldId id="258"/>
            <p14:sldId id="336"/>
            <p14:sldId id="360"/>
            <p14:sldId id="261"/>
            <p14:sldId id="349"/>
            <p14:sldId id="265"/>
            <p14:sldId id="257"/>
            <p14:sldId id="266"/>
            <p14:sldId id="264"/>
          </p14:sldIdLst>
        </p14:section>
        <p14:section name="Covers and front matter designs" id="{591A3328-AB40-EB40-8371-0BE8997D5ECA}">
          <p14:sldIdLst>
            <p14:sldId id="269"/>
            <p14:sldId id="383"/>
            <p14:sldId id="386"/>
            <p14:sldId id="387"/>
            <p14:sldId id="388"/>
            <p14:sldId id="389"/>
            <p14:sldId id="361"/>
            <p14:sldId id="363"/>
            <p14:sldId id="362"/>
            <p14:sldId id="275"/>
            <p14:sldId id="395"/>
            <p14:sldId id="396"/>
            <p14:sldId id="397"/>
            <p14:sldId id="398"/>
            <p14:sldId id="399"/>
            <p14:sldId id="281"/>
            <p14:sldId id="370"/>
            <p14:sldId id="283"/>
            <p14:sldId id="364"/>
            <p14:sldId id="284"/>
            <p14:sldId id="285"/>
          </p14:sldIdLst>
        </p14:section>
        <p14:section name="Sample slides" id="{FE79D234-09B0-7A4C-9C40-866AE14B99F0}">
          <p14:sldIdLst>
            <p14:sldId id="286"/>
            <p14:sldId id="287"/>
            <p14:sldId id="288"/>
            <p14:sldId id="365"/>
            <p14:sldId id="290"/>
            <p14:sldId id="291"/>
            <p14:sldId id="292"/>
            <p14:sldId id="293"/>
            <p14:sldId id="294"/>
            <p14:sldId id="295"/>
            <p14:sldId id="296"/>
            <p14:sldId id="410"/>
            <p14:sldId id="297"/>
            <p14:sldId id="298"/>
            <p14:sldId id="299"/>
            <p14:sldId id="304"/>
            <p14:sldId id="300"/>
            <p14:sldId id="301"/>
            <p14:sldId id="302"/>
            <p14:sldId id="303"/>
            <p14:sldId id="305"/>
            <p14:sldId id="381"/>
            <p14:sldId id="306"/>
            <p14:sldId id="382"/>
            <p14:sldId id="327"/>
            <p14:sldId id="328"/>
            <p14:sldId id="326"/>
            <p14:sldId id="307"/>
            <p14:sldId id="411"/>
            <p14:sldId id="412"/>
            <p14:sldId id="400"/>
            <p14:sldId id="401"/>
            <p14:sldId id="402"/>
            <p14:sldId id="403"/>
            <p14:sldId id="404"/>
            <p14:sldId id="405"/>
            <p14:sldId id="406"/>
            <p14:sldId id="407"/>
            <p14:sldId id="377"/>
            <p14:sldId id="378"/>
            <p14:sldId id="308"/>
          </p14:sldIdLst>
        </p14:section>
        <p14:section name="Sample charts &amp; tables" id="{269F54EE-045D-8D4D-9D1D-F95D304254CD}">
          <p14:sldIdLst>
            <p14:sldId id="356"/>
            <p14:sldId id="310"/>
            <p14:sldId id="357"/>
            <p14:sldId id="342"/>
            <p14:sldId id="313"/>
            <p14:sldId id="316"/>
            <p14:sldId id="369"/>
            <p14:sldId id="318"/>
            <p14:sldId id="358"/>
            <p14:sldId id="359"/>
            <p14:sldId id="314"/>
            <p14:sldId id="347"/>
            <p14:sldId id="338"/>
            <p14:sldId id="339"/>
            <p14:sldId id="322"/>
            <p14:sldId id="323"/>
            <p14:sldId id="325"/>
            <p14:sldId id="324"/>
          </p14:sldIdLst>
        </p14:section>
        <p14:section name="Color palette" id="{65FF3ABE-B9F3-0A45-B4B2-DBFBFD1D9A4D}">
          <p14:sldIdLst>
            <p14:sldId id="368"/>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32"/>
    <p:restoredTop sz="96327"/>
  </p:normalViewPr>
  <p:slideViewPr>
    <p:cSldViewPr snapToGrid="0" snapToObjects="1">
      <p:cViewPr varScale="1">
        <p:scale>
          <a:sx n="159" d="100"/>
          <a:sy n="159" d="100"/>
        </p:scale>
        <p:origin x="464" y="184"/>
      </p:cViewPr>
      <p:guideLst>
        <p:guide orient="horz" pos="1620"/>
        <p:guide pos="2880"/>
      </p:guideLst>
    </p:cSldViewPr>
  </p:slideViewPr>
  <p:outlineViewPr>
    <p:cViewPr>
      <p:scale>
        <a:sx n="33" d="100"/>
        <a:sy n="33" d="100"/>
      </p:scale>
      <p:origin x="0" y="-23176"/>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8" d="100"/>
          <a:sy n="88" d="100"/>
        </p:scale>
        <p:origin x="387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94" Type="http://schemas.openxmlformats.org/officeDocument/2006/relationships/notesMaster" Target="notesMasters/notesMaster1.xml"/><Relationship Id="rId95" Type="http://schemas.openxmlformats.org/officeDocument/2006/relationships/handoutMaster" Target="handoutMasters/handoutMaster1.xml"/><Relationship Id="rId96" Type="http://schemas.openxmlformats.org/officeDocument/2006/relationships/commentAuthors" Target="commentAuthors.xml"/><Relationship Id="rId97" Type="http://schemas.openxmlformats.org/officeDocument/2006/relationships/presProps" Target="presProps.xml"/><Relationship Id="rId98" Type="http://schemas.openxmlformats.org/officeDocument/2006/relationships/viewProps" Target="viewProps.xml"/><Relationship Id="rId99" Type="http://schemas.openxmlformats.org/officeDocument/2006/relationships/theme" Target="theme/theme1.xml"/><Relationship Id="rId10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Arial" panose="020B0604020202020204" pitchFamily="34" charset="0"/>
                <a:ea typeface="IBM Plex Sans Light" charset="0"/>
                <a:cs typeface="Arial" panose="020B0604020202020204" pitchFamily="34" charset="0"/>
              </a:rPr>
              <a:pPr algn="l"/>
              <a:t>‹#›</a:t>
            </a:fld>
            <a:endParaRPr lang="en-US" sz="600" dirty="0">
              <a:solidFill>
                <a:schemeClr val="bg1"/>
              </a:solidFill>
              <a:latin typeface="Arial" panose="020B0604020202020204" pitchFamily="34" charset="0"/>
              <a:ea typeface="IBM Plex Sans Light" charset="0"/>
              <a:cs typeface="Arial" panose="020B0604020202020204" pitchFamily="34"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Arial" panose="020B0604020202020204" pitchFamily="34" charset="0"/>
                <a:ea typeface="IBM Plex Sans Light" charset="0"/>
                <a:cs typeface="Arial" panose="020B0604020202020204" pitchFamily="34"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822450" y="228600"/>
            <a:ext cx="3213100" cy="1807369"/>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19456" y="2247900"/>
            <a:ext cx="6419088" cy="61595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marL="803275" marR="0" lvl="4" indent="-171450"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a:pPr>
            <a:r>
              <a:rPr kumimoji="0" lang="en-US" sz="10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Fifth level</a:t>
            </a:r>
          </a:p>
        </p:txBody>
      </p:sp>
      <p:sp>
        <p:nvSpPr>
          <p:cNvPr id="7" name="Slide Number Placeholder 6"/>
          <p:cNvSpPr>
            <a:spLocks noGrp="1"/>
          </p:cNvSpPr>
          <p:nvPr>
            <p:ph type="sldNum" sz="quarter" idx="5"/>
          </p:nvPr>
        </p:nvSpPr>
        <p:spPr>
          <a:xfrm>
            <a:off x="219456" y="8705088"/>
            <a:ext cx="338328" cy="228600"/>
          </a:xfrm>
          <a:prstGeom prst="rect">
            <a:avLst/>
          </a:prstGeom>
        </p:spPr>
        <p:txBody>
          <a:bodyPr vert="horz" lIns="0" tIns="0" rIns="0" bIns="0" rtlCol="0" anchor="b"/>
          <a:lstStyle>
            <a:lvl1pPr algn="l">
              <a:defRPr sz="6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630936" y="8705088"/>
            <a:ext cx="3657600" cy="228600"/>
          </a:xfrm>
          <a:prstGeom prst="rect">
            <a:avLst/>
          </a:prstGeom>
        </p:spPr>
        <p:txBody>
          <a:bodyPr vert="horz" lIns="0" tIns="0" rIns="0" bIns="0" rtlCol="0" anchor="b"/>
          <a:lstStyle>
            <a:lvl1pPr algn="l">
              <a:defRPr sz="6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dirty="0"/>
              <a:t>Group Name / DOC ID / Month XX, 2022 / © 2022 IBM Corporation</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914400" rtl="0" eaLnBrk="1" latinLnBrk="0" hangingPunct="1">
      <a:spcBef>
        <a:spcPts val="600"/>
      </a:spcBef>
      <a:defRPr sz="1000" b="0" i="0" kern="1200">
        <a:solidFill>
          <a:schemeClr val="bg1"/>
        </a:solidFill>
        <a:latin typeface="Arial" panose="020B0604020202020204" pitchFamily="34" charset="0"/>
        <a:ea typeface="+mn-ea"/>
        <a:cs typeface="+mn-cs"/>
      </a:defRPr>
    </a:lvl1pPr>
    <a:lvl2pPr marL="174625" indent="-169863" algn="l" defTabSz="914400" rtl="0" eaLnBrk="1" latinLnBrk="0" hangingPunct="1">
      <a:spcBef>
        <a:spcPts val="600"/>
      </a:spcBef>
      <a:buFont typeface="IBM Plex Sans"/>
      <a:buChar char="–"/>
      <a:tabLst/>
      <a:defRPr sz="1000" b="0" i="0" kern="1200">
        <a:solidFill>
          <a:schemeClr val="bg1"/>
        </a:solidFill>
        <a:latin typeface="Arial" panose="020B0604020202020204" pitchFamily="34" charset="0"/>
        <a:ea typeface="+mn-ea"/>
        <a:cs typeface="+mn-cs"/>
      </a:defRPr>
    </a:lvl2pPr>
    <a:lvl3pPr marL="347472" indent="-173736" algn="l" defTabSz="914400" rtl="0" eaLnBrk="1" latinLnBrk="0" hangingPunct="1">
      <a:spcBef>
        <a:spcPts val="600"/>
      </a:spcBef>
      <a:buFont typeface="IBM Plex Sans Light" panose="020B0604020202020204" pitchFamily="34" charset="0"/>
      <a:buChar char="•"/>
      <a:tabLst/>
      <a:defRPr sz="1000" b="0" i="0" kern="1200">
        <a:solidFill>
          <a:schemeClr val="bg1"/>
        </a:solidFill>
        <a:latin typeface="Arial" panose="020B0604020202020204" pitchFamily="34" charset="0"/>
        <a:ea typeface="+mn-ea"/>
        <a:cs typeface="+mn-cs"/>
      </a:defRPr>
    </a:lvl3pPr>
    <a:lvl4pPr marL="630936" indent="-173736" algn="l" defTabSz="914400" rtl="0" eaLnBrk="1" latinLnBrk="0" hangingPunct="1">
      <a:spcBef>
        <a:spcPts val="600"/>
      </a:spcBef>
      <a:buFont typeface="IBM Plex Sans Light"/>
      <a:buChar char="–"/>
      <a:tabLst/>
      <a:defRPr sz="1000" b="0" i="0" kern="1200">
        <a:solidFill>
          <a:schemeClr val="bg1"/>
        </a:solidFill>
        <a:latin typeface="Arial" panose="020B0604020202020204" pitchFamily="34" charset="0"/>
        <a:ea typeface="+mn-ea"/>
        <a:cs typeface="+mn-cs"/>
      </a:defRPr>
    </a:lvl4pPr>
    <a:lvl5pPr marL="174625" marR="0" indent="-169863"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sz="1000" b="0" i="0" kern="1200">
        <a:solidFill>
          <a:schemeClr val="bg1"/>
        </a:solidFill>
        <a:latin typeface="IBM Plex Sans Medm"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NRW DDaT Framework initial proposal. This deck presents IBM Consulting and Stable's joint response, covering our differentiators, capabilities, approach to the Customer Platform and Website Innovation, sustainability, commercial model,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 the structure of the presentation. Each section will address key aspects of our proposal, from joint delivery strengths to commercial terms and sustainability commitments.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partnership combines IBM's global delivery scale and specialist expertise with Stable's Welsh-based architectural and engineering talent. This blend ensures NRW benefits from both continuity and access to leading practices.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pillars distinguish our approach from typical suppliers. We embed local teams, transfer knowledge proactively, and ensure delivery is governed yet agile, supporting NRW's goals for resilience and sustainable change.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NRW's transformation requires more than resource augmentation. Our blended model leverages local insight and global capability, ensuring both operational continuity and scalable delivery.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Wales model is more than subcontracting. Stable is fully integrated, providing local presence and cultural alignment, while IBM brings specialist resources and delivery scale.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IBM's strengths are rooted in delivering complex programmes across public sector and regulated domains. We combine technical depth with proven methods for capability uplift and governance.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specialisms span the full DDaT lifecycle, from service design to cloud engineering and agile delivery. Each area is aligned to NRW's requirements for modernisation and operational resilience.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is structured at multiple levels to ensure strategic alignment, technical consistency, and proactive risk management. This model supports NRW's need for controlled, scalable delivery.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track record demonstrates capability to deliver at scale, including regulated environments and Welsh public sector clients. These outcomes validate our approach and methods.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is structured to establish a clear roadmap, validate user needs, and ground investment decisions in technical and delivery evidence. Local engagement ensures relevance and continuity.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discovery phase delivers actionable artefacts, aligning platform evolution to NRW's outcomes and ensuring traceability from user needs to investment decisions.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organises NRW's Microsoft estate into cohesive layers, supporting modularity, API-first integration, and incremental modernisation. This structure reduces coupling and supports future change.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principles guide architectural decisions, ensuring scalability, resilience, and compliance. They reinforce separation of concerns and enable NRW to evolve the platform incrementally.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NRW faces three forms of data fragmentation. Our approach resolves these progressively, focusing on identity-led integration and unified customer records.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establish a governed integration framework, resolving identity and data fragmentation through incremental steps. Discovery validates feasibility and readiness before wider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managed proactively through structured profiling, governance, and incremental delivery. Organisational adoption and stakeholder engagement are critical to success.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are designed for cross-functional collaboration, combining technical and operational expertise. NRW staff are embedded to accelerate knowledge transfer and build sustainable capability.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Scaling follows a risk-based, phased approach. Early involvement of sustainment resources ensures smooth transition to live operation and long-term platform sustainability.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and compliance are integral to design and delivery. Testing is risk-based, and operability is prioritised. Knowledge transfer ensures NRW can sustain and improve services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window is a structured experiment, not a mini-project. It aims to validate changes that improve usability, accessibility, and service outcomes within NRW's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adapts to the nature of each challenge, focusing on evidence generation and disciplined disposal of weak ideas. Stakeholder involvement is continuous.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phase builds on the previous, moving from problem definition to evidence-based decision making. The process is hypothesis-led and supports rapid learning.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Success is measured by evidence, not opinion. The approach ensures only feasible, valuable changes progress, supporting NRW's objectives for user-centred, bilingual, accessible services.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Deliverables are practical and decision-oriented, providing NRW with actionable artefacts and evidence to inform future website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managed through structured engagement, early testing, and evidence-led decision making. Assumptions include access to users, analytics, and technical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Sustainability and social value are integral to our delivery. We leverage cloud efficiencies, support local talent, and actively engage Welsh SMEs and charities.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Stable's commitment to social value is demonstrated through practical actions—internships, charity support, and skills initiatives. These efforts are tracked and reported for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is monitored through clear metrics and reporting. Commitments are scaled to engagement size, ensuring lasting impact across Wales.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commercial approach provides NRW with flexibility and transparency. Models are selected based on requirement certainty, risk, and delivery needs.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is structured for clarity and realism. Volume discounts reward sustained engagement, and models adapt to specialist requirements as needed.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fund is governed transparently, ensuring fair access and impact across contributors. Collaborative proposals and periodic reviews maintain trust and value.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focus on mobilisation, stakeholder engagement, and alignment on discovery and innovation activities. Early preparation supports smooth delivery initiation.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 details for the presentation attendees are provided for follow-up. We welcome questions and further discussion on the proposal.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emf"/><Relationship Id="rId4" Type="http://schemas.openxmlformats.org/officeDocument/2006/relationships/image" Target="../media/image4.png"/><Relationship Id="rId5"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emf"/><Relationship Id="rId4" Type="http://schemas.openxmlformats.org/officeDocument/2006/relationships/image" Target="../media/image4.png"/><Relationship Id="rId5"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1.png"/><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gi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gi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gi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gi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rgbClr val="002D9C"/>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5" name="Picture">
            <a:extLst>
              <a:ext uri="{FF2B5EF4-FFF2-40B4-BE49-F238E27FC236}">
                <a16:creationId xmlns:a16="http://schemas.microsoft.com/office/drawing/2014/main" id="{8F105A4A-9552-334A-9BC6-8D24E7F7BA34}"/>
              </a:ext>
            </a:extLst>
          </p:cNvPr>
          <p:cNvPicPr>
            <a:picLocks noChangeAspect="1"/>
          </p:cNvPicPr>
          <p:nvPr userDrawn="1"/>
        </p:nvPicPr>
        <p:blipFill>
          <a:blip r:embed="rId2"/>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3D766AD5-4616-AD47-BF56-4CF516CAE954}"/>
              </a:ext>
            </a:extLst>
          </p:cNvPr>
          <p:cNvPicPr>
            <a:picLocks noChangeAspect="1"/>
          </p:cNvPicPr>
          <p:nvPr userDrawn="1"/>
        </p:nvPicPr>
        <p:blipFill>
          <a:blip r:embed="rId3"/>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1794504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imag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6" y="457"/>
            <a:ext cx="9133548" cy="5142585"/>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7" name="Picture 6">
            <a:extLst>
              <a:ext uri="{FF2B5EF4-FFF2-40B4-BE49-F238E27FC236}">
                <a16:creationId xmlns:a16="http://schemas.microsoft.com/office/drawing/2014/main" id="{26AFBEF0-43ED-3247-83DD-DC66028EC0CB}"/>
              </a:ext>
            </a:extLst>
          </p:cNvPr>
          <p:cNvPicPr>
            <a:picLocks noChangeAspect="1"/>
          </p:cNvPicPr>
          <p:nvPr userDrawn="1"/>
        </p:nvPicPr>
        <p:blipFill>
          <a:blip r:embed="rId3"/>
          <a:stretch>
            <a:fillRect/>
          </a:stretch>
        </p:blipFill>
        <p:spPr>
          <a:xfrm>
            <a:off x="238888" y="4766978"/>
            <a:ext cx="1376801" cy="189642"/>
          </a:xfrm>
          <a:prstGeom prst="rect">
            <a:avLst/>
          </a:prstGeom>
        </p:spPr>
      </p:pic>
      <p:pic>
        <p:nvPicPr>
          <p:cNvPr id="9" name="Graphic 8">
            <a:extLst>
              <a:ext uri="{FF2B5EF4-FFF2-40B4-BE49-F238E27FC236}">
                <a16:creationId xmlns:a16="http://schemas.microsoft.com/office/drawing/2014/main" id="{6C84EB7A-8D89-4847-A981-950437F1385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59756" y="4020192"/>
            <a:ext cx="684924" cy="1095192"/>
          </a:xfrm>
          <a:prstGeom prst="rect">
            <a:avLst/>
          </a:prstGeom>
        </p:spPr>
      </p:pic>
    </p:spTree>
    <p:extLst>
      <p:ext uri="{BB962C8B-B14F-4D97-AF65-F5344CB8AC3E}">
        <p14:creationId xmlns:p14="http://schemas.microsoft.com/office/powerpoint/2010/main" val="1548977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imag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6" y="457"/>
            <a:ext cx="9133548" cy="5142584"/>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5">
            <a:extLst>
              <a:ext uri="{FF2B5EF4-FFF2-40B4-BE49-F238E27FC236}">
                <a16:creationId xmlns:a16="http://schemas.microsoft.com/office/drawing/2014/main" id="{9B2852DC-D56D-D74A-8D1A-E2957BA8F741}"/>
              </a:ext>
            </a:extLst>
          </p:cNvPr>
          <p:cNvPicPr>
            <a:picLocks noChangeAspect="1"/>
          </p:cNvPicPr>
          <p:nvPr userDrawn="1"/>
        </p:nvPicPr>
        <p:blipFill>
          <a:blip r:embed="rId3"/>
          <a:stretch>
            <a:fillRect/>
          </a:stretch>
        </p:blipFill>
        <p:spPr>
          <a:xfrm>
            <a:off x="238888" y="4766978"/>
            <a:ext cx="1376801" cy="189642"/>
          </a:xfrm>
          <a:prstGeom prst="rect">
            <a:avLst/>
          </a:prstGeom>
        </p:spPr>
      </p:pic>
      <p:pic>
        <p:nvPicPr>
          <p:cNvPr id="7" name="Graphic 6">
            <a:extLst>
              <a:ext uri="{FF2B5EF4-FFF2-40B4-BE49-F238E27FC236}">
                <a16:creationId xmlns:a16="http://schemas.microsoft.com/office/drawing/2014/main" id="{ECEE8E4C-96B1-AA43-9432-4E6A518DB1B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59756" y="4020192"/>
            <a:ext cx="684924" cy="1095192"/>
          </a:xfrm>
          <a:prstGeom prst="rect">
            <a:avLst/>
          </a:prstGeom>
        </p:spPr>
      </p:pic>
    </p:spTree>
    <p:extLst>
      <p:ext uri="{BB962C8B-B14F-4D97-AF65-F5344CB8AC3E}">
        <p14:creationId xmlns:p14="http://schemas.microsoft.com/office/powerpoint/2010/main" val="3739273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image 7">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7" y="457"/>
            <a:ext cx="9133545" cy="5142583"/>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a:extLst>
              <a:ext uri="{FF2B5EF4-FFF2-40B4-BE49-F238E27FC236}">
                <a16:creationId xmlns:a16="http://schemas.microsoft.com/office/drawing/2014/main" id="{30DC9BF6-7093-1544-9101-FC7B73CE9A92}"/>
              </a:ext>
            </a:extLst>
          </p:cNvPr>
          <p:cNvPicPr>
            <a:picLocks noChangeAspect="1"/>
          </p:cNvPicPr>
          <p:nvPr userDrawn="1"/>
        </p:nvPicPr>
        <p:blipFill>
          <a:blip r:embed="rId3"/>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EFB6A17C-AFF6-C640-9555-FFFE815C65AA}"/>
              </a:ext>
            </a:extLst>
          </p:cNvPr>
          <p:cNvPicPr>
            <a:picLocks noChangeAspect="1"/>
          </p:cNvPicPr>
          <p:nvPr userDrawn="1"/>
        </p:nvPicPr>
        <p:blipFill>
          <a:blip r:embed="rId4"/>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3247010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 8">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7" y="457"/>
            <a:ext cx="9133545" cy="5142582"/>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a:extLst>
              <a:ext uri="{FF2B5EF4-FFF2-40B4-BE49-F238E27FC236}">
                <a16:creationId xmlns:a16="http://schemas.microsoft.com/office/drawing/2014/main" id="{73D7ADEB-1992-754B-AD9C-1F55CD8E8263}"/>
              </a:ext>
            </a:extLst>
          </p:cNvPr>
          <p:cNvPicPr>
            <a:picLocks noChangeAspect="1"/>
          </p:cNvPicPr>
          <p:nvPr userDrawn="1"/>
        </p:nvPicPr>
        <p:blipFill>
          <a:blip r:embed="rId3"/>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BFECEF78-9864-0D48-9AB2-8447ACC853D3}"/>
              </a:ext>
            </a:extLst>
          </p:cNvPr>
          <p:cNvPicPr>
            <a:picLocks noChangeAspect="1"/>
          </p:cNvPicPr>
          <p:nvPr userDrawn="1"/>
        </p:nvPicPr>
        <p:blipFill>
          <a:blip r:embed="rId4"/>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1531125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rgbClr val="002D9C"/>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70074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0100"/>
          </a:xfrm>
        </p:spPr>
        <p:txBody>
          <a:bodyPr/>
          <a:lstStyle>
            <a:lvl1pPr>
              <a:defRPr>
                <a:solidFill>
                  <a:srgbClr val="002D9C"/>
                </a:solidFill>
              </a:defRPr>
            </a:lvl1pPr>
          </a:lstStyle>
          <a:p>
            <a:r>
              <a:rPr lang="en-US" dirty="0"/>
              <a:t>Click to edit Master title style</a:t>
            </a:r>
          </a:p>
        </p:txBody>
      </p:sp>
      <p:sp>
        <p:nvSpPr>
          <p:cNvPr id="8" name="Text Placeholder 1"/>
          <p:cNvSpPr>
            <a:spLocks noGrp="1"/>
          </p:cNvSpPr>
          <p:nvPr>
            <p:ph type="body" sz="quarter" idx="13"/>
          </p:nvPr>
        </p:nvSpPr>
        <p:spPr>
          <a:xfrm>
            <a:off x="219456" y="1243584"/>
            <a:ext cx="4123944" cy="3252216"/>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01615" indent="0">
              <a:buNone/>
              <a:defRPr/>
            </a:lvl3pPr>
            <a:lvl4pPr marL="434981" indent="0">
              <a:buNone/>
              <a:defRPr/>
            </a:lvl4pPr>
            <a:lvl5pPr marL="631833"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sz="quarter" idx="12"/>
          </p:nvPr>
        </p:nvSpPr>
        <p:spPr>
          <a:xfrm>
            <a:off x="4791456" y="1243584"/>
            <a:ext cx="4123944" cy="3252216"/>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01615" indent="0">
              <a:buNone/>
              <a:defRPr/>
            </a:lvl3pPr>
            <a:lvl4pPr marL="434981" indent="0">
              <a:buNone/>
              <a:defRPr/>
            </a:lvl4pPr>
            <a:lvl5pPr marL="631833"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85390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act, number">
    <p:spTree>
      <p:nvGrpSpPr>
        <p:cNvPr id="1" name=""/>
        <p:cNvGrpSpPr/>
        <p:nvPr/>
      </p:nvGrpSpPr>
      <p:grpSpPr>
        <a:xfrm>
          <a:off x="0" y="0"/>
          <a:ext cx="0" cy="0"/>
          <a:chOff x="0" y="0"/>
          <a:chExt cx="0" cy="0"/>
        </a:xfrm>
      </p:grpSpPr>
      <p:sp>
        <p:nvSpPr>
          <p:cNvPr id="2" name="Title"/>
          <p:cNvSpPr>
            <a:spLocks noGrp="1"/>
          </p:cNvSpPr>
          <p:nvPr>
            <p:ph type="title"/>
          </p:nvPr>
        </p:nvSpPr>
        <p:spPr>
          <a:xfrm>
            <a:off x="219456" y="219456"/>
            <a:ext cx="4133088" cy="804672"/>
          </a:xfrm>
        </p:spPr>
        <p:txBody>
          <a:bodyPr/>
          <a:lstStyle>
            <a:lvl1pPr>
              <a:defRPr sz="1600">
                <a:solidFill>
                  <a:srgbClr val="002D9C"/>
                </a:solidFill>
              </a:defRPr>
            </a:lvl1pPr>
          </a:lstStyle>
          <a:p>
            <a:r>
              <a:rPr lang="en-US" dirty="0"/>
              <a:t>Click to edit Master title style</a:t>
            </a:r>
          </a:p>
        </p:txBody>
      </p:sp>
      <p:sp>
        <p:nvSpPr>
          <p:cNvPr id="6" name="Text Placeholder"/>
          <p:cNvSpPr>
            <a:spLocks noGrp="1"/>
          </p:cNvSpPr>
          <p:nvPr>
            <p:ph type="body" sz="quarter" idx="12"/>
          </p:nvPr>
        </p:nvSpPr>
        <p:spPr>
          <a:xfrm>
            <a:off x="137160" y="1133856"/>
            <a:ext cx="4206240" cy="3361944"/>
          </a:xfrm>
        </p:spPr>
        <p:txBody>
          <a:bodyPr/>
          <a:lstStyle>
            <a:lvl1pPr>
              <a:lnSpc>
                <a:spcPct val="90000"/>
              </a:lnSpc>
              <a:defRPr sz="9600" b="0" i="0">
                <a:solidFill>
                  <a:srgbClr val="002D9C"/>
                </a:solidFill>
                <a:latin typeface="Arial" panose="020B0604020202020204"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72605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19456" y="219456"/>
            <a:ext cx="4133088" cy="804672"/>
          </a:xfrm>
        </p:spPr>
        <p:txBody>
          <a:bodyPr/>
          <a:lstStyle>
            <a:lvl1pPr>
              <a:defRPr sz="1600" b="0" i="0">
                <a:solidFill>
                  <a:srgbClr val="002D9C"/>
                </a:solidFill>
                <a:latin typeface="Arial" panose="020B0604020202020204" pitchFamily="34" charset="0"/>
              </a:defRPr>
            </a:lvl1pPr>
          </a:lstStyle>
          <a:p>
            <a:r>
              <a:rPr lang="en-US" dirty="0"/>
              <a:t>Click to edit Master title style</a:t>
            </a:r>
          </a:p>
        </p:txBody>
      </p:sp>
      <p:sp>
        <p:nvSpPr>
          <p:cNvPr id="6" name="Text Placeholder"/>
          <p:cNvSpPr>
            <a:spLocks noGrp="1"/>
          </p:cNvSpPr>
          <p:nvPr>
            <p:ph type="body" sz="quarter" idx="12"/>
          </p:nvPr>
        </p:nvSpPr>
        <p:spPr>
          <a:xfrm>
            <a:off x="137160" y="1133856"/>
            <a:ext cx="4206240" cy="3361944"/>
          </a:xfrm>
        </p:spPr>
        <p:txBody>
          <a:bodyPr/>
          <a:lstStyle>
            <a:lvl1pPr>
              <a:lnSpc>
                <a:spcPct val="90000"/>
              </a:lnSpc>
              <a:defRPr sz="9600" b="0" i="0">
                <a:solidFill>
                  <a:srgbClr val="002D9C"/>
                </a:solidFill>
                <a:latin typeface="Arial" panose="020B0604020202020204" pitchFamily="34" charset="0"/>
              </a:defRPr>
            </a:lvl1pPr>
          </a:lstStyle>
          <a:p>
            <a:pPr lvl="0"/>
            <a:r>
              <a:rPr lang="en-US"/>
              <a:t>Click to edit Master text styles</a:t>
            </a:r>
          </a:p>
        </p:txBody>
      </p:sp>
      <p:sp>
        <p:nvSpPr>
          <p:cNvPr id="7" name="Picture Placeholder"/>
          <p:cNvSpPr>
            <a:spLocks noGrp="1"/>
          </p:cNvSpPr>
          <p:nvPr>
            <p:ph type="pic" sz="quarter" idx="13"/>
          </p:nvPr>
        </p:nvSpPr>
        <p:spPr>
          <a:xfrm>
            <a:off x="4572000" y="0"/>
            <a:ext cx="4572000" cy="5143500"/>
          </a:xfrm>
        </p:spPr>
        <p:txBody>
          <a:bodyPr lIns="91440" tIns="91440" rIns="91440" bIns="91440"/>
          <a:lstStyle>
            <a:lvl1pPr>
              <a:defRPr b="0" i="0" baseline="0">
                <a:solidFill>
                  <a:schemeClr val="tx1"/>
                </a:solidFill>
                <a:latin typeface="Arial" panose="020B0604020202020204" pitchFamily="34" charset="0"/>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513154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37161" y="91440"/>
            <a:ext cx="8778172" cy="4404360"/>
          </a:xfrm>
        </p:spPr>
        <p:txBody>
          <a:bodyPr/>
          <a:lstStyle>
            <a:lvl1pPr>
              <a:defRPr sz="9600" b="0" i="0">
                <a:solidFill>
                  <a:srgbClr val="002D9C"/>
                </a:solidFill>
                <a:latin typeface="Arial" panose="020B0604020202020204" pitchFamily="34" charset="0"/>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1276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p:cNvSpPr>
            <a:spLocks noGrp="1"/>
          </p:cNvSpPr>
          <p:nvPr>
            <p:ph type="title"/>
          </p:nvPr>
        </p:nvSpPr>
        <p:spPr>
          <a:xfrm>
            <a:off x="210313" y="201168"/>
            <a:ext cx="5562535" cy="4294632"/>
          </a:xfrm>
        </p:spPr>
        <p:txBody>
          <a:bodyPr/>
          <a:lstStyle>
            <a:lvl1pPr>
              <a:defRPr>
                <a:solidFill>
                  <a:srgbClr val="002D9C"/>
                </a:solidFill>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23742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4791456" y="201168"/>
            <a:ext cx="4123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8130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2"/>
          </p:nvPr>
        </p:nvSpPr>
        <p:spPr>
          <a:xfrm>
            <a:off x="4791457" y="1243584"/>
            <a:ext cx="4123876"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437521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7" name="Content Placeholder"/>
          <p:cNvSpPr>
            <a:spLocks noGrp="1"/>
          </p:cNvSpPr>
          <p:nvPr>
            <p:ph sz="quarter" idx="13"/>
          </p:nvPr>
        </p:nvSpPr>
        <p:spPr>
          <a:xfrm>
            <a:off x="210312" y="1216152"/>
            <a:ext cx="4142232" cy="3279648"/>
          </a:xfrm>
        </p:spPr>
        <p:txBody>
          <a:bodyPr/>
          <a:lstStyle>
            <a:lvl1pPr>
              <a:defRPr sz="2400">
                <a:solidFill>
                  <a:schemeClr val="tx1"/>
                </a:solidFill>
              </a:defRPr>
            </a:lvl1pPr>
          </a:lstStyle>
          <a:p>
            <a:pPr lvl="0"/>
            <a:r>
              <a:rPr lang="en-US"/>
              <a:t>Click to edit Master text styles</a:t>
            </a:r>
          </a:p>
        </p:txBody>
      </p:sp>
      <p:sp>
        <p:nvSpPr>
          <p:cNvPr id="6" name="Text Placeholder"/>
          <p:cNvSpPr>
            <a:spLocks noGrp="1"/>
          </p:cNvSpPr>
          <p:nvPr>
            <p:ph type="body" sz="quarter" idx="12"/>
          </p:nvPr>
        </p:nvSpPr>
        <p:spPr>
          <a:xfrm>
            <a:off x="4791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85785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505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791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p:cNvSpPr>
            <a:spLocks noGrp="1"/>
          </p:cNvSpPr>
          <p:nvPr>
            <p:ph type="body" sz="quarter" idx="15"/>
          </p:nvPr>
        </p:nvSpPr>
        <p:spPr>
          <a:xfrm>
            <a:off x="7077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7268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text, half-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60574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text (two narrow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4791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sz="quarter" idx="13"/>
          </p:nvPr>
        </p:nvSpPr>
        <p:spPr>
          <a:xfrm>
            <a:off x="7077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46872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210313" y="201168"/>
            <a:ext cx="4142164" cy="4294632"/>
          </a:xfrm>
        </p:spPr>
        <p:txBody>
          <a:bodyPr/>
          <a:lstStyle>
            <a:lvl1pPr>
              <a:defRPr>
                <a:solidFill>
                  <a:schemeClr val="tx1"/>
                </a:solidFill>
              </a:defRPr>
            </a:lvl1pPr>
          </a:lstStyle>
          <a:p>
            <a:r>
              <a:rPr lang="en-US"/>
              <a:t>Click to edit Master title style</a:t>
            </a:r>
            <a:endParaRPr lang="en-US" dirty="0"/>
          </a:p>
        </p:txBody>
      </p:sp>
      <p:sp>
        <p:nvSpPr>
          <p:cNvPr id="7" name="Black rectangle">
            <a:extLst>
              <a:ext uri="{FF2B5EF4-FFF2-40B4-BE49-F238E27FC236}">
                <a16:creationId xmlns:a16="http://schemas.microsoft.com/office/drawing/2014/main" id="{612CE115-19C6-174D-97D1-85AD78D8BEA7}"/>
              </a:ext>
              <a:ext uri="{C183D7F6-B498-43B3-948B-1728B52AA6E4}">
                <adec:decorative xmlns:adec="http://schemas.microsoft.com/office/drawing/2017/decorative" val="1"/>
              </a:ext>
            </a:extLst>
          </p:cNvPr>
          <p:cNvSpPr/>
          <p:nvPr userDrawn="1"/>
        </p:nvSpPr>
        <p:spPr>
          <a:xfrm>
            <a:off x="4572000" y="0"/>
            <a:ext cx="4572000" cy="5143500"/>
          </a:xfrm>
          <a:prstGeom prst="rect">
            <a:avLst/>
          </a:prstGeom>
          <a:solidFill>
            <a:schemeClr val="tx2"/>
          </a:solidFill>
        </p:spPr>
        <p:txBody>
          <a:bodyPr wrap="square" lIns="0" tIns="0" rIns="0" bIns="0" rtlCol="0" anchor="ctr">
            <a:noAutofit/>
          </a:bodyPr>
          <a:lstStyle/>
          <a:p>
            <a:pPr algn="ctr"/>
            <a:endParaRPr lang="en-US" sz="1200" b="0" i="0" dirty="0">
              <a:solidFill>
                <a:schemeClr val="tx1"/>
              </a:solidFill>
              <a:latin typeface="Arial" panose="020B0604020202020204" pitchFamily="34" charset="0"/>
              <a:cs typeface="Arial" panose="020B0604020202020204" pitchFamily="34" charset="0"/>
            </a:endParaRPr>
          </a:p>
        </p:txBody>
      </p:sp>
      <p:sp>
        <p:nvSpPr>
          <p:cNvPr id="6" name="Text Placeholder"/>
          <p:cNvSpPr>
            <a:spLocks noGrp="1"/>
          </p:cNvSpPr>
          <p:nvPr>
            <p:ph type="body" sz="quarter" idx="12"/>
          </p:nvPr>
        </p:nvSpPr>
        <p:spPr>
          <a:xfrm>
            <a:off x="4791456" y="201168"/>
            <a:ext cx="4123944" cy="4294632"/>
          </a:xfrm>
        </p:spPr>
        <p:txBody>
          <a:bodyPr/>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Consulting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46411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9044687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half-blank area">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037231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736174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
          <p:cNvSpPr>
            <a:spLocks noGrp="1"/>
          </p:cNvSpPr>
          <p:nvPr>
            <p:ph sz="quarter" idx="17"/>
          </p:nvPr>
        </p:nvSpPr>
        <p:spPr>
          <a:xfrm>
            <a:off x="4572000" y="0"/>
            <a:ext cx="2286000" cy="2571750"/>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10" name="Content Placeholder 2"/>
          <p:cNvSpPr>
            <a:spLocks noGrp="1"/>
          </p:cNvSpPr>
          <p:nvPr>
            <p:ph sz="quarter" idx="18"/>
          </p:nvPr>
        </p:nvSpPr>
        <p:spPr>
          <a:xfrm>
            <a:off x="6858000" y="0"/>
            <a:ext cx="2286000" cy="2571750"/>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12" name="Content Placeholder 3"/>
          <p:cNvSpPr>
            <a:spLocks noGrp="1"/>
          </p:cNvSpPr>
          <p:nvPr>
            <p:ph sz="quarter" idx="19"/>
          </p:nvPr>
        </p:nvSpPr>
        <p:spPr>
          <a:xfrm>
            <a:off x="4572000" y="2570163"/>
            <a:ext cx="4572000" cy="2573337"/>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1" name="Straight Connector 10">
            <a:extLst>
              <a:ext uri="{FF2B5EF4-FFF2-40B4-BE49-F238E27FC236}">
                <a16:creationId xmlns:a16="http://schemas.microsoft.com/office/drawing/2014/main" id="{C9AF558B-7F9E-D94C-91DC-907B299967CF}"/>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13EAF49-221E-8B43-8D20-D58F4F885163}"/>
              </a:ext>
            </a:extLst>
          </p:cNvPr>
          <p:cNvCxnSpPr>
            <a:cxnSpLocks/>
          </p:cNvCxnSpPr>
          <p:nvPr userDrawn="1"/>
        </p:nvCxnSpPr>
        <p:spPr bwMode="auto">
          <a:xfrm flipV="1">
            <a:off x="6854434" y="234951"/>
            <a:ext cx="0" cy="211690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F54D63C-09D4-6A49-B605-D1076B01100F}"/>
              </a:ext>
            </a:extLst>
          </p:cNvPr>
          <p:cNvCxnSpPr>
            <a:cxnSpLocks/>
          </p:cNvCxnSpPr>
          <p:nvPr userDrawn="1"/>
        </p:nvCxnSpPr>
        <p:spPr bwMode="auto">
          <a:xfrm>
            <a:off x="4792362" y="2570163"/>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82808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4572000" cy="2571751"/>
          </a:xfrm>
          <a:no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Content Placeholder 1"/>
          <p:cNvSpPr>
            <a:spLocks noGrp="1"/>
          </p:cNvSpPr>
          <p:nvPr>
            <p:ph sz="quarter" idx="17"/>
          </p:nvPr>
        </p:nvSpPr>
        <p:spPr>
          <a:xfrm>
            <a:off x="4572000" y="0"/>
            <a:ext cx="2286000" cy="257175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1" name="Content Placeholder 2"/>
          <p:cNvSpPr>
            <a:spLocks noGrp="1"/>
          </p:cNvSpPr>
          <p:nvPr>
            <p:ph sz="quarter" idx="18"/>
          </p:nvPr>
        </p:nvSpPr>
        <p:spPr>
          <a:xfrm>
            <a:off x="6858000" y="0"/>
            <a:ext cx="2286000" cy="257175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7" name="Content Placeholder 3"/>
          <p:cNvSpPr>
            <a:spLocks noGrp="1"/>
          </p:cNvSpPr>
          <p:nvPr>
            <p:ph sz="quarter" idx="20"/>
          </p:nvPr>
        </p:nvSpPr>
        <p:spPr>
          <a:xfrm>
            <a:off x="0" y="2570163"/>
            <a:ext cx="4572000" cy="2573337"/>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4" name="Content Placeholder 4"/>
          <p:cNvSpPr>
            <a:spLocks noGrp="1"/>
          </p:cNvSpPr>
          <p:nvPr>
            <p:ph sz="quarter" idx="19"/>
          </p:nvPr>
        </p:nvSpPr>
        <p:spPr>
          <a:xfrm>
            <a:off x="4572000" y="2570163"/>
            <a:ext cx="4572000" cy="257333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9" name="Straight Connector 8">
            <a:extLst>
              <a:ext uri="{FF2B5EF4-FFF2-40B4-BE49-F238E27FC236}">
                <a16:creationId xmlns:a16="http://schemas.microsoft.com/office/drawing/2014/main" id="{97703589-7433-EC4D-BE5D-6575D7E7166A}"/>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18C1B72-1958-D34C-A6E7-456FA9B0FC99}"/>
              </a:ext>
            </a:extLst>
          </p:cNvPr>
          <p:cNvCxnSpPr>
            <a:cxnSpLocks/>
          </p:cNvCxnSpPr>
          <p:nvPr userDrawn="1"/>
        </p:nvCxnSpPr>
        <p:spPr bwMode="auto">
          <a:xfrm>
            <a:off x="228600" y="2566988"/>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06980A7-369F-8B4C-8947-FB084B5C4D98}"/>
              </a:ext>
            </a:extLst>
          </p:cNvPr>
          <p:cNvCxnSpPr>
            <a:cxnSpLocks/>
          </p:cNvCxnSpPr>
          <p:nvPr userDrawn="1"/>
        </p:nvCxnSpPr>
        <p:spPr bwMode="auto">
          <a:xfrm>
            <a:off x="4792362" y="2566988"/>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255AABD-2874-C04C-A3C5-21D11C371163}"/>
              </a:ext>
            </a:extLst>
          </p:cNvPr>
          <p:cNvCxnSpPr>
            <a:cxnSpLocks/>
          </p:cNvCxnSpPr>
          <p:nvPr userDrawn="1"/>
        </p:nvCxnSpPr>
        <p:spPr bwMode="auto">
          <a:xfrm flipV="1">
            <a:off x="6855768" y="234951"/>
            <a:ext cx="0" cy="211690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327739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0"/>
            <a:ext cx="9144000" cy="2569463"/>
          </a:xfrm>
          <a:noFill/>
        </p:spPr>
        <p:txBody>
          <a:bodyPr lIns="182880" tIns="164592" rIns="228600" bIns="228600"/>
          <a:lstStyle>
            <a:lvl1pPr>
              <a:defRPr sz="4800">
                <a:solidFill>
                  <a:schemeClr val="tx1"/>
                </a:solidFill>
              </a:defRPr>
            </a:lvl1pPr>
          </a:lstStyle>
          <a:p>
            <a:r>
              <a:rPr lang="en-US"/>
              <a:t>Click to edit Master title style</a:t>
            </a:r>
            <a:endParaRPr lang="en-US" dirty="0"/>
          </a:p>
        </p:txBody>
      </p:sp>
      <p:sp>
        <p:nvSpPr>
          <p:cNvPr id="13" name="Content Placeholder 1"/>
          <p:cNvSpPr>
            <a:spLocks noGrp="1"/>
          </p:cNvSpPr>
          <p:nvPr>
            <p:ph sz="quarter" idx="20"/>
          </p:nvPr>
        </p:nvSpPr>
        <p:spPr>
          <a:xfrm>
            <a:off x="0" y="2570163"/>
            <a:ext cx="2286000" cy="2573337"/>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2" name="Content Placeholder 2"/>
          <p:cNvSpPr>
            <a:spLocks noGrp="1"/>
          </p:cNvSpPr>
          <p:nvPr>
            <p:ph sz="quarter" idx="19"/>
          </p:nvPr>
        </p:nvSpPr>
        <p:spPr>
          <a:xfrm>
            <a:off x="2286001" y="2570163"/>
            <a:ext cx="2286000" cy="257333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9" name="Content Placeholder 3"/>
          <p:cNvSpPr>
            <a:spLocks noGrp="1"/>
          </p:cNvSpPr>
          <p:nvPr>
            <p:ph sz="quarter" idx="17"/>
          </p:nvPr>
        </p:nvSpPr>
        <p:spPr>
          <a:xfrm>
            <a:off x="4572000" y="2570162"/>
            <a:ext cx="2286000" cy="257333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0" name="Content Placeholder 4"/>
          <p:cNvSpPr>
            <a:spLocks noGrp="1"/>
          </p:cNvSpPr>
          <p:nvPr>
            <p:ph sz="quarter" idx="18"/>
          </p:nvPr>
        </p:nvSpPr>
        <p:spPr>
          <a:xfrm>
            <a:off x="6858000" y="2570162"/>
            <a:ext cx="2286000" cy="257333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5" name="Straight Connector 14">
            <a:extLst>
              <a:ext uri="{FF2B5EF4-FFF2-40B4-BE49-F238E27FC236}">
                <a16:creationId xmlns:a16="http://schemas.microsoft.com/office/drawing/2014/main" id="{38320A1C-9D4D-2642-8A60-4D7502759E0A}"/>
              </a:ext>
            </a:extLst>
          </p:cNvPr>
          <p:cNvCxnSpPr>
            <a:cxnSpLocks/>
          </p:cNvCxnSpPr>
          <p:nvPr userDrawn="1"/>
        </p:nvCxnSpPr>
        <p:spPr bwMode="auto">
          <a:xfrm flipV="1">
            <a:off x="2286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551D6F0D-CE7A-AD49-AE36-D798DDFEB592}"/>
              </a:ext>
            </a:extLst>
          </p:cNvPr>
          <p:cNvCxnSpPr>
            <a:cxnSpLocks/>
          </p:cNvCxnSpPr>
          <p:nvPr userDrawn="1"/>
        </p:nvCxnSpPr>
        <p:spPr bwMode="auto">
          <a:xfrm flipV="1">
            <a:off x="4572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E4FA535-4023-394A-90AB-A2087397CBB3}"/>
              </a:ext>
            </a:extLst>
          </p:cNvPr>
          <p:cNvCxnSpPr>
            <a:cxnSpLocks/>
          </p:cNvCxnSpPr>
          <p:nvPr userDrawn="1"/>
        </p:nvCxnSpPr>
        <p:spPr bwMode="auto">
          <a:xfrm flipV="1">
            <a:off x="6858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7EB495F-72F9-774E-A3C3-3B24D9E37D7D}"/>
              </a:ext>
            </a:extLst>
          </p:cNvPr>
          <p:cNvCxnSpPr/>
          <p:nvPr userDrawn="1"/>
        </p:nvCxnSpPr>
        <p:spPr bwMode="auto">
          <a:xfrm>
            <a:off x="228600" y="2571750"/>
            <a:ext cx="8686800"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138155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gray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0"/>
            <a:ext cx="9144000" cy="1276350"/>
          </a:xfrm>
          <a:solidFill>
            <a:schemeClr val="tx2"/>
          </a:solid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Picture Placeholder"/>
          <p:cNvSpPr>
            <a:spLocks noGrp="1"/>
          </p:cNvSpPr>
          <p:nvPr>
            <p:ph type="pic" sz="quarter" idx="12"/>
          </p:nvPr>
        </p:nvSpPr>
        <p:spPr>
          <a:xfrm>
            <a:off x="0" y="1276350"/>
            <a:ext cx="9144000" cy="386715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924250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gray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9144000" cy="5148072"/>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6" name="Text Placeholder"/>
          <p:cNvSpPr>
            <a:spLocks noGrp="1"/>
          </p:cNvSpPr>
          <p:nvPr>
            <p:ph type="body" sz="quarter" idx="12"/>
          </p:nvPr>
        </p:nvSpPr>
        <p:spPr>
          <a:xfrm>
            <a:off x="-3" y="2571750"/>
            <a:ext cx="2286003" cy="2571750"/>
          </a:xfrm>
          <a:solidFill>
            <a:schemeClr val="tx2"/>
          </a:solidFill>
        </p:spPr>
        <p:txBody>
          <a:bodyPr lIns="219456" tIns="201168" rIns="228600" bIns="228600"/>
          <a:lstStyle>
            <a:lvl1pPr>
              <a:buClr>
                <a:srgbClr val="001141"/>
              </a:buClr>
              <a:defRPr>
                <a:solidFill>
                  <a:schemeClr val="tx1"/>
                </a:solidFill>
              </a:defRPr>
            </a:lvl1pPr>
            <a:lvl2pPr>
              <a:buClr>
                <a:srgbClr val="001141"/>
              </a:buClr>
              <a:defRPr sz="1000">
                <a:solidFill>
                  <a:schemeClr val="tx1"/>
                </a:solidFill>
              </a:defRPr>
            </a:lvl2pPr>
            <a:lvl3pPr>
              <a:buClr>
                <a:srgbClr val="001141"/>
              </a:buClr>
              <a:defRPr sz="1000">
                <a:solidFill>
                  <a:schemeClr val="tx1"/>
                </a:solidFill>
              </a:defRPr>
            </a:lvl3pPr>
            <a:lvl4pPr>
              <a:buClr>
                <a:srgbClr val="001141"/>
              </a:buClr>
              <a:defRPr sz="1000">
                <a:solidFill>
                  <a:schemeClr val="tx1"/>
                </a:solidFill>
              </a:defRPr>
            </a:lvl4pPr>
            <a:lvl5pPr>
              <a:buClr>
                <a:srgbClr val="001141"/>
              </a:buCl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9318794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sz="quarter" idx="13"/>
          </p:nvPr>
        </p:nvSpPr>
        <p:spPr>
          <a:xfrm>
            <a:off x="2286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14"/>
          </p:nvPr>
        </p:nvSpPr>
        <p:spPr>
          <a:xfrm>
            <a:off x="4572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4"/>
          <p:cNvSpPr>
            <a:spLocks noGrp="1"/>
          </p:cNvSpPr>
          <p:nvPr>
            <p:ph sz="quarter" idx="15"/>
          </p:nvPr>
        </p:nvSpPr>
        <p:spPr>
          <a:xfrm>
            <a:off x="6858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8" name="Straight Connector 7">
            <a:extLst>
              <a:ext uri="{FF2B5EF4-FFF2-40B4-BE49-F238E27FC236}">
                <a16:creationId xmlns:a16="http://schemas.microsoft.com/office/drawing/2014/main" id="{1C2E18FC-E432-1E42-B894-602F7E42F9FA}"/>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675E39C-0AE8-5A49-B52F-35BB80D2B041}"/>
              </a:ext>
            </a:extLst>
          </p:cNvPr>
          <p:cNvCxnSpPr/>
          <p:nvPr userDrawn="1"/>
        </p:nvCxnSpPr>
        <p:spPr bwMode="auto">
          <a:xfrm flipV="1">
            <a:off x="2283769"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5A7AC78C-6E13-604B-BABB-F3F41F933F3B}"/>
              </a:ext>
            </a:extLst>
          </p:cNvPr>
          <p:cNvCxnSpPr/>
          <p:nvPr userDrawn="1"/>
        </p:nvCxnSpPr>
        <p:spPr bwMode="auto">
          <a:xfrm flipV="1">
            <a:off x="6855769"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864260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p:cNvSpPr>
            <a:spLocks noGrp="1"/>
          </p:cNvSpPr>
          <p:nvPr>
            <p:ph sz="quarter" idx="13"/>
          </p:nvPr>
        </p:nvSpPr>
        <p:spPr>
          <a:xfrm>
            <a:off x="2514600" y="1243584"/>
            <a:ext cx="6400800"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0360591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text (1/4), blank (3/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p>
        </p:txBody>
      </p:sp>
      <p:sp>
        <p:nvSpPr>
          <p:cNvPr id="6" name="Text Placeholder"/>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89881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5"/>
          </p:nvPr>
        </p:nvSpPr>
        <p:spPr>
          <a:xfrm>
            <a:off x="2505456" y="1259626"/>
            <a:ext cx="1837944" cy="3252216"/>
          </a:xfrm>
        </p:spPr>
        <p:txBody>
          <a:bodyPr/>
          <a:lstStyle>
            <a:lvl1pPr>
              <a:spcBef>
                <a:spcPts val="300"/>
              </a:spcBef>
              <a:defRPr sz="1400">
                <a:solidFill>
                  <a:schemeClr val="tx1"/>
                </a:solidFill>
              </a:defRPr>
            </a:lvl1pPr>
            <a:lvl2pPr>
              <a:spcBef>
                <a:spcPts val="1100"/>
              </a:spcBef>
              <a:defRPr sz="1400">
                <a:solidFill>
                  <a:schemeClr val="tx1"/>
                </a:solidFill>
              </a:defRPr>
            </a:lvl2pPr>
            <a:lvl3pPr>
              <a:spcBef>
                <a:spcPts val="1100"/>
              </a:spcBef>
              <a:defRPr sz="1400">
                <a:solidFill>
                  <a:schemeClr val="tx1"/>
                </a:solidFill>
              </a:defRPr>
            </a:lvl3pPr>
            <a:lvl4pPr>
              <a:spcBef>
                <a:spcPts val="1100"/>
              </a:spcBef>
              <a:defRPr sz="1400">
                <a:solidFill>
                  <a:schemeClr val="tx1"/>
                </a:solidFill>
              </a:defRPr>
            </a:lvl4pPr>
            <a:lvl5pPr>
              <a:spcBef>
                <a:spcPts val="110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64527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se study 2: title, text (2/4), quote (2/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p>
        </p:txBody>
      </p:sp>
      <p:sp>
        <p:nvSpPr>
          <p:cNvPr id="6" name="Text Placeholder 1"/>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505456" y="1262634"/>
            <a:ext cx="1837944" cy="3252216"/>
          </a:xfrm>
        </p:spPr>
        <p:txBody>
          <a:bodyPr/>
          <a:lstStyle>
            <a:lvl1pPr>
              <a:spcBef>
                <a:spcPts val="300"/>
              </a:spcBef>
              <a:defRPr sz="1000">
                <a:solidFill>
                  <a:schemeClr val="tx1"/>
                </a:solidFill>
              </a:defRPr>
            </a:lvl1pPr>
            <a:lvl2pPr>
              <a:spcBef>
                <a:spcPts val="300"/>
              </a:spcBef>
              <a:defRPr sz="1000">
                <a:solidFill>
                  <a:schemeClr val="tx1"/>
                </a:solidFill>
              </a:defRPr>
            </a:lvl2pPr>
            <a:lvl3pPr>
              <a:spcBef>
                <a:spcPts val="300"/>
              </a:spcBef>
              <a:defRPr sz="1000">
                <a:solidFill>
                  <a:schemeClr val="tx1"/>
                </a:solidFill>
              </a:defRPr>
            </a:lvl3pPr>
            <a:lvl4pPr>
              <a:spcBef>
                <a:spcPts val="300"/>
              </a:spcBef>
              <a:defRPr sz="1000">
                <a:solidFill>
                  <a:schemeClr val="tx1"/>
                </a:solidFill>
              </a:defRPr>
            </a:lvl4pPr>
            <a:lvl5pPr>
              <a:spcBef>
                <a:spcPts val="300"/>
              </a:spcBef>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773168" y="1216152"/>
            <a:ext cx="4142232" cy="3279648"/>
          </a:xfrm>
        </p:spPr>
        <p:txBody>
          <a:bodyPr/>
          <a:lstStyle>
            <a:lvl1pPr>
              <a:defRPr sz="2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6094675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219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p:cNvSpPr>
            <a:spLocks noGrp="1"/>
          </p:cNvSpPr>
          <p:nvPr>
            <p:ph type="tbl" sz="quarter" idx="13"/>
          </p:nvPr>
        </p:nvSpPr>
        <p:spPr>
          <a:xfrm>
            <a:off x="2505457" y="201168"/>
            <a:ext cx="6409876" cy="4294632"/>
          </a:xfrm>
        </p:spPr>
        <p:txBody>
          <a:bodyPr lIns="0" tIns="0" rIns="91440" bIns="91440"/>
          <a:lstStyle>
            <a:lvl1pPr>
              <a:defRPr>
                <a:solidFill>
                  <a:schemeClr val="tx1"/>
                </a:solidFill>
              </a:defRPr>
            </a:lvl1pPr>
          </a:lstStyle>
          <a:p>
            <a:r>
              <a:rPr lang="en-US"/>
              <a:t>Click icon to add table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1107208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369024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7917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61872"/>
            <a:ext cx="4123944" cy="1309878"/>
          </a:xfrm>
        </p:spPr>
        <p:txBody>
          <a:bodyPr/>
          <a:lstStyle>
            <a:lvl1pPr>
              <a:spcBef>
                <a:spcPts val="0"/>
              </a:spcBef>
              <a:defRPr sz="1000">
                <a:solidFill>
                  <a:schemeClr val="tx1"/>
                </a:solidFill>
              </a:defRPr>
            </a:lvl1pPr>
            <a:lvl2pPr marL="0" indent="0">
              <a:spcBef>
                <a:spcPts val="0"/>
              </a:spcBef>
              <a:buNone/>
              <a:defRPr/>
            </a:lvl2pPr>
            <a:lvl3pPr marL="201615" indent="0">
              <a:buNone/>
              <a:defRPr/>
            </a:lvl3pPr>
            <a:lvl4pPr marL="434981" indent="0">
              <a:buNone/>
              <a:defRPr/>
            </a:lvl4pPr>
            <a:lvl5pPr marL="631833" indent="0">
              <a:buNone/>
              <a:defRPr/>
            </a:lvl5pPr>
          </a:lstStyle>
          <a:p>
            <a:pPr lvl="0"/>
            <a:r>
              <a:rPr lang="en-US"/>
              <a:t>Click to edit Master text styles</a:t>
            </a:r>
          </a:p>
        </p:txBody>
      </p:sp>
      <p:sp>
        <p:nvSpPr>
          <p:cNvPr id="6" name="Text Placeholder 2">
            <a:extLst>
              <a:ext uri="{FF2B5EF4-FFF2-40B4-BE49-F238E27FC236}">
                <a16:creationId xmlns:a16="http://schemas.microsoft.com/office/drawing/2014/main" id="{11C6F2CA-B8B6-BF4F-8900-E2319DA9DD35}"/>
              </a:ext>
            </a:extLst>
          </p:cNvPr>
          <p:cNvSpPr>
            <a:spLocks noGrp="1"/>
          </p:cNvSpPr>
          <p:nvPr>
            <p:ph type="body" sz="quarter" idx="14"/>
          </p:nvPr>
        </p:nvSpPr>
        <p:spPr>
          <a:xfrm>
            <a:off x="219456" y="3209544"/>
            <a:ext cx="6409944" cy="1307592"/>
          </a:xfrm>
        </p:spPr>
        <p:txBody>
          <a:bodyPr anchor="b"/>
          <a:lstStyle>
            <a:lvl1pPr>
              <a:spcBef>
                <a:spcPts val="300"/>
              </a:spcBef>
              <a:defRPr sz="600">
                <a:solidFill>
                  <a:schemeClr val="tx1"/>
                </a:solidFill>
              </a:defRPr>
            </a:lvl1pPr>
            <a:lvl2pPr>
              <a:defRPr sz="600"/>
            </a:lvl2pPr>
            <a:lvl3pPr>
              <a:defRPr sz="600"/>
            </a:lvl3pPr>
            <a:lvl4pPr>
              <a:defRPr sz="600"/>
            </a:lvl4pPr>
            <a:lvl5pPr>
              <a:defRPr sz="600"/>
            </a:lvl5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8448213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nimated Rebus sign-off (red4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E30253-DA74-3E44-9BC6-8B5C1DD668E3}"/>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8639723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nimated Rebus sign-off (yellow2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EEBA7C-F498-524A-9427-6358C4846A4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86379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nimated Rebus sign-off (red2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F54E53-3A23-9A4B-B6FC-E1BD369164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9391213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nimated Rebus sign-off (teal4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C727A0-1A17-074E-8354-E327AC2DBC6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7095178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nimated Rebus sign-off (grey2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835D96-8926-B845-B252-0835183F2183}"/>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368959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ic Rebus sign-off (red40)">
    <p:bg>
      <p:bgPr>
        <a:solidFill>
          <a:srgbClr val="FF838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12183733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ic Rebus sign-off (yellow20)">
    <p:bg>
      <p:bgPr>
        <a:solidFill>
          <a:srgbClr val="FDDC6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28939513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ic Rebus sign-off (red20)">
    <p:bg>
      <p:bgPr>
        <a:solidFill>
          <a:srgbClr val="FFD7D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353159848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tatic Rebus sign-off (teal40)">
    <p:bg>
      <p:bgPr>
        <a:solidFill>
          <a:srgbClr val="08BDBA"/>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22389858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bm sign-off (blue60)">
    <p:spTree>
      <p:nvGrpSpPr>
        <p:cNvPr id="1" name=""/>
        <p:cNvGrpSpPr/>
        <p:nvPr/>
      </p:nvGrpSpPr>
      <p:grpSpPr>
        <a:xfrm>
          <a:off x="0" y="0"/>
          <a:ext cx="0" cy="0"/>
          <a:chOff x="0" y="0"/>
          <a:chExt cx="0" cy="0"/>
        </a:xfrm>
      </p:grpSpPr>
      <p:pic>
        <p:nvPicPr>
          <p:cNvPr id="4" name="Picture">
            <a:extLst>
              <a:ext uri="{FF2B5EF4-FFF2-40B4-BE49-F238E27FC236}">
                <a16:creationId xmlns:a16="http://schemas.microsoft.com/office/drawing/2014/main" id="{934B3B19-0C45-9541-83FA-EE9B1AA972B5}"/>
              </a:ext>
            </a:extLst>
          </p:cNvPr>
          <p:cNvPicPr>
            <a:picLocks noChangeAspect="1"/>
          </p:cNvPicPr>
          <p:nvPr userDrawn="1"/>
        </p:nvPicPr>
        <p:blipFill>
          <a:blip r:embed="rId2"/>
          <a:srcRect/>
          <a:stretch/>
        </p:blipFill>
        <p:spPr>
          <a:xfrm>
            <a:off x="3923198" y="2312885"/>
            <a:ext cx="1297604" cy="517731"/>
          </a:xfrm>
          <a:prstGeom prst="rect">
            <a:avLst/>
          </a:prstGeom>
        </p:spPr>
      </p:pic>
    </p:spTree>
    <p:extLst>
      <p:ext uri="{BB962C8B-B14F-4D97-AF65-F5344CB8AC3E}">
        <p14:creationId xmlns:p14="http://schemas.microsoft.com/office/powerpoint/2010/main" val="3566619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bm sign-off (blue80)">
    <p:bg>
      <p:bgPr>
        <a:solidFill>
          <a:srgbClr val="BAE6FF"/>
        </a:solidFill>
        <a:effectLst/>
      </p:bgPr>
    </p:bg>
    <p:spTree>
      <p:nvGrpSpPr>
        <p:cNvPr id="1" name=""/>
        <p:cNvGrpSpPr/>
        <p:nvPr/>
      </p:nvGrpSpPr>
      <p:grpSpPr>
        <a:xfrm>
          <a:off x="0" y="0"/>
          <a:ext cx="0" cy="0"/>
          <a:chOff x="0" y="0"/>
          <a:chExt cx="0" cy="0"/>
        </a:xfrm>
      </p:grpSpPr>
      <p:pic>
        <p:nvPicPr>
          <p:cNvPr id="3" name="Picture">
            <a:extLst>
              <a:ext uri="{FF2B5EF4-FFF2-40B4-BE49-F238E27FC236}">
                <a16:creationId xmlns:a16="http://schemas.microsoft.com/office/drawing/2014/main" id="{4A23D73C-34B1-FF44-9B5A-0AD4D78DA0C8}"/>
              </a:ext>
            </a:extLst>
          </p:cNvPr>
          <p:cNvPicPr>
            <a:picLocks noChangeAspect="1"/>
          </p:cNvPicPr>
          <p:nvPr userDrawn="1"/>
        </p:nvPicPr>
        <p:blipFill>
          <a:blip r:embed="rId2"/>
          <a:srcRect/>
          <a:stretch/>
        </p:blipFill>
        <p:spPr>
          <a:xfrm>
            <a:off x="3923198" y="2312885"/>
            <a:ext cx="1297604" cy="517731"/>
          </a:xfrm>
          <a:prstGeom prst="rect">
            <a:avLst/>
          </a:prstGeom>
        </p:spPr>
      </p:pic>
    </p:spTree>
    <p:extLst>
      <p:ext uri="{BB962C8B-B14F-4D97-AF65-F5344CB8AC3E}">
        <p14:creationId xmlns:p14="http://schemas.microsoft.com/office/powerpoint/2010/main" val="4554014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bm sign-off (black)">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3923197" y="2312884"/>
            <a:ext cx="1297606" cy="517732"/>
          </a:xfrm>
          <a:prstGeom prst="rect">
            <a:avLst/>
          </a:prstGeom>
        </p:spPr>
      </p:pic>
    </p:spTree>
    <p:extLst>
      <p:ext uri="{BB962C8B-B14F-4D97-AF65-F5344CB8AC3E}">
        <p14:creationId xmlns:p14="http://schemas.microsoft.com/office/powerpoint/2010/main" val="1218931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Static Rebus sign-off (grey20)">
    <p:bg>
      <p:bgPr>
        <a:solidFill>
          <a:srgbClr val="E0E0E0"/>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12698032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210312" y="201168"/>
            <a:ext cx="4142232" cy="4294632"/>
          </a:xfrm>
          <a:prstGeom prst="rect">
            <a:avLst/>
          </a:prstGeom>
        </p:spPr>
        <p:txBody>
          <a:bodyPr vert="horz" lIns="0" tIns="0" rIns="0" bIns="0" rtlCol="0" anchor="t">
            <a:noAutofit/>
          </a:bodyPr>
          <a:lstStyle/>
          <a:p>
            <a:r>
              <a:rPr lang="en-US"/>
              <a:t>Click to edit Master title style</a:t>
            </a:r>
            <a:endParaRPr lang="en-US" dirty="0"/>
          </a:p>
        </p:txBody>
      </p:sp>
      <p:sp>
        <p:nvSpPr>
          <p:cNvPr id="5" name="Text Placeholder"/>
          <p:cNvSpPr>
            <a:spLocks noGrp="1"/>
          </p:cNvSpPr>
          <p:nvPr>
            <p:ph type="body" idx="1"/>
          </p:nvPr>
        </p:nvSpPr>
        <p:spPr>
          <a:xfrm>
            <a:off x="4791456" y="201168"/>
            <a:ext cx="4123944" cy="429463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p:cNvSpPr>
            <a:spLocks noGrp="1"/>
          </p:cNvSpPr>
          <p:nvPr>
            <p:ph type="ftr" sz="quarter" idx="3"/>
          </p:nvPr>
        </p:nvSpPr>
        <p:spPr>
          <a:xfrm>
            <a:off x="228666" y="4800600"/>
            <a:ext cx="4114735" cy="166687"/>
          </a:xfrm>
          <a:prstGeom prst="rect">
            <a:avLst/>
          </a:prstGeom>
        </p:spPr>
        <p:txBody>
          <a:bodyPr vert="horz" lIns="0" tIns="0" rIns="0" bIns="0" rtlCol="0" anchor="ctr"/>
          <a:lstStyle>
            <a:lvl1pPr marL="0" marR="0" indent="0" algn="l" defTabSz="685992" rtl="0" eaLnBrk="1" fontAlgn="auto" latinLnBrk="0" hangingPunct="1">
              <a:lnSpc>
                <a:spcPct val="100000"/>
              </a:lnSpc>
              <a:spcBef>
                <a:spcPts val="0"/>
              </a:spcBef>
              <a:spcAft>
                <a:spcPts val="0"/>
              </a:spcAft>
              <a:buClrTx/>
              <a:buSzTx/>
              <a:buFontTx/>
              <a:buNone/>
              <a:tabLst/>
              <a:defRPr sz="600" b="0" i="0">
                <a:solidFill>
                  <a:schemeClr val="tx1"/>
                </a:solidFill>
                <a:latin typeface="Arial" panose="020B0604020202020204" pitchFamily="34" charset="0"/>
              </a:defRPr>
            </a:lvl1pPr>
          </a:lstStyle>
          <a:p>
            <a:r>
              <a:rPr lang="en-US"/>
              <a:t>IBM Consulting / DOC ID / Month XX, 2022 / © 2022 IBM Corporation</a:t>
            </a:r>
            <a:endParaRPr lang="en-US" dirty="0"/>
          </a:p>
        </p:txBody>
      </p:sp>
      <p:sp>
        <p:nvSpPr>
          <p:cNvPr id="8" name="Slide Number Placeholder"/>
          <p:cNvSpPr>
            <a:spLocks noGrp="1"/>
          </p:cNvSpPr>
          <p:nvPr>
            <p:ph type="sldNum" sz="quarter" idx="4"/>
          </p:nvPr>
        </p:nvSpPr>
        <p:spPr>
          <a:xfrm>
            <a:off x="7086601" y="4800600"/>
            <a:ext cx="1828732" cy="166687"/>
          </a:xfrm>
          <a:prstGeom prst="rect">
            <a:avLst/>
          </a:prstGeom>
        </p:spPr>
        <p:txBody>
          <a:bodyPr vert="horz" lIns="0" tIns="0" rIns="0" bIns="0" rtlCol="0" anchor="ctr"/>
          <a:lstStyle>
            <a:lvl1pPr algn="r">
              <a:defRPr sz="600" b="0" i="0">
                <a:solidFill>
                  <a:schemeClr val="tx1"/>
                </a:solidFill>
                <a:latin typeface="Arial" panose="020B0604020202020204" pitchFamily="34" charset="0"/>
              </a:defRPr>
            </a:lvl1pPr>
          </a:lstStyle>
          <a:p>
            <a:fld id="{59395FB3-9C97-154F-86B2-7E381B951268}" type="slidenum">
              <a:rPr lang="en-US" smtClean="0"/>
              <a:pPr/>
              <a:t>‹#›</a:t>
            </a:fld>
            <a:endParaRPr lang="en-US" dirty="0"/>
          </a:p>
        </p:txBody>
      </p:sp>
      <p:grpSp>
        <p:nvGrpSpPr>
          <p:cNvPr id="3" name="Group 2">
            <a:extLst>
              <a:ext uri="{FF2B5EF4-FFF2-40B4-BE49-F238E27FC236}">
                <a16:creationId xmlns:a16="http://schemas.microsoft.com/office/drawing/2014/main" id="{720BB8D8-C46D-7A4B-97AF-798F102BA8D4}"/>
              </a:ext>
            </a:extLst>
          </p:cNvPr>
          <p:cNvGrpSpPr/>
          <p:nvPr userDrawn="1"/>
        </p:nvGrpSpPr>
        <p:grpSpPr>
          <a:xfrm>
            <a:off x="-109730" y="-110490"/>
            <a:ext cx="9364220" cy="5364480"/>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28219"/>
              <a:ext cx="91440" cy="4686681"/>
              <a:chOff x="-109730" y="228219"/>
              <a:chExt cx="91440" cy="4686681"/>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745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2821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1490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28219"/>
              <a:ext cx="91440" cy="4685665"/>
              <a:chOff x="-109730" y="221869"/>
              <a:chExt cx="91440" cy="4685665"/>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9110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2186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9075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240078074"/>
      </p:ext>
    </p:extLst>
  </p:cSld>
  <p:clrMap bg1="dk1" tx1="lt1" bg2="dk2" tx2="lt2" accent1="accent1" accent2="accent2" accent3="accent3" accent4="accent4" accent5="accent5" accent6="accent6" hlink="hlink" folHlink="folHlink"/>
  <p:sldLayoutIdLst>
    <p:sldLayoutId id="2147483892" r:id="rId1"/>
    <p:sldLayoutId id="2147483926" r:id="rId2"/>
    <p:sldLayoutId id="2147483935" r:id="rId3"/>
    <p:sldLayoutId id="2147483938" r:id="rId4"/>
    <p:sldLayoutId id="2147483939" r:id="rId5"/>
    <p:sldLayoutId id="2147483893" r:id="rId6"/>
    <p:sldLayoutId id="2147483894" r:id="rId7"/>
    <p:sldLayoutId id="2147483895" r:id="rId8"/>
    <p:sldLayoutId id="2147483896" r:id="rId9"/>
    <p:sldLayoutId id="2147483897" r:id="rId10"/>
    <p:sldLayoutId id="2147483898" r:id="rId11"/>
    <p:sldLayoutId id="2147483899" r:id="rId12"/>
    <p:sldLayoutId id="2147483900" r:id="rId13"/>
    <p:sldLayoutId id="2147483901" r:id="rId14"/>
    <p:sldLayoutId id="2147483902" r:id="rId15"/>
    <p:sldLayoutId id="2147483903" r:id="rId16"/>
    <p:sldLayoutId id="2147483904" r:id="rId17"/>
    <p:sldLayoutId id="2147483905" r:id="rId18"/>
    <p:sldLayoutId id="2147483906" r:id="rId19"/>
    <p:sldLayoutId id="2147483907" r:id="rId20"/>
    <p:sldLayoutId id="2147483908" r:id="rId21"/>
    <p:sldLayoutId id="2147483909" r:id="rId22"/>
    <p:sldLayoutId id="2147483910" r:id="rId23"/>
    <p:sldLayoutId id="2147483911" r:id="rId24"/>
    <p:sldLayoutId id="2147483912" r:id="rId25"/>
    <p:sldLayoutId id="2147483913" r:id="rId26"/>
    <p:sldLayoutId id="2147483914" r:id="rId27"/>
    <p:sldLayoutId id="2147483915" r:id="rId28"/>
    <p:sldLayoutId id="2147483916" r:id="rId29"/>
    <p:sldLayoutId id="2147483917" r:id="rId30"/>
    <p:sldLayoutId id="2147483918" r:id="rId31"/>
    <p:sldLayoutId id="2147483919" r:id="rId32"/>
    <p:sldLayoutId id="2147483920" r:id="rId33"/>
    <p:sldLayoutId id="2147483921" r:id="rId34"/>
    <p:sldLayoutId id="2147483922" r:id="rId35"/>
    <p:sldLayoutId id="2147483941" r:id="rId36"/>
    <p:sldLayoutId id="2147483942" r:id="rId37"/>
    <p:sldLayoutId id="2147483943" r:id="rId38"/>
    <p:sldLayoutId id="2147483944" r:id="rId39"/>
    <p:sldLayoutId id="2147483945" r:id="rId40"/>
    <p:sldLayoutId id="2147483946" r:id="rId41"/>
    <p:sldLayoutId id="2147483947" r:id="rId42"/>
    <p:sldLayoutId id="2147483948" r:id="rId43"/>
    <p:sldLayoutId id="2147483949" r:id="rId44"/>
    <p:sldLayoutId id="2147483933" r:id="rId45"/>
    <p:sldLayoutId id="2147483934" r:id="rId46"/>
    <p:sldLayoutId id="2147483923" r:id="rId47"/>
    <p:sldLayoutId id="2147483950" r:id="rId48"/>
  </p:sldLayoutIdLst>
  <p:hf hdr="0" dt="0"/>
  <p:txStyles>
    <p:titleStyle>
      <a:lvl1pPr algn="l" rtl="0" eaLnBrk="1" fontAlgn="base" hangingPunct="1">
        <a:lnSpc>
          <a:spcPct val="90000"/>
        </a:lnSpc>
        <a:spcBef>
          <a:spcPct val="0"/>
        </a:spcBef>
        <a:spcAft>
          <a:spcPct val="0"/>
        </a:spcAft>
        <a:defRPr sz="2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algn="l" rtl="0" eaLnBrk="1" fontAlgn="base" hangingPunct="1">
        <a:lnSpc>
          <a:spcPct val="90000"/>
        </a:lnSpc>
        <a:spcBef>
          <a:spcPct val="0"/>
        </a:spcBef>
        <a:spcAft>
          <a:spcPct val="0"/>
        </a:spcAft>
        <a:defRPr sz="2220">
          <a:solidFill>
            <a:srgbClr val="191919"/>
          </a:solidFill>
          <a:latin typeface="IBM Plex Sans Light" pitchFamily="34" charset="0"/>
        </a:defRPr>
      </a:lvl2pPr>
      <a:lvl3pPr algn="l" rtl="0" eaLnBrk="1" fontAlgn="base" hangingPunct="1">
        <a:lnSpc>
          <a:spcPct val="90000"/>
        </a:lnSpc>
        <a:spcBef>
          <a:spcPct val="0"/>
        </a:spcBef>
        <a:spcAft>
          <a:spcPct val="0"/>
        </a:spcAft>
        <a:defRPr sz="2220">
          <a:solidFill>
            <a:srgbClr val="191919"/>
          </a:solidFill>
          <a:latin typeface="IBM Plex Sans Light" pitchFamily="34" charset="0"/>
        </a:defRPr>
      </a:lvl3pPr>
      <a:lvl4pPr algn="l" rtl="0" eaLnBrk="1" fontAlgn="base" hangingPunct="1">
        <a:lnSpc>
          <a:spcPct val="90000"/>
        </a:lnSpc>
        <a:spcBef>
          <a:spcPct val="0"/>
        </a:spcBef>
        <a:spcAft>
          <a:spcPct val="0"/>
        </a:spcAft>
        <a:defRPr sz="2220">
          <a:solidFill>
            <a:srgbClr val="191919"/>
          </a:solidFill>
          <a:latin typeface="IBM Plex Sans Light" pitchFamily="34" charset="0"/>
        </a:defRPr>
      </a:lvl4pPr>
      <a:lvl5pPr algn="l" rtl="0" eaLnBrk="1" fontAlgn="base" hangingPunct="1">
        <a:lnSpc>
          <a:spcPct val="90000"/>
        </a:lnSpc>
        <a:spcBef>
          <a:spcPct val="0"/>
        </a:spcBef>
        <a:spcAft>
          <a:spcPct val="0"/>
        </a:spcAft>
        <a:defRPr sz="2220">
          <a:solidFill>
            <a:srgbClr val="191919"/>
          </a:solidFill>
          <a:latin typeface="IBM Plex Sans Light" pitchFamily="34" charset="0"/>
        </a:defRPr>
      </a:lvl5pPr>
      <a:lvl6pPr marL="362568" algn="l" rtl="0" eaLnBrk="1" fontAlgn="base" hangingPunct="1">
        <a:lnSpc>
          <a:spcPct val="90000"/>
        </a:lnSpc>
        <a:spcBef>
          <a:spcPct val="0"/>
        </a:spcBef>
        <a:spcAft>
          <a:spcPct val="0"/>
        </a:spcAft>
        <a:defRPr sz="2220">
          <a:solidFill>
            <a:srgbClr val="191919"/>
          </a:solidFill>
          <a:latin typeface="IBM Plex Sans Light" pitchFamily="34" charset="0"/>
        </a:defRPr>
      </a:lvl6pPr>
      <a:lvl7pPr marL="725139" algn="l" rtl="0" eaLnBrk="1" fontAlgn="base" hangingPunct="1">
        <a:lnSpc>
          <a:spcPct val="90000"/>
        </a:lnSpc>
        <a:spcBef>
          <a:spcPct val="0"/>
        </a:spcBef>
        <a:spcAft>
          <a:spcPct val="0"/>
        </a:spcAft>
        <a:defRPr sz="2220">
          <a:solidFill>
            <a:srgbClr val="191919"/>
          </a:solidFill>
          <a:latin typeface="IBM Plex Sans Light" pitchFamily="34" charset="0"/>
        </a:defRPr>
      </a:lvl7pPr>
      <a:lvl8pPr marL="1087707" algn="l" rtl="0" eaLnBrk="1" fontAlgn="base" hangingPunct="1">
        <a:lnSpc>
          <a:spcPct val="90000"/>
        </a:lnSpc>
        <a:spcBef>
          <a:spcPct val="0"/>
        </a:spcBef>
        <a:spcAft>
          <a:spcPct val="0"/>
        </a:spcAft>
        <a:defRPr sz="2220">
          <a:solidFill>
            <a:srgbClr val="191919"/>
          </a:solidFill>
          <a:latin typeface="IBM Plex Sans Light" pitchFamily="34" charset="0"/>
        </a:defRPr>
      </a:lvl8pPr>
      <a:lvl9pPr marL="1450276" algn="l" rtl="0" eaLnBrk="1" fontAlgn="base" hangingPunct="1">
        <a:lnSpc>
          <a:spcPct val="90000"/>
        </a:lnSpc>
        <a:spcBef>
          <a:spcPct val="0"/>
        </a:spcBef>
        <a:spcAft>
          <a:spcPct val="0"/>
        </a:spcAft>
        <a:defRPr sz="2220">
          <a:solidFill>
            <a:srgbClr val="191919"/>
          </a:solidFill>
          <a:latin typeface="IBM Plex Sans Light" pitchFamily="34" charset="0"/>
        </a:defRPr>
      </a:lvl9pPr>
    </p:titleStyle>
    <p:bodyStyle>
      <a:lvl1pPr marL="0" indent="0" algn="l" rtl="0" eaLnBrk="1" fontAlgn="base" hangingPunct="1">
        <a:lnSpc>
          <a:spcPct val="100000"/>
        </a:lnSpc>
        <a:spcBef>
          <a:spcPts val="1100"/>
        </a:spcBef>
        <a:spcAft>
          <a:spcPct val="0"/>
        </a:spcAft>
        <a:buClr>
          <a:srgbClr val="001141"/>
        </a:buClr>
        <a:buSzPct val="90000"/>
        <a:buFont typeface="IBM Plex Sans Light" pitchFamily="2" charset="2"/>
        <a:buNone/>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marL="171452"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2pPr>
      <a:lvl3pPr marL="342905" indent="-173736" algn="l" rtl="0" eaLnBrk="1" fontAlgn="base" hangingPunct="1">
        <a:lnSpc>
          <a:spcPct val="100000"/>
        </a:lnSpc>
        <a:spcBef>
          <a:spcPts val="1100"/>
        </a:spcBef>
        <a:spcAft>
          <a:spcPct val="0"/>
        </a:spcAft>
        <a:buClr>
          <a:srgbClr val="001141"/>
        </a:buClr>
        <a:buSzPct val="100000"/>
        <a:buFont typeface="IBM Plex Sans Light" panose="020B0604020202020204" pitchFamily="34" charset="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28658"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baseline="0">
          <a:solidFill>
            <a:schemeClr val="tx1"/>
          </a:solidFill>
          <a:latin typeface="Arial" panose="020B0604020202020204" pitchFamily="34" charset="0"/>
          <a:ea typeface="Arial" panose="020B0604020202020204" pitchFamily="34" charset="0"/>
          <a:cs typeface="Arial" panose="020B0604020202020204" pitchFamily="34" charset="0"/>
        </a:defRPr>
      </a:lvl4pPr>
      <a:lvl5pPr marL="803285" indent="-173736" algn="l" rtl="0" eaLnBrk="1" fontAlgn="base" hangingPunct="1">
        <a:lnSpc>
          <a:spcPct val="100000"/>
        </a:lnSpc>
        <a:spcBef>
          <a:spcPts val="1100"/>
        </a:spcBef>
        <a:spcAft>
          <a:spcPct val="0"/>
        </a:spcAft>
        <a:buClr>
          <a:srgbClr val="001141"/>
        </a:buClr>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9pPr>
    </p:bodyStyle>
    <p:otherStyle>
      <a:defPPr>
        <a:defRPr lang="en-US"/>
      </a:defPPr>
      <a:lvl1pPr marL="0" algn="l" defTabSz="725139" rtl="0" eaLnBrk="1" latinLnBrk="0" hangingPunct="1">
        <a:defRPr sz="1428" kern="1200">
          <a:solidFill>
            <a:schemeClr val="tx1"/>
          </a:solidFill>
          <a:latin typeface="+mn-lt"/>
          <a:ea typeface="+mn-ea"/>
          <a:cs typeface="+mn-cs"/>
        </a:defRPr>
      </a:lvl1pPr>
      <a:lvl2pPr marL="362568" algn="l" defTabSz="725139" rtl="0" eaLnBrk="1" latinLnBrk="0" hangingPunct="1">
        <a:defRPr sz="1428" kern="1200">
          <a:solidFill>
            <a:schemeClr val="tx1"/>
          </a:solidFill>
          <a:latin typeface="+mn-lt"/>
          <a:ea typeface="+mn-ea"/>
          <a:cs typeface="+mn-cs"/>
        </a:defRPr>
      </a:lvl2pPr>
      <a:lvl3pPr marL="725139" algn="l" defTabSz="725139" rtl="0" eaLnBrk="1" latinLnBrk="0" hangingPunct="1">
        <a:defRPr sz="1428" kern="1200">
          <a:solidFill>
            <a:schemeClr val="tx1"/>
          </a:solidFill>
          <a:latin typeface="+mn-lt"/>
          <a:ea typeface="+mn-ea"/>
          <a:cs typeface="+mn-cs"/>
        </a:defRPr>
      </a:lvl3pPr>
      <a:lvl4pPr marL="1087707" algn="l" defTabSz="725139" rtl="0" eaLnBrk="1" latinLnBrk="0" hangingPunct="1">
        <a:defRPr sz="1428" kern="1200">
          <a:solidFill>
            <a:schemeClr val="tx1"/>
          </a:solidFill>
          <a:latin typeface="+mn-lt"/>
          <a:ea typeface="+mn-ea"/>
          <a:cs typeface="+mn-cs"/>
        </a:defRPr>
      </a:lvl4pPr>
      <a:lvl5pPr marL="1450276" algn="l" defTabSz="725139" rtl="0" eaLnBrk="1" latinLnBrk="0" hangingPunct="1">
        <a:defRPr sz="1428" kern="1200">
          <a:solidFill>
            <a:schemeClr val="tx1"/>
          </a:solidFill>
          <a:latin typeface="+mn-lt"/>
          <a:ea typeface="+mn-ea"/>
          <a:cs typeface="+mn-cs"/>
        </a:defRPr>
      </a:lvl5pPr>
      <a:lvl6pPr marL="1812846" algn="l" defTabSz="725139" rtl="0" eaLnBrk="1" latinLnBrk="0" hangingPunct="1">
        <a:defRPr sz="1428" kern="1200">
          <a:solidFill>
            <a:schemeClr val="tx1"/>
          </a:solidFill>
          <a:latin typeface="+mn-lt"/>
          <a:ea typeface="+mn-ea"/>
          <a:cs typeface="+mn-cs"/>
        </a:defRPr>
      </a:lvl6pPr>
      <a:lvl7pPr marL="2175414" algn="l" defTabSz="725139" rtl="0" eaLnBrk="1" latinLnBrk="0" hangingPunct="1">
        <a:defRPr sz="1428" kern="1200">
          <a:solidFill>
            <a:schemeClr val="tx1"/>
          </a:solidFill>
          <a:latin typeface="+mn-lt"/>
          <a:ea typeface="+mn-ea"/>
          <a:cs typeface="+mn-cs"/>
        </a:defRPr>
      </a:lvl7pPr>
      <a:lvl8pPr marL="2537983" algn="l" defTabSz="725139" rtl="0" eaLnBrk="1" latinLnBrk="0" hangingPunct="1">
        <a:defRPr sz="1428" kern="1200">
          <a:solidFill>
            <a:schemeClr val="tx1"/>
          </a:solidFill>
          <a:latin typeface="+mn-lt"/>
          <a:ea typeface="+mn-ea"/>
          <a:cs typeface="+mn-cs"/>
        </a:defRPr>
      </a:lvl8pPr>
      <a:lvl9pPr marL="2900552" algn="l" defTabSz="725139" rtl="0" eaLnBrk="1" latinLnBrk="0" hangingPunct="1">
        <a:defRPr sz="142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userDrawn="1">
          <p15:clr>
            <a:srgbClr val="F26B43"/>
          </p15:clr>
        </p15:guide>
        <p15:guide id="2" pos="144" userDrawn="1">
          <p15:clr>
            <a:srgbClr val="F26B43"/>
          </p15:clr>
        </p15:guide>
        <p15:guide id="3" pos="5616" userDrawn="1">
          <p15:clr>
            <a:srgbClr val="F26B43"/>
          </p15:clr>
        </p15:guide>
        <p15:guide id="4" orient="horz" pos="2832" userDrawn="1">
          <p15:clr>
            <a:srgbClr val="F26B43"/>
          </p15:clr>
        </p15:guide>
        <p15:guide id="5" orient="horz" pos="3094" userDrawn="1">
          <p15:clr>
            <a:srgbClr val="F26B43"/>
          </p15:clr>
        </p15:guide>
        <p15:guide id="6" pos="2880" userDrawn="1">
          <p15:clr>
            <a:srgbClr val="F26B43"/>
          </p15:clr>
        </p15:guide>
        <p15:guide id="7" pos="2736" userDrawn="1">
          <p15:clr>
            <a:srgbClr val="F26B43"/>
          </p15:clr>
        </p15:guide>
        <p15:guide id="8" pos="1440" userDrawn="1">
          <p15:clr>
            <a:srgbClr val="F26B43"/>
          </p15:clr>
        </p15:guide>
        <p15:guide id="9" pos="3024" userDrawn="1">
          <p15:clr>
            <a:srgbClr val="F26B43"/>
          </p15:clr>
        </p15:guide>
        <p15:guide id="10" pos="1296" userDrawn="1">
          <p15:clr>
            <a:srgbClr val="F26B43"/>
          </p15:clr>
        </p15:guide>
        <p15:guide id="11" pos="1584" userDrawn="1">
          <p15:clr>
            <a:srgbClr val="F26B43"/>
          </p15:clr>
        </p15:guide>
        <p15:guide id="12" pos="4320" userDrawn="1">
          <p15:clr>
            <a:srgbClr val="F26B43"/>
          </p15:clr>
        </p15:guide>
        <p15:guide id="13" pos="4176" userDrawn="1">
          <p15:clr>
            <a:srgbClr val="F26B43"/>
          </p15:clr>
        </p15:guide>
        <p15:guide id="14" pos="4464" userDrawn="1">
          <p15:clr>
            <a:srgbClr val="F26B43"/>
          </p15:clr>
        </p15:guide>
        <p15:guide id="15" orient="horz" pos="412" userDrawn="1">
          <p15:clr>
            <a:srgbClr val="F26B43"/>
          </p15:clr>
        </p15:guide>
        <p15:guide id="17" orient="horz" pos="812" userDrawn="1">
          <p15:clr>
            <a:srgbClr val="F26B43"/>
          </p15:clr>
        </p15:guide>
        <p15:guide id="18" orient="horz" pos="1620" userDrawn="1">
          <p15:clr>
            <a:srgbClr val="F26B43"/>
          </p15:clr>
        </p15:guide>
        <p15:guide id="19" orient="horz" pos="1216" userDrawn="1">
          <p15:clr>
            <a:srgbClr val="F26B43"/>
          </p15:clr>
        </p15:guide>
        <p15:guide id="20" orient="horz" pos="2022" userDrawn="1">
          <p15:clr>
            <a:srgbClr val="F26B43"/>
          </p15:clr>
        </p15:guide>
        <p15:guide id="21" orient="horz" pos="242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NRW DDaT Framework — Initial Proposal</a:t>
            </a:r>
          </a:p>
          <a:p>
            <a:r>
              <a:t>IBM Consulting &amp; Stable — Supplier Response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Text Placeholder 2"/>
          <p:cNvSpPr>
            <a:spLocks noGrp="1"/>
          </p:cNvSpPr>
          <p:nvPr>
            <p:ph type="body" idx="12" sz="quarter"/>
          </p:nvPr>
        </p:nvSpPr>
        <p:spPr/>
        <p:txBody>
          <a:bodyPr/>
          <a:lstStyle/>
          <a:p>
            <a:pPr>
              <a:spcBef>
                <a:spcPts val="400"/>
              </a:spcBef>
              <a:buChar char="•"/>
            </a:pPr>
            <a:r>
              <a:rPr>
                <a:latin typeface="Arial"/>
              </a:rPr>
              <a:t>1. Joint Proposition</a:t>
            </a:r>
          </a:p>
          <a:p>
            <a:pPr>
              <a:spcBef>
                <a:spcPts val="400"/>
              </a:spcBef>
              <a:buChar char="•"/>
            </a:pPr>
            <a:r>
              <a:rPr>
                <a:latin typeface="Arial"/>
              </a:rPr>
              <a:t>2. Customer Capabilities</a:t>
            </a:r>
          </a:p>
          <a:p>
            <a:pPr>
              <a:spcBef>
                <a:spcPts val="400"/>
              </a:spcBef>
              <a:buChar char="•"/>
            </a:pPr>
            <a:r>
              <a:rPr>
                <a:latin typeface="Arial"/>
              </a:rPr>
              <a:t>3. Scenario 1: Customer Platform</a:t>
            </a:r>
          </a:p>
          <a:p>
            <a:pPr>
              <a:spcBef>
                <a:spcPts val="400"/>
              </a:spcBef>
              <a:buChar char="•"/>
            </a:pPr>
            <a:r>
              <a:rPr>
                <a:latin typeface="Arial"/>
              </a:rPr>
              <a:t>4. Scenario 2: Website Innovation</a:t>
            </a:r>
          </a:p>
          <a:p>
            <a:pPr>
              <a:spcBef>
                <a:spcPts val="400"/>
              </a:spcBef>
              <a:buChar char="•"/>
            </a:pPr>
            <a:r>
              <a:rPr>
                <a:latin typeface="Arial"/>
              </a:rPr>
              <a:t>5. Sustainability &amp; Social Value</a:t>
            </a:r>
          </a:p>
          <a:p>
            <a:pPr>
              <a:spcBef>
                <a:spcPts val="400"/>
              </a:spcBef>
              <a:buChar char="•"/>
            </a:pPr>
            <a:r>
              <a:rPr>
                <a:latin typeface="Arial"/>
              </a:rPr>
              <a:t>6. Commercial Approach</a:t>
            </a:r>
          </a:p>
          <a:p>
            <a:pPr>
              <a:spcBef>
                <a:spcPts val="400"/>
              </a:spcBef>
              <a:buChar char="•"/>
            </a:pPr>
            <a:r>
              <a:rPr>
                <a:latin typeface="Arial"/>
              </a:rPr>
              <a:t>7. Close &amp;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1: Our Joint Proposition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IBM and Stable: scale with local expertise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differentiators of our joint delivery model</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NRW needs a blended delivery model</a:t>
            </a:r>
          </a:p>
        </p:txBody>
      </p:sp>
      <p:sp>
        <p:nvSpPr>
          <p:cNvPr id="3" name="Text Placeholder 2"/>
          <p:cNvSpPr>
            <a:spLocks noGrp="1"/>
          </p:cNvSpPr>
          <p:nvPr>
            <p:ph type="body" idx="13" sz="quarter"/>
          </p:nvPr>
        </p:nvSpPr>
        <p:spPr/>
        <p:txBody>
          <a:bodyPr/>
          <a:lstStyle/>
          <a:p>
            <a:pPr>
              <a:spcBef>
                <a:spcPts val="400"/>
              </a:spcBef>
              <a:buChar char="•"/>
            </a:pPr>
            <a:r>
              <a:rPr>
                <a:latin typeface="Arial"/>
              </a:rPr>
              <a:t>Regulated delivery needs structured methods</a:t>
            </a:r>
          </a:p>
          <a:p>
            <a:pPr>
              <a:spcBef>
                <a:spcPts val="400"/>
              </a:spcBef>
              <a:buChar char="•"/>
            </a:pPr>
            <a:r>
              <a:rPr>
                <a:latin typeface="Arial"/>
              </a:rPr>
              <a:t>Multi-stakeholder context requires local engagement</a:t>
            </a:r>
          </a:p>
          <a:p>
            <a:pPr>
              <a:spcBef>
                <a:spcPts val="400"/>
              </a:spcBef>
              <a:buChar char="•"/>
            </a:pPr>
            <a:r>
              <a:rPr>
                <a:latin typeface="Arial"/>
              </a:rPr>
              <a:t>Preserve operational resilience during transformation</a:t>
            </a:r>
          </a:p>
        </p:txBody>
      </p:sp>
      <p:sp>
        <p:nvSpPr>
          <p:cNvPr id="4" name="Text Placeholder 3"/>
          <p:cNvSpPr>
            <a:spLocks noGrp="1"/>
          </p:cNvSpPr>
          <p:nvPr>
            <p:ph type="body" idx="12" sz="quarter"/>
          </p:nvPr>
        </p:nvSpPr>
        <p:spPr/>
        <p:txBody>
          <a:bodyPr/>
          <a:lstStyle/>
          <a:p>
            <a:pPr>
              <a:spcBef>
                <a:spcPts val="400"/>
              </a:spcBef>
              <a:buChar char="•"/>
            </a:pPr>
            <a:r>
              <a:rPr>
                <a:latin typeface="Arial"/>
              </a:rPr>
              <a:t>Capability uplift enables sustainable change</a:t>
            </a:r>
          </a:p>
          <a:p>
            <a:pPr>
              <a:spcBef>
                <a:spcPts val="400"/>
              </a:spcBef>
              <a:buChar char="•"/>
            </a:pPr>
            <a:r>
              <a:rPr>
                <a:latin typeface="Arial"/>
              </a:rPr>
              <a:t>Integrated teams accelerate delivery and reduce risk</a:t>
            </a:r>
          </a:p>
          <a:p>
            <a:pPr>
              <a:spcBef>
                <a:spcPts val="400"/>
              </a:spcBef>
              <a:buChar char="•"/>
            </a:pPr>
            <a:r>
              <a:rPr>
                <a:latin typeface="Arial"/>
              </a:rPr>
              <a:t>Local bilingual expertise meets language requirements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Team Wales — blended delivery model</a:t>
            </a:r>
          </a:p>
        </p:txBody>
      </p:sp>
      <p:sp>
        <p:nvSpPr>
          <p:cNvPr id="3" name="Text Placeholder 2"/>
          <p:cNvSpPr>
            <a:spLocks noGrp="1"/>
          </p:cNvSpPr>
          <p:nvPr>
            <p:ph type="body" idx="13" sz="quarter"/>
          </p:nvPr>
        </p:nvSpPr>
        <p:spPr/>
        <p:txBody>
          <a:bodyPr/>
          <a:lstStyle/>
          <a:p>
            <a:pPr>
              <a:spcBef>
                <a:spcPts val="400"/>
              </a:spcBef>
              <a:buChar char="•"/>
            </a:pPr>
            <a:r>
              <a:rPr>
                <a:latin typeface="Arial"/>
              </a:rPr>
              <a:t>Stable: local delivery partner</a:t>
            </a:r>
          </a:p>
          <a:p>
            <a:pPr>
              <a:spcBef>
                <a:spcPts val="400"/>
              </a:spcBef>
              <a:buChar char="•"/>
            </a:pPr>
            <a:r>
              <a:rPr>
                <a:latin typeface="Arial"/>
              </a:rPr>
              <a:t>Welsh architecture &amp; engineering expertise</a:t>
            </a:r>
          </a:p>
          <a:p>
            <a:pPr>
              <a:spcBef>
                <a:spcPts val="400"/>
              </a:spcBef>
              <a:buChar char="•"/>
            </a:pPr>
            <a:r>
              <a:rPr>
                <a:latin typeface="Arial"/>
              </a:rPr>
              <a:t>Community and public-sector relationships</a:t>
            </a:r>
          </a:p>
          <a:p>
            <a:pPr>
              <a:spcBef>
                <a:spcPts val="400"/>
              </a:spcBef>
              <a:buChar char="•"/>
            </a:pPr>
            <a:r>
              <a:rPr>
                <a:latin typeface="Arial"/>
              </a:rPr>
              <a:t>Bilingual engagement and continuity</a:t>
            </a:r>
          </a:p>
        </p:txBody>
      </p:sp>
      <p:sp>
        <p:nvSpPr>
          <p:cNvPr id="4" name="Text Placeholder 3"/>
          <p:cNvSpPr>
            <a:spLocks noGrp="1"/>
          </p:cNvSpPr>
          <p:nvPr>
            <p:ph type="body" idx="12" sz="quarter"/>
          </p:nvPr>
        </p:nvSpPr>
        <p:spPr/>
        <p:txBody>
          <a:bodyPr/>
          <a:lstStyle/>
          <a:p>
            <a:pPr>
              <a:spcBef>
                <a:spcPts val="400"/>
              </a:spcBef>
              <a:buChar char="•"/>
            </a:pPr>
            <a:r>
              <a:rPr>
                <a:latin typeface="Arial"/>
              </a:rPr>
              <a:t>IBM: global scale and specialist accelerators</a:t>
            </a:r>
          </a:p>
          <a:p>
            <a:pPr>
              <a:spcBef>
                <a:spcPts val="400"/>
              </a:spcBef>
              <a:buChar char="•"/>
            </a:pPr>
            <a:r>
              <a:rPr>
                <a:latin typeface="Arial"/>
              </a:rPr>
              <a:t>Integrated IBM-led teams</a:t>
            </a:r>
          </a:p>
          <a:p>
            <a:pPr>
              <a:spcBef>
                <a:spcPts val="400"/>
              </a:spcBef>
              <a:buChar char="•"/>
            </a:pPr>
            <a:r>
              <a:rPr>
                <a:latin typeface="Arial"/>
              </a:rPr>
              <a:t>Embedded knowledge transfer</a:t>
            </a:r>
          </a:p>
          <a:p>
            <a:pPr>
              <a:spcBef>
                <a:spcPts val="400"/>
              </a:spcBef>
              <a:buChar char="•"/>
            </a:pPr>
            <a:r>
              <a:rPr>
                <a:latin typeface="Arial"/>
              </a:rPr>
              <a:t>Joint governance and shared accountability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2: Customer Capabilities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IBM strengths in the DDaT Framework</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Six DDaT specialisms across the lifecycle</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Integrated delivery operating model</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Proven DDaT outcomes across UK public sector</a:t>
            </a:r>
          </a:p>
        </p:txBody>
      </p:sp>
      <p:sp>
        <p:nvSpPr>
          <p:cNvPr id="3" name="Text Placeholder 2"/>
          <p:cNvSpPr>
            <a:spLocks noGrp="1"/>
          </p:cNvSpPr>
          <p:nvPr>
            <p:ph type="body" idx="12" sz="quarter"/>
          </p:nvPr>
        </p:nvSpPr>
        <p:spPr/>
        <p:txBody>
          <a:bodyPr/>
          <a:lstStyle/>
          <a:p>
            <a:pPr>
              <a:spcBef>
                <a:spcPts val="400"/>
              </a:spcBef>
              <a:buChar char="•"/>
            </a:pPr>
            <a:r>
              <a:rPr>
                <a:latin typeface="Arial"/>
              </a:rPr>
              <a:t>Environment Agency: unified data platform in 11 months</a:t>
            </a:r>
          </a:p>
          <a:p>
            <a:pPr>
              <a:spcBef>
                <a:spcPts val="400"/>
              </a:spcBef>
              <a:buChar char="•"/>
            </a:pPr>
            <a:r>
              <a:rPr>
                <a:latin typeface="Arial"/>
              </a:rPr>
              <a:t>DVLA: 30% faster data processing</a:t>
            </a:r>
          </a:p>
          <a:p>
            <a:pPr>
              <a:spcBef>
                <a:spcPts val="400"/>
              </a:spcBef>
              <a:buChar char="•"/>
            </a:pPr>
            <a:r>
              <a:rPr>
                <a:latin typeface="Arial"/>
              </a:rPr>
              <a:t>Welsh charities: bilingual digital services</a:t>
            </a:r>
          </a:p>
          <a:p>
            <a:pPr>
              <a:spcBef>
                <a:spcPts val="400"/>
              </a:spcBef>
              <a:buChar char="•"/>
            </a:pPr>
            <a:r>
              <a:rPr>
                <a:latin typeface="Arial"/>
              </a:rPr>
              <a:t>NHS Digital: 18-month integration programme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3: Scenario 1 — Customer Platform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Customer Platform discovery to shape roadmap</a:t>
            </a:r>
          </a:p>
        </p:txBody>
      </p:sp>
      <p:sp>
        <p:nvSpPr>
          <p:cNvPr id="3" name="Text Placeholder 2"/>
          <p:cNvSpPr>
            <a:spLocks noGrp="1"/>
          </p:cNvSpPr>
          <p:nvPr>
            <p:ph type="body" idx="13" sz="quarter"/>
          </p:nvPr>
        </p:nvSpPr>
        <p:spPr/>
        <p:txBody>
          <a:bodyPr/>
          <a:lstStyle/>
          <a:p>
            <a:pPr>
              <a:spcBef>
                <a:spcPts val="400"/>
              </a:spcBef>
              <a:buChar char="•"/>
            </a:pPr>
            <a:r>
              <a:rPr>
                <a:latin typeface="Arial"/>
              </a:rPr>
              <a:t>Blended IBM + Stable team embedded with NRW</a:t>
            </a:r>
          </a:p>
          <a:p>
            <a:pPr>
              <a:spcBef>
                <a:spcPts val="400"/>
              </a:spcBef>
              <a:buChar char="•"/>
            </a:pPr>
            <a:r>
              <a:rPr>
                <a:latin typeface="Arial"/>
              </a:rPr>
              <a:t>Three parallel workstreams: user, technical, commercial</a:t>
            </a:r>
          </a:p>
          <a:p>
            <a:pPr>
              <a:spcBef>
                <a:spcPts val="400"/>
              </a:spcBef>
              <a:buChar char="•"/>
            </a:pPr>
            <a:r>
              <a:rPr>
                <a:latin typeface="Arial"/>
              </a:rPr>
              <a:t>Discovery mobilises and shapes the roadmap</a:t>
            </a:r>
          </a:p>
          <a:p>
            <a:pPr>
              <a:spcBef>
                <a:spcPts val="400"/>
              </a:spcBef>
              <a:buChar char="•"/>
            </a:pPr>
            <a:r>
              <a:rPr>
                <a:latin typeface="Arial"/>
              </a:rPr>
              <a:t>Stakeholder engagement and operational context</a:t>
            </a:r>
          </a:p>
        </p:txBody>
      </p:sp>
      <p:sp>
        <p:nvSpPr>
          <p:cNvPr id="4" name="Text Placeholder 3"/>
          <p:cNvSpPr>
            <a:spLocks noGrp="1"/>
          </p:cNvSpPr>
          <p:nvPr>
            <p:ph type="body" idx="12" sz="quarter"/>
          </p:nvPr>
        </p:nvSpPr>
        <p:spPr/>
        <p:txBody>
          <a:bodyPr/>
          <a:lstStyle/>
          <a:p>
            <a:pPr>
              <a:spcBef>
                <a:spcPts val="400"/>
              </a:spcBef>
              <a:buChar char="•"/>
            </a:pPr>
            <a:r>
              <a:rPr>
                <a:latin typeface="Arial"/>
              </a:rPr>
              <a:t>User research, service mapping, analytics</a:t>
            </a:r>
          </a:p>
          <a:p>
            <a:pPr>
              <a:spcBef>
                <a:spcPts val="400"/>
              </a:spcBef>
              <a:buChar char="•"/>
            </a:pPr>
            <a:r>
              <a:rPr>
                <a:latin typeface="Arial"/>
              </a:rPr>
              <a:t>Technical assessment of the Microsoft ecosystem</a:t>
            </a:r>
          </a:p>
          <a:p>
            <a:pPr>
              <a:spcBef>
                <a:spcPts val="400"/>
              </a:spcBef>
              <a:buChar char="•"/>
            </a:pPr>
            <a:r>
              <a:rPr>
                <a:latin typeface="Arial"/>
              </a:rPr>
              <a:t>Commercial review and delivery sequencing</a:t>
            </a:r>
          </a:p>
          <a:p>
            <a:pPr>
              <a:spcBef>
                <a:spcPts val="400"/>
              </a:spcBef>
              <a:buChar char="•"/>
            </a:pPr>
            <a:r>
              <a:rPr>
                <a:latin typeface="Arial"/>
              </a:rPr>
              <a:t>Evidence-based investment decisions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Discovery outputs — foundation for platform evolution</a:t>
            </a:r>
          </a:p>
        </p:txBody>
      </p:sp>
      <p:sp>
        <p:nvSpPr>
          <p:cNvPr id="3" name="Text Placeholder 2"/>
          <p:cNvSpPr>
            <a:spLocks noGrp="1"/>
          </p:cNvSpPr>
          <p:nvPr>
            <p:ph type="body" idx="12" sz="quarter"/>
          </p:nvPr>
        </p:nvSpPr>
        <p:spPr/>
        <p:txBody>
          <a:bodyPr/>
          <a:lstStyle/>
          <a:p>
            <a:pPr>
              <a:spcBef>
                <a:spcPts val="400"/>
              </a:spcBef>
            </a:pPr>
            <a:r>
              <a:rPr>
                <a:latin typeface="Arial"/>
              </a:rPr>
              <a:t>Prioritised 18–24 month service roadmap</a:t>
            </a:r>
          </a:p>
        </p:txBody>
      </p:sp>
      <p:sp>
        <p:nvSpPr>
          <p:cNvPr id="4" name="Text Placeholder 3"/>
          <p:cNvSpPr>
            <a:spLocks noGrp="1"/>
          </p:cNvSpPr>
          <p:nvPr>
            <p:ph type="body" idx="13" sz="quarter"/>
          </p:nvPr>
        </p:nvSpPr>
        <p:spPr/>
        <p:txBody>
          <a:bodyPr/>
          <a:lstStyle/>
          <a:p>
            <a:pPr>
              <a:spcBef>
                <a:spcPts val="400"/>
              </a:spcBef>
            </a:pPr>
            <a:r>
              <a:rPr>
                <a:latin typeface="Arial"/>
              </a:rPr>
              <a:t>Architectural direction aligned to Microsoft estate</a:t>
            </a:r>
          </a:p>
        </p:txBody>
      </p:sp>
      <p:sp>
        <p:nvSpPr>
          <p:cNvPr id="5" name="Text Placeholder 4"/>
          <p:cNvSpPr>
            <a:spLocks noGrp="1"/>
          </p:cNvSpPr>
          <p:nvPr>
            <p:ph type="body" idx="14" sz="quarter"/>
          </p:nvPr>
        </p:nvSpPr>
        <p:spPr/>
        <p:txBody>
          <a:bodyPr/>
          <a:lstStyle/>
          <a:p>
            <a:pPr>
              <a:spcBef>
                <a:spcPts val="400"/>
              </a:spcBef>
            </a:pPr>
            <a:r>
              <a:rPr>
                <a:latin typeface="Arial"/>
              </a:rPr>
              <a:t>Platform capability model and integrations</a:t>
            </a:r>
          </a:p>
        </p:txBody>
      </p:sp>
      <p:sp>
        <p:nvSpPr>
          <p:cNvPr id="6" name="Text Placeholder 5"/>
          <p:cNvSpPr>
            <a:spLocks noGrp="1"/>
          </p:cNvSpPr>
          <p:nvPr>
            <p:ph type="body" idx="15" sz="quarter"/>
          </p:nvPr>
        </p:nvSpPr>
        <p:spPr/>
        <p:txBody>
          <a:bodyPr/>
          <a:lstStyle/>
          <a:p>
            <a:pPr>
              <a:spcBef>
                <a:spcPts val="400"/>
              </a:spcBef>
            </a:pPr>
            <a:r>
              <a:rPr>
                <a:latin typeface="Arial"/>
              </a:rPr>
              <a:t>Sequenced delivery plan and mobilisation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Foundational architecture for NRW on Microsoft</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Architectural principles for platform evolution</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Solving Customer Data Fragmentation</a:t>
            </a:r>
          </a:p>
        </p:txBody>
      </p:sp>
      <p:sp>
        <p:nvSpPr>
          <p:cNvPr id="3" name="Text Placeholder 2"/>
          <p:cNvSpPr>
            <a:spLocks noGrp="1"/>
          </p:cNvSpPr>
          <p:nvPr>
            <p:ph type="body" idx="12" sz="quarter"/>
          </p:nvPr>
        </p:nvSpPr>
        <p:spPr/>
        <p:txBody>
          <a:bodyPr/>
          <a:lstStyle/>
          <a:p>
            <a:pPr>
              <a:spcBef>
                <a:spcPts val="400"/>
              </a:spcBef>
              <a:buChar char="•"/>
            </a:pPr>
            <a:r>
              <a:rPr>
                <a:latin typeface="Arial"/>
              </a:rPr>
              <a:t>Inconsistent customer records across systems</a:t>
            </a:r>
          </a:p>
          <a:p>
            <a:pPr>
              <a:spcBef>
                <a:spcPts val="400"/>
              </a:spcBef>
              <a:buChar char="•"/>
            </a:pPr>
            <a:r>
              <a:rPr>
                <a:latin typeface="Arial"/>
              </a:rPr>
              <a:t>Disconnected data flows between platforms</a:t>
            </a:r>
          </a:p>
          <a:p>
            <a:pPr>
              <a:spcBef>
                <a:spcPts val="400"/>
              </a:spcBef>
              <a:buChar char="•"/>
            </a:pPr>
            <a:r>
              <a:rPr>
                <a:latin typeface="Arial"/>
              </a:rPr>
              <a:t>Fragmented journeys and touchpoints</a:t>
            </a:r>
          </a:p>
          <a:p>
            <a:pPr>
              <a:spcBef>
                <a:spcPts val="400"/>
              </a:spcBef>
              <a:buChar char="•"/>
            </a:pPr>
            <a:r>
              <a:rPr>
                <a:latin typeface="Arial"/>
              </a:rPr>
              <a:t>No real-time, coherent customer view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integration &amp; platform thinking</a:t>
            </a:r>
          </a:p>
        </p:txBody>
      </p:sp>
      <p:sp>
        <p:nvSpPr>
          <p:cNvPr id="3" name="Text Placeholder 2"/>
          <p:cNvSpPr>
            <a:spLocks noGrp="1"/>
          </p:cNvSpPr>
          <p:nvPr>
            <p:ph type="body" idx="13" sz="quarter"/>
          </p:nvPr>
        </p:nvSpPr>
        <p:spPr/>
        <p:txBody>
          <a:bodyPr/>
          <a:lstStyle/>
          <a:p>
            <a:pPr>
              <a:spcBef>
                <a:spcPts val="400"/>
              </a:spcBef>
              <a:buChar char="•"/>
            </a:pPr>
            <a:r>
              <a:rPr>
                <a:latin typeface="Arial"/>
              </a:rPr>
              <a:t>Map customer data across CRM, legacy, GIS, documents</a:t>
            </a:r>
          </a:p>
          <a:p>
            <a:pPr>
              <a:spcBef>
                <a:spcPts val="400"/>
              </a:spcBef>
              <a:buChar char="•"/>
            </a:pPr>
            <a:r>
              <a:rPr>
                <a:latin typeface="Arial"/>
              </a:rPr>
              <a:t>Introduce a shared customer identifier model</a:t>
            </a:r>
          </a:p>
          <a:p>
            <a:pPr>
              <a:spcBef>
                <a:spcPts val="400"/>
              </a:spcBef>
              <a:buChar char="•"/>
            </a:pPr>
            <a:r>
              <a:rPr>
                <a:latin typeface="Arial"/>
              </a:rPr>
              <a:t>Use Dynamics 365 as the master customer record</a:t>
            </a:r>
          </a:p>
          <a:p>
            <a:pPr>
              <a:spcBef>
                <a:spcPts val="400"/>
              </a:spcBef>
              <a:buChar char="•"/>
            </a:pPr>
            <a:r>
              <a:rPr>
                <a:latin typeface="Arial"/>
              </a:rPr>
              <a:t>API-based integration for real-time data</a:t>
            </a:r>
          </a:p>
        </p:txBody>
      </p:sp>
      <p:sp>
        <p:nvSpPr>
          <p:cNvPr id="4" name="Text Placeholder 3"/>
          <p:cNvSpPr>
            <a:spLocks noGrp="1"/>
          </p:cNvSpPr>
          <p:nvPr>
            <p:ph type="body" idx="12" sz="quarter"/>
          </p:nvPr>
        </p:nvSpPr>
        <p:spPr/>
        <p:txBody>
          <a:bodyPr/>
          <a:lstStyle/>
          <a:p>
            <a:pPr>
              <a:spcBef>
                <a:spcPts val="400"/>
              </a:spcBef>
              <a:buChar char="•"/>
            </a:pPr>
            <a:r>
              <a:rPr>
                <a:latin typeface="Arial"/>
              </a:rPr>
              <a:t>Controlled consolidation via MDM and survivorship rules</a:t>
            </a:r>
          </a:p>
          <a:p>
            <a:pPr>
              <a:spcBef>
                <a:spcPts val="400"/>
              </a:spcBef>
              <a:buChar char="•"/>
            </a:pPr>
            <a:r>
              <a:rPr>
                <a:latin typeface="Arial"/>
              </a:rPr>
              <a:t>Use an Azure-native data platform for analytics</a:t>
            </a:r>
          </a:p>
          <a:p>
            <a:pPr>
              <a:spcBef>
                <a:spcPts val="400"/>
              </a:spcBef>
              <a:buChar char="•"/>
            </a:pPr>
            <a:r>
              <a:rPr>
                <a:latin typeface="Arial"/>
              </a:rPr>
              <a:t>Validate assumptions during discovery</a:t>
            </a:r>
          </a:p>
          <a:p>
            <a:pPr>
              <a:spcBef>
                <a:spcPts val="400"/>
              </a:spcBef>
              <a:buChar char="•"/>
            </a:pPr>
            <a:r>
              <a:rPr>
                <a:latin typeface="Arial"/>
              </a:rPr>
              <a:t>Sequence delivery to manage risk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integration risks: key mitigations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Profile &amp; validate data to improve match accuracy</a:t>
            </a:r>
          </a:p>
          <a:p>
            <a:pPr>
              <a:spcBef>
                <a:spcPts val="400"/>
              </a:spcBef>
              <a:buChar char="•"/>
            </a:pPr>
            <a:r>
              <a:rPr>
                <a:latin typeface="Arial"/>
              </a:rPr>
              <a:t>Identify legacy dependencies early to avoid delivery delays</a:t>
            </a:r>
          </a:p>
          <a:p>
            <a:pPr>
              <a:spcBef>
                <a:spcPts val="400"/>
              </a:spcBef>
              <a:buChar char="•"/>
            </a:pPr>
            <a:r>
              <a:rPr>
                <a:latin typeface="Arial"/>
              </a:rPr>
              <a:t>Apply performance &amp; security constraints to protect throughput</a:t>
            </a:r>
          </a:p>
        </p:txBody>
      </p:sp>
      <p:sp>
        <p:nvSpPr>
          <p:cNvPr id="4" name="Text Placeholder 3"/>
          <p:cNvSpPr>
            <a:spLocks noGrp="1"/>
          </p:cNvSpPr>
          <p:nvPr>
            <p:ph type="body" idx="12" sz="quarter"/>
          </p:nvPr>
        </p:nvSpPr>
        <p:spPr/>
        <p:txBody>
          <a:bodyPr/>
          <a:lstStyle/>
          <a:p>
            <a:pPr>
              <a:spcBef>
                <a:spcPts val="400"/>
              </a:spcBef>
              <a:buChar char="•"/>
            </a:pPr>
            <a:r>
              <a:rPr>
                <a:latin typeface="Arial"/>
              </a:rPr>
              <a:t>Define ownership to strengthen governance and accountability</a:t>
            </a:r>
          </a:p>
          <a:p>
            <a:pPr>
              <a:spcBef>
                <a:spcPts val="400"/>
              </a:spcBef>
              <a:buChar char="•"/>
            </a:pPr>
            <a:r>
              <a:rPr>
                <a:latin typeface="Arial"/>
              </a:rPr>
              <a:t>Use an integration layer to wrap legacy systems</a:t>
            </a:r>
          </a:p>
          <a:p>
            <a:pPr>
              <a:spcBef>
                <a:spcPts val="400"/>
              </a:spcBef>
              <a:buChar char="•"/>
            </a:pPr>
            <a:r>
              <a:rPr>
                <a:latin typeface="Arial"/>
              </a:rPr>
              <a:t>Adopt API-driven connectivity with strong governance</a:t>
            </a:r>
          </a:p>
          <a:p>
            <a:pPr>
              <a:spcBef>
                <a:spcPts val="400"/>
              </a:spcBef>
              <a:buChar char="•"/>
            </a:pPr>
            <a:r>
              <a:rPr>
                <a:latin typeface="Arial"/>
              </a:rPr>
              <a:t>Sequence identity resolution by risk, then scale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Multidisciplinary delivery team structure</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Phased scaling &amp; maturity pathway</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testing and service sustainability</a:t>
            </a:r>
          </a:p>
        </p:txBody>
      </p:sp>
      <p:sp>
        <p:nvSpPr>
          <p:cNvPr id="3" name="Text Placeholder 2"/>
          <p:cNvSpPr>
            <a:spLocks noGrp="1"/>
          </p:cNvSpPr>
          <p:nvPr>
            <p:ph type="body" idx="13" sz="quarter"/>
          </p:nvPr>
        </p:nvSpPr>
        <p:spPr/>
        <p:txBody>
          <a:bodyPr/>
          <a:lstStyle/>
          <a:p>
            <a:pPr>
              <a:spcBef>
                <a:spcPts val="400"/>
              </a:spcBef>
              <a:buChar char="•"/>
            </a:pPr>
            <a:r>
              <a:rPr>
                <a:latin typeface="Arial"/>
              </a:rPr>
              <a:t>Security, privacy &amp; compliance built in from day one</a:t>
            </a:r>
          </a:p>
          <a:p>
            <a:pPr>
              <a:spcBef>
                <a:spcPts val="400"/>
              </a:spcBef>
              <a:buChar char="•"/>
            </a:pPr>
            <a:r>
              <a:rPr>
                <a:latin typeface="Arial"/>
              </a:rPr>
              <a:t>Threat modelling + compliance analysis by design</a:t>
            </a:r>
          </a:p>
          <a:p>
            <a:pPr>
              <a:spcBef>
                <a:spcPts val="400"/>
              </a:spcBef>
              <a:buChar char="•"/>
            </a:pPr>
            <a:r>
              <a:rPr>
                <a:latin typeface="Arial"/>
              </a:rPr>
              <a:t>Risk-based testing and proportionate assurance</a:t>
            </a:r>
          </a:p>
          <a:p>
            <a:pPr>
              <a:spcBef>
                <a:spcPts val="400"/>
              </a:spcBef>
              <a:buChar char="•"/>
            </a:pPr>
            <a:r>
              <a:rPr>
                <a:latin typeface="Arial"/>
              </a:rPr>
              <a:t>Operability for live services, not afterthought</a:t>
            </a:r>
          </a:p>
        </p:txBody>
      </p:sp>
      <p:sp>
        <p:nvSpPr>
          <p:cNvPr id="4" name="Text Placeholder 3"/>
          <p:cNvSpPr>
            <a:spLocks noGrp="1"/>
          </p:cNvSpPr>
          <p:nvPr>
            <p:ph type="body" idx="12" sz="quarter"/>
          </p:nvPr>
        </p:nvSpPr>
        <p:spPr/>
        <p:txBody>
          <a:bodyPr/>
          <a:lstStyle/>
          <a:p>
            <a:pPr>
              <a:spcBef>
                <a:spcPts val="400"/>
              </a:spcBef>
              <a:buChar char="•"/>
            </a:pPr>
            <a:r>
              <a:rPr>
                <a:latin typeface="Arial"/>
              </a:rPr>
              <a:t>UK GDPR + Cyber Essentials Plus alignment</a:t>
            </a:r>
          </a:p>
          <a:p>
            <a:pPr>
              <a:spcBef>
                <a:spcPts val="400"/>
              </a:spcBef>
              <a:buChar char="•"/>
            </a:pPr>
            <a:r>
              <a:rPr>
                <a:latin typeface="Arial"/>
              </a:rPr>
              <a:t>Extra assurance for high-risk components</a:t>
            </a:r>
          </a:p>
          <a:p>
            <a:pPr>
              <a:spcBef>
                <a:spcPts val="400"/>
              </a:spcBef>
              <a:buChar char="•"/>
            </a:pPr>
            <a:r>
              <a:rPr>
                <a:latin typeface="Arial"/>
              </a:rPr>
              <a:t>Continuous monitoring and resilience</a:t>
            </a:r>
          </a:p>
          <a:p>
            <a:pPr>
              <a:spcBef>
                <a:spcPts val="400"/>
              </a:spcBef>
              <a:buChar char="•"/>
            </a:pPr>
            <a:r>
              <a:rPr>
                <a:latin typeface="Arial"/>
              </a:rPr>
              <a:t>Knowledge transfer for NRW ownership readiness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4: Scenario 2 — Website Innovation Window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12-week innovation window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Website improvement innovation modes</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Evidence generation: four phases</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Evidence-based success criteria for hypothesis testing</a:t>
            </a:r>
          </a:p>
        </p:txBody>
      </p:sp>
      <p:sp>
        <p:nvSpPr>
          <p:cNvPr id="3" name="Text Placeholder 2"/>
          <p:cNvSpPr>
            <a:spLocks noGrp="1"/>
          </p:cNvSpPr>
          <p:nvPr>
            <p:ph type="body" idx="13" sz="quarter"/>
          </p:nvPr>
        </p:nvSpPr>
        <p:spPr/>
        <p:txBody>
          <a:bodyPr/>
          <a:lstStyle/>
          <a:p>
            <a:pPr>
              <a:spcBef>
                <a:spcPts val="400"/>
              </a:spcBef>
              <a:buChar char="•"/>
            </a:pPr>
            <a:r>
              <a:rPr>
                <a:latin typeface="Arial"/>
              </a:rPr>
              <a:t>Define hypotheses tied to user problems</a:t>
            </a:r>
          </a:p>
          <a:p>
            <a:pPr>
              <a:spcBef>
                <a:spcPts val="400"/>
              </a:spcBef>
              <a:buChar char="•"/>
            </a:pPr>
            <a:r>
              <a:rPr>
                <a:latin typeface="Arial"/>
              </a:rPr>
              <a:t>Design lightweight experiments</a:t>
            </a:r>
          </a:p>
          <a:p>
            <a:pPr>
              <a:spcBef>
                <a:spcPts val="400"/>
              </a:spcBef>
              <a:buChar char="•"/>
            </a:pPr>
            <a:r>
              <a:rPr>
                <a:latin typeface="Arial"/>
              </a:rPr>
              <a:t>Run controlled tests and collect evidence</a:t>
            </a:r>
          </a:p>
          <a:p>
            <a:pPr>
              <a:spcBef>
                <a:spcPts val="400"/>
              </a:spcBef>
              <a:buChar char="•"/>
            </a:pPr>
            <a:r>
              <a:rPr>
                <a:latin typeface="Arial"/>
              </a:rPr>
              <a:t>Stakeholders review and decide</a:t>
            </a:r>
          </a:p>
        </p:txBody>
      </p:sp>
      <p:sp>
        <p:nvSpPr>
          <p:cNvPr id="4" name="Text Placeholder 3"/>
          <p:cNvSpPr>
            <a:spLocks noGrp="1"/>
          </p:cNvSpPr>
          <p:nvPr>
            <p:ph type="body" idx="12" sz="quarter"/>
          </p:nvPr>
        </p:nvSpPr>
        <p:spPr/>
        <p:txBody>
          <a:bodyPr/>
          <a:lstStyle/>
          <a:p>
            <a:pPr>
              <a:spcBef>
                <a:spcPts val="400"/>
              </a:spcBef>
              <a:buChar char="•"/>
            </a:pPr>
            <a:r>
              <a:rPr>
                <a:latin typeface="Arial"/>
              </a:rPr>
              <a:t>Measurable usability and accessibility improvements</a:t>
            </a:r>
          </a:p>
          <a:p>
            <a:pPr>
              <a:spcBef>
                <a:spcPts val="400"/>
              </a:spcBef>
              <a:buChar char="•"/>
            </a:pPr>
            <a:r>
              <a:rPr>
                <a:latin typeface="Arial"/>
              </a:rPr>
              <a:t>Validated design and content patterns</a:t>
            </a:r>
          </a:p>
          <a:p>
            <a:pPr>
              <a:spcBef>
                <a:spcPts val="400"/>
              </a:spcBef>
              <a:buChar char="•"/>
            </a:pPr>
            <a:r>
              <a:rPr>
                <a:latin typeface="Arial"/>
              </a:rPr>
              <a:t>Evidence-led search and navigation enhancements</a:t>
            </a:r>
          </a:p>
          <a:p>
            <a:pPr>
              <a:spcBef>
                <a:spcPts val="400"/>
              </a:spcBef>
              <a:buChar char="•"/>
            </a:pPr>
            <a:r>
              <a:rPr>
                <a:latin typeface="Arial"/>
              </a:rPr>
              <a:t>Decision-ready outputs to scale or stop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window: outputs and deliverables</a:t>
            </a:r>
          </a:p>
        </p:txBody>
      </p:sp>
      <p:sp>
        <p:nvSpPr>
          <p:cNvPr id="3" name="Text Placeholder 2"/>
          <p:cNvSpPr>
            <a:spLocks noGrp="1"/>
          </p:cNvSpPr>
          <p:nvPr>
            <p:ph type="body" idx="12" sz="quarter"/>
          </p:nvPr>
        </p:nvSpPr>
        <p:spPr/>
        <p:txBody>
          <a:bodyPr/>
          <a:lstStyle/>
          <a:p>
            <a:pPr>
              <a:spcBef>
                <a:spcPts val="400"/>
              </a:spcBef>
              <a:buChar char="•"/>
            </a:pPr>
            <a:r>
              <a:rPr>
                <a:latin typeface="Arial"/>
              </a:rPr>
              <a:t>Validated hypotheses and reusable design patterns</a:t>
            </a:r>
          </a:p>
          <a:p>
            <a:pPr>
              <a:spcBef>
                <a:spcPts val="400"/>
              </a:spcBef>
              <a:buChar char="•"/>
            </a:pPr>
            <a:r>
              <a:rPr>
                <a:latin typeface="Arial"/>
              </a:rPr>
              <a:t>Navigation and information architecture prototypes</a:t>
            </a:r>
          </a:p>
          <a:p>
            <a:pPr>
              <a:spcBef>
                <a:spcPts val="400"/>
              </a:spcBef>
              <a:buChar char="•"/>
            </a:pPr>
            <a:r>
              <a:rPr>
                <a:latin typeface="Arial"/>
              </a:rPr>
              <a:t>Evidence-led search improvements</a:t>
            </a:r>
          </a:p>
          <a:p>
            <a:pPr>
              <a:spcBef>
                <a:spcPts val="400"/>
              </a:spcBef>
              <a:buChar char="•"/>
            </a:pPr>
            <a:r>
              <a:rPr>
                <a:latin typeface="Arial"/>
              </a:rPr>
              <a:t>End-to-end prototypes for priority journeys</a:t>
            </a:r>
          </a:p>
          <a:p>
            <a:pPr>
              <a:spcBef>
                <a:spcPts val="400"/>
              </a:spcBef>
              <a:buChar char="•"/>
            </a:pPr>
            <a:r>
              <a:rPr>
                <a:latin typeface="Arial"/>
              </a:rPr>
              <a:t>Accessibility and content improvement backlog</a:t>
            </a:r>
          </a:p>
          <a:p>
            <a:pPr>
              <a:spcBef>
                <a:spcPts val="400"/>
              </a:spcBef>
              <a:buChar char="•"/>
            </a:pPr>
            <a:r>
              <a:rPr>
                <a:latin typeface="Arial"/>
              </a:rPr>
              <a:t>Proof of feasibility for live data integration</a:t>
            </a:r>
          </a:p>
          <a:p>
            <a:pPr>
              <a:spcBef>
                <a:spcPts val="400"/>
              </a:spcBef>
              <a:buChar char="•"/>
            </a:pPr>
            <a:r>
              <a:rPr>
                <a:latin typeface="Arial"/>
              </a:rPr>
              <a:t>Measurement framework for success metrics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risks, dependencies, and assumptions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Objectives not defined early</a:t>
            </a:r>
          </a:p>
          <a:p>
            <a:pPr>
              <a:spcBef>
                <a:spcPts val="400"/>
              </a:spcBef>
              <a:buChar char="•"/>
            </a:pPr>
            <a:r>
              <a:rPr>
                <a:latin typeface="Arial"/>
              </a:rPr>
              <a:t>Limited user access</a:t>
            </a:r>
          </a:p>
          <a:p>
            <a:pPr>
              <a:spcBef>
                <a:spcPts val="400"/>
              </a:spcBef>
              <a:buChar char="•"/>
            </a:pPr>
            <a:r>
              <a:rPr>
                <a:latin typeface="Arial"/>
              </a:rPr>
              <a:t>Technical/content constraints</a:t>
            </a:r>
          </a:p>
          <a:p>
            <a:pPr>
              <a:spcBef>
                <a:spcPts val="400"/>
              </a:spcBef>
              <a:buChar char="•"/>
            </a:pPr>
            <a:r>
              <a:rPr>
                <a:latin typeface="Arial"/>
              </a:rPr>
              <a:t>Time-limited innovation window</a:t>
            </a:r>
          </a:p>
          <a:p>
            <a:pPr>
              <a:spcBef>
                <a:spcPts val="400"/>
              </a:spcBef>
              <a:buChar char="•"/>
            </a:pPr>
            <a:r>
              <a:rPr>
                <a:latin typeface="Arial"/>
              </a:rPr>
              <a:t>Stakeholder engagement needed</a:t>
            </a:r>
          </a:p>
        </p:txBody>
      </p:sp>
      <p:sp>
        <p:nvSpPr>
          <p:cNvPr id="4" name="Text Placeholder 3"/>
          <p:cNvSpPr>
            <a:spLocks noGrp="1"/>
          </p:cNvSpPr>
          <p:nvPr>
            <p:ph type="body" idx="12" sz="quarter"/>
          </p:nvPr>
        </p:nvSpPr>
        <p:spPr/>
        <p:txBody>
          <a:bodyPr/>
          <a:lstStyle/>
          <a:p>
            <a:pPr>
              <a:spcBef>
                <a:spcPts val="400"/>
              </a:spcBef>
              <a:buChar char="•"/>
            </a:pPr>
            <a:r>
              <a:rPr>
                <a:latin typeface="Arial"/>
              </a:rPr>
              <a:t>Define hypotheses early</a:t>
            </a:r>
          </a:p>
          <a:p>
            <a:pPr>
              <a:spcBef>
                <a:spcPts val="400"/>
              </a:spcBef>
              <a:buChar char="•"/>
            </a:pPr>
            <a:r>
              <a:rPr>
                <a:latin typeface="Arial"/>
              </a:rPr>
              <a:t>Engage users and stakeholders upfront</a:t>
            </a:r>
          </a:p>
          <a:p>
            <a:pPr>
              <a:spcBef>
                <a:spcPts val="400"/>
              </a:spcBef>
              <a:buChar char="•"/>
            </a:pPr>
            <a:r>
              <a:rPr>
                <a:latin typeface="Arial"/>
              </a:rPr>
              <a:t>Test feasibility before scaling</a:t>
            </a:r>
          </a:p>
          <a:p>
            <a:pPr>
              <a:spcBef>
                <a:spcPts val="400"/>
              </a:spcBef>
              <a:buChar char="•"/>
            </a:pPr>
            <a:r>
              <a:rPr>
                <a:latin typeface="Arial"/>
              </a:rPr>
              <a:t>Dispose weak ideas with discipline</a:t>
            </a:r>
          </a:p>
          <a:p>
            <a:pPr>
              <a:spcBef>
                <a:spcPts val="400"/>
              </a:spcBef>
              <a:buChar char="•"/>
            </a:pPr>
            <a:r>
              <a:rPr>
                <a:latin typeface="Arial"/>
              </a:rPr>
              <a:t>Measure, report, and learn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5: Sustainability &amp; Social Value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Sustainability &amp; social value in delivery</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Stable’s Social Value Impact in Wales</a:t>
            </a:r>
          </a:p>
        </p:txBody>
      </p:sp>
      <p:sp>
        <p:nvSpPr>
          <p:cNvPr id="3" name="Text Placeholder 2"/>
          <p:cNvSpPr>
            <a:spLocks noGrp="1"/>
          </p:cNvSpPr>
          <p:nvPr>
            <p:ph type="body" idx="13" sz="quarter"/>
          </p:nvPr>
        </p:nvSpPr>
        <p:spPr/>
        <p:txBody>
          <a:bodyPr/>
          <a:lstStyle/>
          <a:p>
            <a:pPr>
              <a:spcBef>
                <a:spcPts val="400"/>
              </a:spcBef>
              <a:buChar char="•"/>
            </a:pPr>
            <a:r>
              <a:rPr>
                <a:latin typeface="Arial"/>
              </a:rPr>
              <a:t>Local employment with Welsh-based teams</a:t>
            </a:r>
          </a:p>
          <a:p>
            <a:pPr>
              <a:spcBef>
                <a:spcPts val="400"/>
              </a:spcBef>
              <a:buChar char="•"/>
            </a:pPr>
            <a:r>
              <a:rPr>
                <a:latin typeface="Arial"/>
              </a:rPr>
              <a:t>Internships with local universities</a:t>
            </a:r>
          </a:p>
          <a:p>
            <a:pPr>
              <a:spcBef>
                <a:spcPts val="400"/>
              </a:spcBef>
              <a:buChar char="•"/>
            </a:pPr>
            <a:r>
              <a:rPr>
                <a:latin typeface="Arial"/>
              </a:rPr>
              <a:t>Charity partnerships and community engagement</a:t>
            </a:r>
          </a:p>
          <a:p>
            <a:pPr>
              <a:spcBef>
                <a:spcPts val="400"/>
              </a:spcBef>
              <a:buChar char="•"/>
            </a:pPr>
            <a:r>
              <a:rPr>
                <a:latin typeface="Arial"/>
              </a:rPr>
              <a:t>Youth and skills initiatives</a:t>
            </a:r>
          </a:p>
        </p:txBody>
      </p:sp>
      <p:sp>
        <p:nvSpPr>
          <p:cNvPr id="4" name="Text Placeholder 3"/>
          <p:cNvSpPr>
            <a:spLocks noGrp="1"/>
          </p:cNvSpPr>
          <p:nvPr>
            <p:ph type="body" idx="12" sz="quarter"/>
          </p:nvPr>
        </p:nvSpPr>
        <p:spPr/>
        <p:txBody>
          <a:bodyPr/>
          <a:lstStyle/>
          <a:p>
            <a:pPr>
              <a:spcBef>
                <a:spcPts val="400"/>
              </a:spcBef>
              <a:buChar char="•"/>
            </a:pPr>
            <a:r>
              <a:rPr>
                <a:latin typeface="Arial"/>
              </a:rPr>
              <a:t>Welsh SME and social enterprise partnerships</a:t>
            </a:r>
          </a:p>
          <a:p>
            <a:pPr>
              <a:spcBef>
                <a:spcPts val="400"/>
              </a:spcBef>
              <a:buChar char="•"/>
            </a:pPr>
            <a:r>
              <a:rPr>
                <a:latin typeface="Arial"/>
              </a:rPr>
              <a:t>Bilingual service delivery</a:t>
            </a:r>
          </a:p>
          <a:p>
            <a:pPr>
              <a:spcBef>
                <a:spcPts val="400"/>
              </a:spcBef>
              <a:buChar char="•"/>
            </a:pPr>
            <a:r>
              <a:rPr>
                <a:latin typeface="Arial"/>
              </a:rPr>
              <a:t>Digital skills in schools</a:t>
            </a:r>
          </a:p>
          <a:p>
            <a:pPr>
              <a:spcBef>
                <a:spcPts val="400"/>
              </a:spcBef>
              <a:buChar char="•"/>
            </a:pPr>
            <a:r>
              <a:rPr>
                <a:latin typeface="Arial"/>
              </a:rPr>
              <a:t>Transparent reporting and measurable outcomes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Sustainability &amp; social value performance monitoring</a:t>
            </a:r>
          </a:p>
        </p:txBody>
      </p:sp>
      <p:sp>
        <p:nvSpPr>
          <p:cNvPr id="3" name="Text Placeholder 2"/>
          <p:cNvSpPr>
            <a:spLocks noGrp="1"/>
          </p:cNvSpPr>
          <p:nvPr>
            <p:ph type="body" idx="12" sz="quarter"/>
          </p:nvPr>
        </p:nvSpPr>
        <p:spPr/>
        <p:txBody>
          <a:bodyPr/>
          <a:lstStyle/>
          <a:p>
            <a:pPr>
              <a:spcBef>
                <a:spcPts val="400"/>
              </a:spcBef>
              <a:buChar char="•"/>
            </a:pPr>
            <a:r>
              <a:rPr>
                <a:latin typeface="Arial"/>
              </a:rPr>
              <a:t>KPIs: carbon impact, supplier participation, skills uplift</a:t>
            </a:r>
          </a:p>
          <a:p>
            <a:pPr>
              <a:spcBef>
                <a:spcPts val="400"/>
              </a:spcBef>
              <a:buChar char="•"/>
            </a:pPr>
            <a:r>
              <a:rPr>
                <a:latin typeface="Arial"/>
              </a:rPr>
              <a:t>Structured reporting aligned to governance framework</a:t>
            </a:r>
          </a:p>
          <a:p>
            <a:pPr>
              <a:spcBef>
                <a:spcPts val="400"/>
              </a:spcBef>
              <a:buChar char="•"/>
            </a:pPr>
            <a:r>
              <a:rPr>
                <a:latin typeface="Arial"/>
              </a:rPr>
              <a:t>Commitments scaled to engagement size for lasting impact</a:t>
            </a:r>
          </a:p>
          <a:p>
            <a:pPr>
              <a:spcBef>
                <a:spcPts val="400"/>
              </a:spcBef>
              <a:buChar char="•"/>
            </a:pPr>
            <a:r>
              <a:rPr>
                <a:latin typeface="Arial"/>
              </a:rPr>
              <a:t>Continuous improvement with transparent outcomes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Commercial Approach</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Flexible commercial models for DDaT delivery</a:t>
            </a:r>
          </a:p>
        </p:txBody>
      </p:sp>
      <p:sp>
        <p:nvSpPr>
          <p:cNvPr id="3" name="Text Placeholder 2"/>
          <p:cNvSpPr>
            <a:spLocks noGrp="1"/>
          </p:cNvSpPr>
          <p:nvPr>
            <p:ph type="body" idx="13" sz="quarter"/>
          </p:nvPr>
        </p:nvSpPr>
        <p:spPr/>
        <p:txBody>
          <a:bodyPr/>
          <a:lstStyle/>
          <a:p>
            <a:pPr>
              <a:spcBef>
                <a:spcPts val="400"/>
              </a:spcBef>
              <a:buChar char="•"/>
            </a:pPr>
            <a:r>
              <a:rPr>
                <a:latin typeface="Arial"/>
              </a:rPr>
              <a:t>Time &amp; Materials: flexible for discovery phases</a:t>
            </a:r>
          </a:p>
          <a:p>
            <a:pPr>
              <a:spcBef>
                <a:spcPts val="400"/>
              </a:spcBef>
              <a:buChar char="•"/>
            </a:pPr>
            <a:r>
              <a:rPr>
                <a:latin typeface="Arial"/>
              </a:rPr>
              <a:t>Fixed Price: predictable for stable requirements</a:t>
            </a:r>
          </a:p>
          <a:p>
            <a:pPr>
              <a:spcBef>
                <a:spcPts val="400"/>
              </a:spcBef>
              <a:buChar char="•"/>
            </a:pPr>
            <a:r>
              <a:rPr>
                <a:latin typeface="Arial"/>
              </a:rPr>
              <a:t>Fixed Capacity: balanced agility and cost certainty</a:t>
            </a:r>
          </a:p>
        </p:txBody>
      </p:sp>
      <p:sp>
        <p:nvSpPr>
          <p:cNvPr id="4" name="Text Placeholder 3"/>
          <p:cNvSpPr>
            <a:spLocks noGrp="1"/>
          </p:cNvSpPr>
          <p:nvPr>
            <p:ph type="body" idx="12" sz="quarter"/>
          </p:nvPr>
        </p:nvSpPr>
        <p:spPr/>
        <p:txBody>
          <a:bodyPr/>
          <a:lstStyle/>
          <a:p>
            <a:pPr>
              <a:spcBef>
                <a:spcPts val="400"/>
              </a:spcBef>
              <a:buChar char="•"/>
            </a:pPr>
            <a:r>
              <a:rPr>
                <a:latin typeface="Arial"/>
              </a:rPr>
              <a:t>Supplier-led: managed platforms and operational services</a:t>
            </a:r>
          </a:p>
          <a:p>
            <a:pPr>
              <a:spcBef>
                <a:spcPts val="400"/>
              </a:spcBef>
              <a:buChar char="•"/>
            </a:pPr>
            <a:r>
              <a:rPr>
                <a:latin typeface="Arial"/>
              </a:rPr>
              <a:t>Blended delivery: buyer and supplier teams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Rate card and discount assumptions</a:t>
            </a:r>
          </a:p>
        </p:txBody>
      </p:sp>
      <p:sp>
        <p:nvSpPr>
          <p:cNvPr id="3" name="Text Placeholder 2"/>
          <p:cNvSpPr>
            <a:spLocks noGrp="1"/>
          </p:cNvSpPr>
          <p:nvPr>
            <p:ph type="body" idx="12" sz="quarter"/>
          </p:nvPr>
        </p:nvSpPr>
        <p:spPr/>
        <p:txBody>
          <a:bodyPr/>
          <a:lstStyle/>
          <a:p>
            <a:pPr>
              <a:spcBef>
                <a:spcPts val="400"/>
              </a:spcBef>
              <a:buChar char="•"/>
            </a:pPr>
            <a:r>
              <a:rPr>
                <a:latin typeface="Arial"/>
              </a:rPr>
              <a:t>Standard role definitions and inclusive delivery costs</a:t>
            </a:r>
          </a:p>
          <a:p>
            <a:pPr>
              <a:spcBef>
                <a:spcPts val="400"/>
              </a:spcBef>
              <a:buChar char="•"/>
            </a:pPr>
            <a:r>
              <a:rPr>
                <a:latin typeface="Arial"/>
              </a:rPr>
              <a:t>8-hour working day; normal delivery environments</a:t>
            </a:r>
          </a:p>
          <a:p>
            <a:pPr>
              <a:spcBef>
                <a:spcPts val="400"/>
              </a:spcBef>
              <a:buChar char="•"/>
            </a:pPr>
            <a:r>
              <a:rPr>
                <a:latin typeface="Arial"/>
              </a:rPr>
              <a:t>Innovation fund contribution included</a:t>
            </a:r>
          </a:p>
          <a:p>
            <a:pPr>
              <a:spcBef>
                <a:spcPts val="400"/>
              </a:spcBef>
              <a:buChar char="•"/>
            </a:pPr>
            <a:r>
              <a:rPr>
                <a:latin typeface="Arial"/>
              </a:rPr>
              <a:t>Rates refined at call-off for specialist needs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fund governance</a:t>
            </a:r>
          </a:p>
        </p:txBody>
      </p:sp>
      <p:sp>
        <p:nvSpPr>
          <p:cNvPr id="3" name="Text Placeholder 2"/>
          <p:cNvSpPr>
            <a:spLocks noGrp="1"/>
          </p:cNvSpPr>
          <p:nvPr>
            <p:ph type="body" idx="13" sz="quarter"/>
          </p:nvPr>
        </p:nvSpPr>
        <p:spPr/>
        <p:txBody>
          <a:bodyPr/>
          <a:lstStyle/>
          <a:p>
            <a:pPr>
              <a:spcBef>
                <a:spcPts val="400"/>
              </a:spcBef>
              <a:buChar char="•"/>
            </a:pPr>
            <a:r>
              <a:rPr>
                <a:latin typeface="Arial"/>
              </a:rPr>
              <a:t>Clear, transparent eligibility</a:t>
            </a:r>
          </a:p>
          <a:p>
            <a:pPr>
              <a:spcBef>
                <a:spcPts val="400"/>
              </a:spcBef>
              <a:buChar char="•"/>
            </a:pPr>
            <a:r>
              <a:rPr>
                <a:latin typeface="Arial"/>
              </a:rPr>
              <a:t>Balanced access to funding</a:t>
            </a:r>
          </a:p>
          <a:p>
            <a:pPr>
              <a:spcBef>
                <a:spcPts val="400"/>
              </a:spcBef>
              <a:buChar char="•"/>
            </a:pPr>
            <a:r>
              <a:rPr>
                <a:latin typeface="Arial"/>
              </a:rPr>
              <a:t>Impact-based funding decisions</a:t>
            </a:r>
          </a:p>
          <a:p>
            <a:pPr>
              <a:spcBef>
                <a:spcPts val="400"/>
              </a:spcBef>
              <a:buChar char="•"/>
            </a:pPr>
            <a:r>
              <a:rPr>
                <a:latin typeface="Arial"/>
              </a:rPr>
              <a:t>Collaborative innovation support</a:t>
            </a:r>
          </a:p>
        </p:txBody>
      </p:sp>
      <p:sp>
        <p:nvSpPr>
          <p:cNvPr id="4" name="Text Placeholder 3"/>
          <p:cNvSpPr>
            <a:spLocks noGrp="1"/>
          </p:cNvSpPr>
          <p:nvPr>
            <p:ph type="body" idx="12" sz="quarter"/>
          </p:nvPr>
        </p:nvSpPr>
        <p:spPr/>
        <p:txBody>
          <a:bodyPr/>
          <a:lstStyle/>
          <a:p>
            <a:pPr>
              <a:spcBef>
                <a:spcPts val="400"/>
              </a:spcBef>
              <a:buChar char="•"/>
            </a:pPr>
            <a:r>
              <a:rPr>
                <a:latin typeface="Arial"/>
              </a:rPr>
              <a:t>Joint governance group with customer oversight</a:t>
            </a:r>
          </a:p>
          <a:p>
            <a:pPr>
              <a:spcBef>
                <a:spcPts val="400"/>
              </a:spcBef>
              <a:buChar char="•"/>
            </a:pPr>
            <a:r>
              <a:rPr>
                <a:latin typeface="Arial"/>
              </a:rPr>
              <a:t>Visible criteria, scoring, and rationale</a:t>
            </a:r>
          </a:p>
          <a:p>
            <a:pPr>
              <a:spcBef>
                <a:spcPts val="400"/>
              </a:spcBef>
              <a:buChar char="•"/>
            </a:pPr>
            <a:r>
              <a:rPr>
                <a:latin typeface="Arial"/>
              </a:rPr>
              <a:t>Periodic review and adjustment</a:t>
            </a:r>
          </a:p>
          <a:p>
            <a:pPr>
              <a:spcBef>
                <a:spcPts val="400"/>
              </a:spcBef>
              <a:buChar char="•"/>
            </a:pPr>
            <a:r>
              <a:rPr>
                <a:latin typeface="Arial"/>
              </a:rPr>
              <a:t>Structured participation and open outcomes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7: Close &amp; Next Steps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mobilise NRW and suppliers for discovery</a:t>
            </a:r>
          </a:p>
        </p:txBody>
      </p:sp>
      <p:sp>
        <p:nvSpPr>
          <p:cNvPr id="3" name="Text Placeholder 2"/>
          <p:cNvSpPr>
            <a:spLocks noGrp="1"/>
          </p:cNvSpPr>
          <p:nvPr>
            <p:ph type="body" idx="13" sz="quarter"/>
          </p:nvPr>
        </p:nvSpPr>
        <p:spPr/>
        <p:txBody>
          <a:bodyPr/>
          <a:lstStyle/>
          <a:p>
            <a:pPr>
              <a:spcBef>
                <a:spcPts val="400"/>
              </a:spcBef>
              <a:buChar char="•"/>
            </a:pPr>
            <a:r>
              <a:rPr>
                <a:latin typeface="Arial"/>
              </a:rPr>
              <a:t>IBM: issue final commercial proposal</a:t>
            </a:r>
          </a:p>
          <a:p>
            <a:pPr>
              <a:spcBef>
                <a:spcPts val="400"/>
              </a:spcBef>
              <a:buChar char="•"/>
            </a:pPr>
            <a:r>
              <a:rPr>
                <a:latin typeface="Arial"/>
              </a:rPr>
              <a:t>IBM: schedule discovery kickoff workshop</a:t>
            </a:r>
          </a:p>
          <a:p>
            <a:pPr>
              <a:spcBef>
                <a:spcPts val="400"/>
              </a:spcBef>
              <a:buChar char="•"/>
            </a:pPr>
            <a:r>
              <a:rPr>
                <a:latin typeface="Arial"/>
              </a:rPr>
              <a:t>Stable: confirm Welsh delivery team availability</a:t>
            </a:r>
          </a:p>
          <a:p>
            <a:pPr>
              <a:spcBef>
                <a:spcPts val="400"/>
              </a:spcBef>
              <a:buChar char="•"/>
            </a:pPr>
            <a:r>
              <a:rPr>
                <a:latin typeface="Arial"/>
              </a:rPr>
              <a:t>IBM/Stable: prepare onboarding materials</a:t>
            </a:r>
          </a:p>
        </p:txBody>
      </p:sp>
      <p:sp>
        <p:nvSpPr>
          <p:cNvPr id="4" name="Text Placeholder 3"/>
          <p:cNvSpPr>
            <a:spLocks noGrp="1"/>
          </p:cNvSpPr>
          <p:nvPr>
            <p:ph type="body" idx="12" sz="quarter"/>
          </p:nvPr>
        </p:nvSpPr>
        <p:spPr/>
        <p:txBody>
          <a:bodyPr/>
          <a:lstStyle/>
          <a:p>
            <a:pPr>
              <a:spcBef>
                <a:spcPts val="400"/>
              </a:spcBef>
              <a:buChar char="•"/>
            </a:pPr>
            <a:r>
              <a:rPr>
                <a:latin typeface="Arial"/>
              </a:rPr>
              <a:t>NRW: confirm stakeholder availability</a:t>
            </a:r>
          </a:p>
          <a:p>
            <a:pPr>
              <a:spcBef>
                <a:spcPts val="400"/>
              </a:spcBef>
              <a:buChar char="•"/>
            </a:pPr>
            <a:r>
              <a:rPr>
                <a:latin typeface="Arial"/>
              </a:rPr>
              <a:t>NRW: share system inventory &amp; data dictionary</a:t>
            </a:r>
          </a:p>
          <a:p>
            <a:pPr>
              <a:spcBef>
                <a:spcPts val="400"/>
              </a:spcBef>
              <a:buChar char="•"/>
            </a:pPr>
            <a:r>
              <a:rPr>
                <a:latin typeface="Arial"/>
              </a:rPr>
              <a:t>NRW: align on innovation window hypotheses</a:t>
            </a:r>
          </a:p>
          <a:p>
            <a:pPr>
              <a:spcBef>
                <a:spcPts val="400"/>
              </a:spcBef>
              <a:buChar char="•"/>
            </a:pPr>
            <a:r>
              <a:rPr>
                <a:latin typeface="Arial"/>
              </a:rPr>
              <a:t>NRW: review sustainability &amp; social value KPIs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Text Placeholder 2"/>
          <p:cNvSpPr>
            <a:spLocks noGrp="1"/>
          </p:cNvSpPr>
          <p:nvPr>
            <p:ph type="body" idx="13" sz="quarter"/>
          </p:nvPr>
        </p:nvSpPr>
        <p:spPr/>
        <p:txBody>
          <a:bodyPr/>
          <a:lstStyle/>
          <a:p>
            <a:pPr>
              <a:spcBef>
                <a:spcPts val="400"/>
              </a:spcBef>
            </a:pPr>
            <a:r>
              <a:rPr>
                <a:latin typeface="Arial"/>
              </a:rPr>
              <a:t>Contact us</a:t>
            </a:r>
            <a:br/>
            <a:br/>
            <a:r>
              <a:rPr>
                <a:latin typeface="Arial"/>
              </a:rPr>
              <a:t>Dave Aspden — Stable CEO</a:t>
            </a:r>
            <a:br/>
            <a:r>
              <a:rPr>
                <a:latin typeface="Arial"/>
              </a:rPr>
              <a:t>dave@stable.co.uk</a:t>
            </a:r>
            <a:br/>
            <a:br/>
            <a:r>
              <a:rPr>
                <a:latin typeface="Arial"/>
              </a:rPr>
              <a:t>Phil Davenport — IBM Client Delivery Partner</a:t>
            </a:r>
            <a:br/>
            <a:r>
              <a:rPr>
                <a:latin typeface="Arial"/>
              </a:rPr>
              <a:t>philip.davenport@ibm.com</a:t>
            </a:r>
            <a:br/>
            <a:br/>
            <a:r>
              <a:rPr>
                <a:latin typeface="Arial"/>
              </a:rPr>
              <a:t>David Rowley — IBM Microsoft Practice CTO</a:t>
            </a:r>
            <a:br/>
            <a:r>
              <a:rPr>
                <a:latin typeface="Arial"/>
              </a:rPr>
              <a:t>david.rowley@ibm.com</a:t>
            </a:r>
            <a:br/>
            <a:br/>
            <a:r>
              <a:rPr>
                <a:latin typeface="Arial"/>
              </a:rPr>
              <a:t>Ryan Lewis — Stable CTO/MD</a:t>
            </a:r>
            <a:br/>
            <a:r>
              <a:rPr>
                <a:latin typeface="Arial"/>
              </a:rPr>
              <a:t>ryan@stable.co.uk</a:t>
            </a:r>
          </a:p>
        </p:txBody>
      </p:sp>
      <p:sp>
        <p:nvSpPr>
          <p:cNvPr id="4" name="Text Placeholder 3"/>
          <p:cNvSpPr>
            <a:spLocks noGrp="1"/>
          </p:cNvSpPr>
          <p:nvPr>
            <p:ph type="body" idx="14" sz="quarter"/>
          </p:nvPr>
        </p:nvSpPr>
        <p:spPr/>
        <p:txBody>
          <a:bodyPr/>
          <a:lstStyle/>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BM Brand Template 2022">
  <a:themeElements>
    <a:clrScheme name="IBM brand presentation palette 2022">
      <a:dk1>
        <a:srgbClr val="FFFFFF"/>
      </a:dk1>
      <a:lt1>
        <a:srgbClr val="000000"/>
      </a:lt1>
      <a:dk2>
        <a:srgbClr val="E5F6FF"/>
      </a:dk2>
      <a:lt2>
        <a:srgbClr val="F4F4F4"/>
      </a:lt2>
      <a:accent1>
        <a:srgbClr val="002D9C"/>
      </a:accent1>
      <a:accent2>
        <a:srgbClr val="0F62FE"/>
      </a:accent2>
      <a:accent3>
        <a:srgbClr val="82CFFF"/>
      </a:accent3>
      <a:accent4>
        <a:srgbClr val="9EF0F0"/>
      </a:accent4>
      <a:accent5>
        <a:srgbClr val="E0E0E0"/>
      </a:accent5>
      <a:accent6>
        <a:srgbClr val="FCF4D6"/>
      </a:accent6>
      <a:hlink>
        <a:srgbClr val="0F62FE"/>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System Font Regular"/>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lIns="91440" tIns="91440" rIns="91440" bIns="91440" rtlCol="0">
        <a:spAutoFit/>
      </a:bodyPr>
      <a:lstStyle>
        <a:defPPr marL="173736" indent="-173736" algn="l">
          <a:spcBef>
            <a:spcPts val="1100"/>
          </a:spcBef>
          <a:buFont typeface="System Font Regular"/>
          <a:buChar char="–"/>
          <a:defRPr sz="1400" dirty="0" smtClean="0">
            <a:solidFill>
              <a:schemeClr val="tx1"/>
            </a:solidFill>
            <a:latin typeface="+mn-lt"/>
            <a:ea typeface="Arial" charset="0"/>
            <a:cs typeface="Arial" charset="0"/>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50">
      <a:srgbClr val="FA4D56"/>
    </a:custClr>
    <a:custClr name="Red 40">
      <a:srgbClr val="FF8389"/>
    </a:custClr>
    <a:custClr name="Red 30">
      <a:srgbClr val="FFB3B8"/>
    </a:custClr>
    <a:custClr name="Red 20">
      <a:srgbClr val="FFD7D9"/>
    </a:custClr>
    <a:custClr name="Red 10">
      <a:srgbClr val="FFF1F1"/>
    </a:custClr>
    <a:custClr name="Purple 50">
      <a:srgbClr val="A56EFF"/>
    </a:custClr>
    <a:custClr name="Purple 40">
      <a:srgbClr val="BE95FF"/>
    </a:custClr>
    <a:custClr name="Purple 30">
      <a:srgbClr val="D4BBFF"/>
    </a:custClr>
    <a:custClr name="Purple 20">
      <a:srgbClr val="E8DAFF"/>
    </a:custClr>
    <a:custClr name="Purple 10">
      <a:srgbClr val="F6F2FF"/>
    </a:custClr>
    <a:custClr name="Green 30">
      <a:srgbClr val="6FDC8C"/>
    </a:custClr>
    <a:custClr name="Green 20">
      <a:srgbClr val="A7F0BA"/>
    </a:custClr>
    <a:custClr name="Green 10">
      <a:srgbClr val="DEFBE6"/>
    </a:custClr>
    <a:custClr name="Yellow 20">
      <a:srgbClr val="FDDC69"/>
    </a:custClr>
    <a:custClr name="Yellow 10">
      <a:srgbClr val="FCF4D6"/>
    </a:custClr>
    <a:custClr name="Teal 50">
      <a:srgbClr val="009D9A"/>
    </a:custClr>
    <a:custClr name="Teal 40">
      <a:srgbClr val="08BDBA"/>
    </a:custClr>
    <a:custClr name="Teal 30">
      <a:srgbClr val="3DDBD9"/>
    </a:custClr>
    <a:custClr name="Teal 20">
      <a:srgbClr val="9EF0F0"/>
    </a:custClr>
    <a:custClr name="Teal 10">
      <a:srgbClr val="D9FBFB"/>
    </a:custClr>
  </a:custClrLst>
  <a:extLst>
    <a:ext uri="{05A4C25C-085E-4340-85A3-A5531E510DB2}">
      <thm15:themeFamily xmlns:thm15="http://schemas.microsoft.com/office/thememl/2012/main" name="IBM_Consulting_Master_Presentation_2021_V02_Arial" id="{B2C576C2-600E-F64A-B9E3-D1962F0CA4D8}" vid="{07FDF6E9-F782-6448-8CF6-F1EBA0EAB26E}"/>
    </a:ext>
  </a:extLst>
</a:theme>
</file>

<file path=ppt/theme/theme2.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02670"/>
      </a:accent3>
      <a:accent4>
        <a:srgbClr val="8A3FFC"/>
      </a:accent4>
      <a:accent5>
        <a:srgbClr val="007D79"/>
      </a:accent5>
      <a:accent6>
        <a:srgbClr val="697077"/>
      </a:accent6>
      <a:hlink>
        <a:srgbClr val="4589FF"/>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Arial"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Arial" charset="0"/>
            <a:ea typeface="Arial" charset="0"/>
            <a:cs typeface="Arial"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ppt/theme/theme3.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02670"/>
      </a:accent3>
      <a:accent4>
        <a:srgbClr val="8A3FFC"/>
      </a:accent4>
      <a:accent5>
        <a:srgbClr val="007D79"/>
      </a:accent5>
      <a:accent6>
        <a:srgbClr val="697077"/>
      </a:accent6>
      <a:hlink>
        <a:srgbClr val="4589FF"/>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Arial"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Arial" charset="0"/>
            <a:ea typeface="Arial" charset="0"/>
            <a:cs typeface="Arial"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docProps/app.xml><?xml version="1.0" encoding="utf-8"?>
<Properties xmlns="http://schemas.openxmlformats.org/officeDocument/2006/extended-properties" xmlns:vt="http://schemas.openxmlformats.org/officeDocument/2006/docPropsVTypes">
  <Template/>
  <TotalTime>91</TotalTime>
  <Words>6653</Words>
  <Application>Microsoft Macintosh PowerPoint</Application>
  <PresentationFormat>On-screen Show (16:9)</PresentationFormat>
  <Paragraphs>1058</Paragraphs>
  <Slides>92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92</vt:i4>
      </vt:variant>
    </vt:vector>
  </HeadingPairs>
  <TitlesOfParts>
    <vt:vector size="97" baseType="lpstr">
      <vt:lpstr>Arial</vt:lpstr>
      <vt:lpstr>IBM Plex Sans</vt:lpstr>
      <vt:lpstr>IBM Plex Sans Light</vt:lpstr>
      <vt:lpstr>Wingdings</vt:lpstr>
      <vt:lpstr>IBM Brand Template 2022</vt:lpstr>
      <vt:lpstr>Welcome to the  IBM Consulting  Presentation Template — Arial variant</vt:lpstr>
      <vt:lpstr>About this template</vt:lpstr>
      <vt:lpstr>Master pages</vt:lpstr>
      <vt:lpstr>Master slide type categories</vt:lpstr>
      <vt:lpstr>Background colors</vt:lpstr>
      <vt:lpstr>Guides and grid alignment</vt:lpstr>
      <vt:lpstr>Tick marks</vt:lpstr>
      <vt:lpstr>Color palette</vt:lpstr>
      <vt:lpstr>Theme and custom colors</vt:lpstr>
      <vt:lpstr>Bulleted lists</vt:lpstr>
      <vt:lpstr>Editing footers</vt:lpstr>
      <vt:lpstr>Master presentation template on image background 1, 3 line maximum, sentence case — First Lastname Job Title</vt:lpstr>
      <vt:lpstr>Master presentation template on image background 2, 3 line maximum, sentence case — First Lastname Job Title</vt:lpstr>
      <vt:lpstr>Master presentation template on image background 7, 3 line maximum, sentence case — First Lastname Job Title</vt:lpstr>
      <vt:lpstr>Master presentation template on image background 8, 3 line maximum, sentence case — First Lastname Job Title</vt:lpstr>
      <vt:lpstr>Master presentation template on image background 8, 3 line maximum, sentence case — First Lastname Job Title</vt:lpstr>
      <vt:lpstr>Master presentation template on image background 8, 3 line maximum, sentence case — First Lastname Job Title</vt:lpstr>
      <vt:lpstr>Master presentation template on gray background, 3 line maximum, sentence case — First Lastname Job Title</vt:lpstr>
      <vt:lpstr>Master presentation template on yellow background, 3 line maximum, sentence case — First Lastname Job Title</vt:lpstr>
      <vt:lpstr>Master presentation template on cyan background, 3 line maximum, sentence case — First Lastname Job Title</vt:lpstr>
      <vt:lpstr>Master presentation template on cyan split background, 3 line maximum, sentence case — First Lastname Job Title</vt:lpstr>
      <vt:lpstr>PowerPoint Presentation</vt:lpstr>
      <vt:lpstr>PowerPoint Presentation</vt:lpstr>
      <vt:lpstr>PowerPoint Presentation</vt:lpstr>
      <vt:lpstr>PowerPoint Presentation</vt:lpstr>
      <vt:lpstr>PowerPoint Presentation</vt:lpstr>
      <vt:lpstr>Contents</vt:lpstr>
      <vt:lpstr>Contents</vt:lpstr>
      <vt:lpstr>Part or section divider  with highlighted type</vt:lpstr>
      <vt:lpstr>Part or section divider  with highlighted type</vt:lpstr>
      <vt:lpstr>Section divider with page contents</vt:lpstr>
      <vt:lpstr>Section divider</vt:lpstr>
      <vt:lpstr>Fact with small description acting as headline or title of the page</vt:lpstr>
      <vt:lpstr>Fact with small description acting as headline or title with image</vt:lpstr>
      <vt:lpstr>Go simple and big if possible</vt:lpstr>
      <vt:lpstr>Go simple and big if possible</vt:lpstr>
      <vt:lpstr>“Design is a plan for arranging  elements in such a way as best to accomplish a particular purpose.”  Charles Eames The Information Machine, 1964</vt:lpstr>
      <vt:lpstr>PowerPoint Presentation</vt:lpstr>
      <vt:lpstr>Text goes here lorem ipsum</vt:lpstr>
      <vt:lpstr>Headline</vt:lpstr>
      <vt:lpstr>Headline</vt:lpstr>
      <vt:lpstr>Headline</vt:lpstr>
      <vt:lpstr>Headline</vt:lpstr>
      <vt:lpstr>Headline</vt:lpstr>
      <vt:lpstr>Headline</vt:lpstr>
      <vt:lpstr>Headline</vt:lpstr>
      <vt:lpstr>Headline</vt:lpstr>
      <vt:lpstr>Headline</vt:lpstr>
      <vt:lpstr>Headline</vt:lpstr>
      <vt:lpstr>Lorem ipsum dolor sit amet donec quam felis ultricies nec eu pellentesque pretium quis sem. Nulla consequat massa quis enim. </vt:lpstr>
      <vt:lpstr>Lorem ipsum dolor sit amet donec quam felis ultricies</vt:lpstr>
      <vt:lpstr>Boxes (4 tall)</vt:lpstr>
      <vt:lpstr>Headline</vt:lpstr>
      <vt:lpstr>Combined pie charts (unlabeled)</vt:lpstr>
      <vt:lpstr>Table</vt:lpstr>
      <vt:lpstr>Simplified pie chart (unlabeled)</vt:lpstr>
      <vt:lpstr>Case study (option 1)</vt:lpstr>
      <vt:lpstr>Case study (option 2)</vt:lpstr>
      <vt:lpstr>The team</vt:lpstr>
      <vt:lpstr>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IBM sign-off</vt:lpstr>
      <vt:lpstr>Organizational chart</vt:lpstr>
      <vt:lpstr>Proposed client project structure</vt:lpstr>
      <vt:lpstr>Value tree</vt:lpstr>
      <vt:lpstr>Value tree (complex)</vt:lpstr>
      <vt:lpstr>Graph template</vt:lpstr>
      <vt:lpstr>RACI table</vt:lpstr>
      <vt:lpstr>Portfolio matrix</vt:lpstr>
      <vt:lpstr>Strategy overview</vt:lpstr>
      <vt:lpstr>Combined pie charts (unlabeled)</vt:lpstr>
      <vt:lpstr>Simplified pie chart (unlabeled)</vt:lpstr>
      <vt:lpstr>Opportunity prioritization matrix</vt:lpstr>
      <vt:lpstr>Performance health check framework</vt:lpstr>
      <vt:lpstr>Stacked 3-layer  pyramid </vt:lpstr>
      <vt:lpstr>Stacked 3-layer  pyramid with list</vt:lpstr>
      <vt:lpstr>Puzzle piece detail  (stacked)</vt:lpstr>
      <vt:lpstr>Puzzle piece detail  (horizontal)</vt:lpstr>
      <vt:lpstr>World (editable)</vt:lpstr>
      <vt:lpstr>World (editable with  location markers)</vt:lpstr>
      <vt:lpstr>Color palette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IBM Presentation Template — Arial variant</dc:title>
  <dc:creator>Lucas Souza</dc:creator>
  <cp:lastModifiedBy>Katie Andresen</cp:lastModifiedBy>
  <cp:revision>9</cp:revision>
  <cp:lastPrinted>2019-04-25T15:14:05Z</cp:lastPrinted>
  <dcterms:created xsi:type="dcterms:W3CDTF">2022-03-31T19:33:22Z</dcterms:created>
  <dcterms:modified xsi:type="dcterms:W3CDTF">2022-04-01T00:26:21Z</dcterms:modified>
</cp:coreProperties>
</file>