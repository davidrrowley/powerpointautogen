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672E31BB-9F53-944C-AFF7-1F240E61BE18}">
          <p14:sldIdLst>
            <p14:sldId id="262"/>
            <p14:sldId id="256"/>
            <p14:sldId id="258"/>
            <p14:sldId id="336"/>
            <p14:sldId id="360"/>
            <p14:sldId id="261"/>
            <p14:sldId id="349"/>
            <p14:sldId id="265"/>
            <p14:sldId id="257"/>
            <p14:sldId id="266"/>
            <p14:sldId id="264"/>
          </p14:sldIdLst>
        </p14:section>
        <p14:section name="Covers and front matter designs" id="{591A3328-AB40-EB40-8371-0BE8997D5ECA}">
          <p14:sldIdLst>
            <p14:sldId id="269"/>
            <p14:sldId id="383"/>
            <p14:sldId id="386"/>
            <p14:sldId id="387"/>
            <p14:sldId id="388"/>
            <p14:sldId id="389"/>
            <p14:sldId id="361"/>
            <p14:sldId id="363"/>
            <p14:sldId id="362"/>
            <p14:sldId id="275"/>
            <p14:sldId id="395"/>
            <p14:sldId id="396"/>
            <p14:sldId id="397"/>
            <p14:sldId id="398"/>
            <p14:sldId id="399"/>
            <p14:sldId id="281"/>
            <p14:sldId id="370"/>
            <p14:sldId id="283"/>
            <p14:sldId id="364"/>
            <p14:sldId id="284"/>
            <p14:sldId id="285"/>
          </p14:sldIdLst>
        </p14:section>
        <p14:section name="Sample slides" id="{FE79D234-09B0-7A4C-9C40-866AE14B99F0}">
          <p14:sldIdLst>
            <p14:sldId id="286"/>
            <p14:sldId id="287"/>
            <p14:sldId id="288"/>
            <p14:sldId id="365"/>
            <p14:sldId id="290"/>
            <p14:sldId id="291"/>
            <p14:sldId id="292"/>
            <p14:sldId id="293"/>
            <p14:sldId id="294"/>
            <p14:sldId id="295"/>
            <p14:sldId id="296"/>
            <p14:sldId id="410"/>
            <p14:sldId id="297"/>
            <p14:sldId id="298"/>
            <p14:sldId id="299"/>
            <p14:sldId id="304"/>
            <p14:sldId id="300"/>
            <p14:sldId id="301"/>
            <p14:sldId id="302"/>
            <p14:sldId id="303"/>
            <p14:sldId id="305"/>
            <p14:sldId id="381"/>
            <p14:sldId id="306"/>
            <p14:sldId id="382"/>
            <p14:sldId id="327"/>
            <p14:sldId id="328"/>
            <p14:sldId id="326"/>
            <p14:sldId id="307"/>
            <p14:sldId id="411"/>
            <p14:sldId id="412"/>
            <p14:sldId id="400"/>
            <p14:sldId id="401"/>
            <p14:sldId id="402"/>
            <p14:sldId id="403"/>
            <p14:sldId id="404"/>
            <p14:sldId id="405"/>
            <p14:sldId id="406"/>
            <p14:sldId id="407"/>
            <p14:sldId id="377"/>
            <p14:sldId id="378"/>
            <p14:sldId id="308"/>
          </p14:sldIdLst>
        </p14:section>
        <p14:section name="Sample charts &amp; tables" id="{269F54EE-045D-8D4D-9D1D-F95D304254CD}">
          <p14:sldIdLst>
            <p14:sldId id="356"/>
            <p14:sldId id="310"/>
            <p14:sldId id="357"/>
            <p14:sldId id="342"/>
            <p14:sldId id="313"/>
            <p14:sldId id="316"/>
            <p14:sldId id="369"/>
            <p14:sldId id="318"/>
            <p14:sldId id="358"/>
            <p14:sldId id="359"/>
            <p14:sldId id="314"/>
            <p14:sldId id="347"/>
            <p14:sldId id="338"/>
            <p14:sldId id="339"/>
            <p14:sldId id="322"/>
            <p14:sldId id="323"/>
            <p14:sldId id="325"/>
            <p14:sldId id="324"/>
          </p14:sldIdLst>
        </p14:section>
        <p14:section name="Color palette" id="{65FF3ABE-B9F3-0A45-B4B2-DBFBFD1D9A4D}">
          <p14:sldIdLst>
            <p14:sldId id="36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initial proposal. This deck presents IBM Consulting and Stable's joint response, covering our differentiators, capabilities, approach to the Customer Platform and Website Innovation, sustainability, commercial model,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the structure of the presentation. Each section will address key aspects of our proposal, from joint delivery strengths to commercial terms and sustainability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delivery scale and specialist expertise with Stable's Welsh-based architectural and engineering talent. This blend ensures NRW benefits from both continuity and access to leading practices.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distinguish our approach from typical suppliers. We embed local teams, transfer knowledge proactively, and ensure delivery is governed yet agile, supporting NRW's goals for resilience and sustainable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transformation requires more than resource augmentation. Our blended model leverages local insight and global capability, ensuring both operational continuity and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Wales model is more than subcontracting. Stable is fully integrated, providing local presence and cultural alignment, while IBM brings specialist resources and delivery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IBM's strengths are rooted in delivering complex programmes across public sector and regulated domains. We combine technical depth with proven methods for capability uplift and governance.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span the full DDaT lifecycle, from service design to cloud engineering and agile delivery. Each area is aligned to NRW's requirements for modernisation and operational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structured at multiple levels to ensure strategic alignment, technical consistency, and proactive risk management. This model supports NRW's need for controlled,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demonstrates capability to deliver at scale, including regulated environments and Welsh public sector clients. These outcomes validate our approach and methods.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to establish a clear roadmap, validate user needs, and ground investment decisions in technical and delivery evidence. Local engagement ensures relevance and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delivers actionable artefacts, aligning platform evolution to NRW's outcomes and ensuring traceability from user needs to investment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organises NRW's Microsoft estate into cohesive layers, supporting modularity, API-first integration, and incremental modernisation. This structure reduces coupling and supports future change.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guide architectural decisions, ensuring scalability, resilience, and compliance. They reinforce separation of concerns and enable NRW to evolve the platform incrementally.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 faces three forms of data fragmentation. Our approach resolves these progressively, focusing on identity-led integration and unified customer records.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establish a governed integration framework, resolving identity and data fragmentation through incremental steps. Discovery validates feasibility and readiness before wider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proactively through structured profiling, governance, and incremental delivery. Organisational adoption and stakeholder engagement are critical to success.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are designed for cross-functional collaboration, combining technical and operational expertise. NRW staff are embedded to accelerate knowledge transfer and build sustainable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follows a risk-based, phased approach. Early involvement of sustainment resources ensures smooth transition to live operation and long-term platform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are integral to design and delivery. Testing is risk-based, and operability is prioritised. Knowledge transfer ensures NRW can sustain and improve services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is a structured experiment, not a mini-project. It aims to validate changes that improve usability, accessibility, and service outcomes within NRW's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adapts to the nature of each challenge, focusing on evidence generation and disciplined disposal of weak ideas. Stakeholder involvement is continuous.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builds on the previous, moving from problem definition to evidence-based decision making. The process is hypothesis-led and supports rapid learning.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measured by evidence, not opinion. The approach ensures only feasible, valuable changes progress, supporting NRW's objectives for user-centred, bilingual, accessible services.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Deliverables are practical and decision-oriented, providing NRW with actionable artefacts and evidence to inform future website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structured engagement, early testing, and evidence-led decision making. Assumptions include access to users, analytics, and technical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Sustainability and social value are integral to our delivery. We leverage cloud efficiencies, support local talent, and actively engage Welsh SMEs and charities.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commitment to social value is demonstrated through practical actions—internships, charity support, and skills initiatives. These efforts are tracked and reported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monitored through clear metrics and reporting. Commitments are scaled to engagement size, ensuring lasting impact across Wales.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and transparency. Models are selected based on requirement certainty, risk, and delivery needs.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structured for clarity and realism. Volume discounts reward sustained engagement, and models adapt to specialist requirements as needed.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fund is governed transparently, ensuring fair access and impact across contributors. Collaborative proposals and periodic reviews maintain trust and value.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focus on mobilisation, stakeholder engagement, and alignment on discovery and innovation activities. Early preparation supports smooth delivery initiation.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details for the presentation attendees are provided for follow-up. We welcome questions and further discussion on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Supplier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Joint Proposition</a:t>
            </a:r>
          </a:p>
          <a:p>
            <a:pPr>
              <a:spcBef>
                <a:spcPts val="400"/>
              </a:spcBef>
              <a:buChar char="•"/>
            </a:pPr>
            <a:r>
              <a:rPr>
                <a:latin typeface="Arial"/>
              </a:rPr>
              <a:t>2. Customer Capabilities</a:t>
            </a:r>
          </a:p>
          <a:p>
            <a:pPr>
              <a:spcBef>
                <a:spcPts val="400"/>
              </a:spcBef>
              <a:buChar char="•"/>
            </a:pPr>
            <a:r>
              <a:rPr>
                <a:latin typeface="Arial"/>
              </a:rPr>
              <a:t>3. Scenario 1: Customer Platform</a:t>
            </a:r>
          </a:p>
          <a:p>
            <a:pPr>
              <a:spcBef>
                <a:spcPts val="400"/>
              </a:spcBef>
              <a:buChar char="•"/>
            </a:pPr>
            <a:r>
              <a:rPr>
                <a:latin typeface="Arial"/>
              </a:rPr>
              <a:t>4. Scenario 2: Website Innovation</a:t>
            </a:r>
          </a:p>
          <a:p>
            <a:pPr>
              <a:spcBef>
                <a:spcPts val="400"/>
              </a:spcBef>
              <a:buChar char="•"/>
            </a:pPr>
            <a:r>
              <a:rPr>
                <a:latin typeface="Arial"/>
              </a:rPr>
              <a:t>5. Sustainability &amp; Social Value</a:t>
            </a:r>
          </a:p>
          <a:p>
            <a:pPr>
              <a:spcBef>
                <a:spcPts val="400"/>
              </a:spcBef>
              <a:buChar char="•"/>
            </a:pPr>
            <a:r>
              <a:rPr>
                <a:latin typeface="Arial"/>
              </a:rPr>
              <a:t>6. Commercial Approach</a:t>
            </a:r>
          </a:p>
          <a:p>
            <a:pPr>
              <a:spcBef>
                <a:spcPts val="400"/>
              </a:spcBef>
              <a:buChar char="•"/>
            </a:pPr>
            <a:r>
              <a:rPr>
                <a:latin typeface="Arial"/>
              </a:rPr>
              <a:t>7. Close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1: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and Stable: scale with local expertise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differentiators of our joint delivery model</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NRW needs a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Regulated delivery needs structured methods</a:t>
            </a:r>
          </a:p>
          <a:p>
            <a:pPr>
              <a:spcBef>
                <a:spcPts val="400"/>
              </a:spcBef>
              <a:buChar char="•"/>
            </a:pPr>
            <a:r>
              <a:rPr>
                <a:latin typeface="Arial"/>
              </a:rPr>
              <a:t>Multi-stakeholder context requires local engagement</a:t>
            </a:r>
          </a:p>
          <a:p>
            <a:pPr>
              <a:spcBef>
                <a:spcPts val="400"/>
              </a:spcBef>
              <a:buChar char="•"/>
            </a:pPr>
            <a:r>
              <a:rPr>
                <a:latin typeface="Arial"/>
              </a:rPr>
              <a:t>Preserve operational resilience during transformation</a:t>
            </a:r>
          </a:p>
        </p:txBody>
      </p:sp>
      <p:sp>
        <p:nvSpPr>
          <p:cNvPr id="4" name="Text Placeholder 3"/>
          <p:cNvSpPr>
            <a:spLocks noGrp="1"/>
          </p:cNvSpPr>
          <p:nvPr>
            <p:ph type="body" idx="12" sz="quarter"/>
          </p:nvPr>
        </p:nvSpPr>
        <p:spPr/>
        <p:txBody>
          <a:bodyPr/>
          <a:lstStyle/>
          <a:p>
            <a:pPr>
              <a:spcBef>
                <a:spcPts val="400"/>
              </a:spcBef>
              <a:buChar char="•"/>
            </a:pPr>
            <a:r>
              <a:rPr>
                <a:latin typeface="Arial"/>
              </a:rPr>
              <a:t>Capability uplift enables sustainable change</a:t>
            </a:r>
          </a:p>
          <a:p>
            <a:pPr>
              <a:spcBef>
                <a:spcPts val="400"/>
              </a:spcBef>
              <a:buChar char="•"/>
            </a:pPr>
            <a:r>
              <a:rPr>
                <a:latin typeface="Arial"/>
              </a:rPr>
              <a:t>Integrated teams accelerate delivery and reduce risk</a:t>
            </a:r>
          </a:p>
          <a:p>
            <a:pPr>
              <a:spcBef>
                <a:spcPts val="400"/>
              </a:spcBef>
              <a:buChar char="•"/>
            </a:pPr>
            <a:r>
              <a:rPr>
                <a:latin typeface="Arial"/>
              </a:rPr>
              <a:t>Local bilingual expertise meets language requirements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Wales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Stable local partner presence</a:t>
            </a:r>
          </a:p>
          <a:p>
            <a:pPr>
              <a:spcBef>
                <a:spcPts val="400"/>
              </a:spcBef>
              <a:buChar char="•"/>
            </a:pPr>
            <a:r>
              <a:rPr>
                <a:latin typeface="Arial"/>
              </a:rPr>
              <a:t>Welsh architecture &amp; engineering expertise</a:t>
            </a:r>
          </a:p>
          <a:p>
            <a:pPr>
              <a:spcBef>
                <a:spcPts val="400"/>
              </a:spcBef>
              <a:buChar char="•"/>
            </a:pPr>
            <a:r>
              <a:rPr>
                <a:latin typeface="Arial"/>
              </a:rPr>
              <a:t>Community and public-sector relationships</a:t>
            </a:r>
          </a:p>
          <a:p>
            <a:pPr>
              <a:spcBef>
                <a:spcPts val="400"/>
              </a:spcBef>
              <a:buChar char="•"/>
            </a:pPr>
            <a:r>
              <a:rPr>
                <a:latin typeface="Arial"/>
              </a:rPr>
              <a:t>Bilingual engagement and continuity</a:t>
            </a:r>
          </a:p>
        </p:txBody>
      </p:sp>
      <p:sp>
        <p:nvSpPr>
          <p:cNvPr id="4" name="Text Placeholder 3"/>
          <p:cNvSpPr>
            <a:spLocks noGrp="1"/>
          </p:cNvSpPr>
          <p:nvPr>
            <p:ph type="body" idx="12" sz="quarter"/>
          </p:nvPr>
        </p:nvSpPr>
        <p:spPr/>
        <p:txBody>
          <a:bodyPr/>
          <a:lstStyle/>
          <a:p>
            <a:pPr>
              <a:spcBef>
                <a:spcPts val="400"/>
              </a:spcBef>
              <a:buChar char="•"/>
            </a:pPr>
            <a:r>
              <a:rPr>
                <a:latin typeface="Arial"/>
              </a:rPr>
              <a:t>IBM global scale and specialist accelerators</a:t>
            </a:r>
          </a:p>
          <a:p>
            <a:pPr>
              <a:spcBef>
                <a:spcPts val="400"/>
              </a:spcBef>
              <a:buChar char="•"/>
            </a:pPr>
            <a:r>
              <a:rPr>
                <a:latin typeface="Arial"/>
              </a:rPr>
              <a:t>Integrated IBM-led teams</a:t>
            </a:r>
          </a:p>
          <a:p>
            <a:pPr>
              <a:spcBef>
                <a:spcPts val="400"/>
              </a:spcBef>
              <a:buChar char="•"/>
            </a:pPr>
            <a:r>
              <a:rPr>
                <a:latin typeface="Arial"/>
              </a:rPr>
              <a:t>Embedded knowledge transfer</a:t>
            </a:r>
          </a:p>
          <a:p>
            <a:pPr>
              <a:spcBef>
                <a:spcPts val="400"/>
              </a:spcBef>
              <a:buChar char="•"/>
            </a:pPr>
            <a:r>
              <a:rPr>
                <a:latin typeface="Arial"/>
              </a:rPr>
              <a:t>Joint governance and shared accountability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Capabilities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strengths in DDaT</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DDaT specialisms across the lifecycle</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Integrated Delivery Operating Model</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DDaT outcomes across UK public sector</a:t>
            </a:r>
          </a:p>
        </p:txBody>
      </p:sp>
      <p:sp>
        <p:nvSpPr>
          <p:cNvPr id="3" name="Text Placeholder 2"/>
          <p:cNvSpPr>
            <a:spLocks noGrp="1"/>
          </p:cNvSpPr>
          <p:nvPr>
            <p:ph type="body" idx="12" sz="quarter"/>
          </p:nvPr>
        </p:nvSpPr>
        <p:spPr/>
        <p:txBody>
          <a:bodyPr/>
          <a:lstStyle/>
          <a:p>
            <a:pPr>
              <a:spcBef>
                <a:spcPts val="400"/>
              </a:spcBef>
              <a:buChar char="•"/>
            </a:pPr>
            <a:r>
              <a:rPr>
                <a:latin typeface="Arial"/>
              </a:rPr>
              <a:t>Environment Agency: unified data platform in 11 months</a:t>
            </a:r>
          </a:p>
          <a:p>
            <a:pPr>
              <a:spcBef>
                <a:spcPts val="400"/>
              </a:spcBef>
              <a:buChar char="•"/>
            </a:pPr>
            <a:r>
              <a:rPr>
                <a:latin typeface="Arial"/>
              </a:rPr>
              <a:t>DVLA: 30% faster data processing</a:t>
            </a:r>
          </a:p>
          <a:p>
            <a:pPr>
              <a:spcBef>
                <a:spcPts val="400"/>
              </a:spcBef>
              <a:buChar char="•"/>
            </a:pPr>
            <a:r>
              <a:rPr>
                <a:latin typeface="Arial"/>
              </a:rPr>
              <a:t>Welsh charities: bilingual digital services</a:t>
            </a:r>
          </a:p>
          <a:p>
            <a:pPr>
              <a:spcBef>
                <a:spcPts val="400"/>
              </a:spcBef>
              <a:buChar char="•"/>
            </a:pPr>
            <a:r>
              <a:rPr>
                <a:latin typeface="Arial"/>
              </a:rPr>
              <a:t>NHS Digital: 18-month integration programme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Scenario 1 — Customer Platform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Platform discovery to shape the roadmap</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 Stable team embedded with NRW</a:t>
            </a:r>
          </a:p>
          <a:p>
            <a:pPr>
              <a:spcBef>
                <a:spcPts val="400"/>
              </a:spcBef>
              <a:buChar char="•"/>
            </a:pPr>
            <a:r>
              <a:rPr>
                <a:latin typeface="Arial"/>
              </a:rPr>
              <a:t>Three parallel workstreams: user, technical, commercial</a:t>
            </a:r>
          </a:p>
          <a:p>
            <a:pPr>
              <a:spcBef>
                <a:spcPts val="400"/>
              </a:spcBef>
              <a:buChar char="•"/>
            </a:pPr>
            <a:r>
              <a:rPr>
                <a:latin typeface="Arial"/>
              </a:rPr>
              <a:t>Discovery mobilises and shapes the roadmap</a:t>
            </a:r>
          </a:p>
        </p:txBody>
      </p:sp>
      <p:sp>
        <p:nvSpPr>
          <p:cNvPr id="4" name="Text Placeholder 3"/>
          <p:cNvSpPr>
            <a:spLocks noGrp="1"/>
          </p:cNvSpPr>
          <p:nvPr>
            <p:ph type="body" idx="12" sz="quarter"/>
          </p:nvPr>
        </p:nvSpPr>
        <p:spPr/>
        <p:txBody>
          <a:bodyPr/>
          <a:lstStyle/>
          <a:p>
            <a:pPr>
              <a:spcBef>
                <a:spcPts val="400"/>
              </a:spcBef>
              <a:buChar char="•"/>
            </a:pPr>
            <a:r>
              <a:rPr>
                <a:latin typeface="Arial"/>
              </a:rPr>
              <a:t>User research, service mapping, analytics</a:t>
            </a:r>
          </a:p>
          <a:p>
            <a:pPr>
              <a:spcBef>
                <a:spcPts val="400"/>
              </a:spcBef>
              <a:buChar char="•"/>
            </a:pPr>
            <a:r>
              <a:rPr>
                <a:latin typeface="Arial"/>
              </a:rPr>
              <a:t>Technical assessment of the Microsoft ecosystem</a:t>
            </a:r>
          </a:p>
          <a:p>
            <a:pPr>
              <a:spcBef>
                <a:spcPts val="400"/>
              </a:spcBef>
              <a:buChar char="•"/>
            </a:pPr>
            <a:r>
              <a:rPr>
                <a:latin typeface="Arial"/>
              </a:rPr>
              <a:t>Commercial review and delivery sequencing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outputs to evolve the platform</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architecture for NRW on Microsoft</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Architectural principles for platform evolution</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Solving Customer Data Fragmentation</a:t>
            </a:r>
          </a:p>
        </p:txBody>
      </p:sp>
      <p:sp>
        <p:nvSpPr>
          <p:cNvPr id="3" name="Text Placeholder 2"/>
          <p:cNvSpPr>
            <a:spLocks noGrp="1"/>
          </p:cNvSpPr>
          <p:nvPr>
            <p:ph type="body" idx="12" sz="quarter"/>
          </p:nvPr>
        </p:nvSpPr>
        <p:spPr/>
        <p:txBody>
          <a:bodyPr/>
          <a:lstStyle/>
          <a:p>
            <a:pPr>
              <a:spcBef>
                <a:spcPts val="400"/>
              </a:spcBef>
              <a:buChar char="•"/>
            </a:pPr>
            <a:r>
              <a:rPr>
                <a:latin typeface="Arial"/>
              </a:rPr>
              <a:t>Inconsistent customer records across systems</a:t>
            </a:r>
          </a:p>
          <a:p>
            <a:pPr>
              <a:spcBef>
                <a:spcPts val="400"/>
              </a:spcBef>
              <a:buChar char="•"/>
            </a:pPr>
            <a:r>
              <a:rPr>
                <a:latin typeface="Arial"/>
              </a:rPr>
              <a:t>Disconnected data flows between platforms</a:t>
            </a:r>
          </a:p>
          <a:p>
            <a:pPr>
              <a:spcBef>
                <a:spcPts val="400"/>
              </a:spcBef>
              <a:buChar char="•"/>
            </a:pPr>
            <a:r>
              <a:rPr>
                <a:latin typeface="Arial"/>
              </a:rPr>
              <a:t>Fragmented journeys and touchpoints</a:t>
            </a:r>
          </a:p>
          <a:p>
            <a:pPr>
              <a:spcBef>
                <a:spcPts val="400"/>
              </a:spcBef>
              <a:buChar char="•"/>
            </a:pPr>
            <a:r>
              <a:rPr>
                <a:latin typeface="Arial"/>
              </a:rPr>
              <a:t>No real-time, coherent customer 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&amp; platform thinking</a:t>
            </a:r>
          </a:p>
        </p:txBody>
      </p:sp>
      <p:sp>
        <p:nvSpPr>
          <p:cNvPr id="3" name="Text Placeholder 2"/>
          <p:cNvSpPr>
            <a:spLocks noGrp="1"/>
          </p:cNvSpPr>
          <p:nvPr>
            <p:ph type="body" idx="13" sz="quarter"/>
          </p:nvPr>
        </p:nvSpPr>
        <p:spPr/>
        <p:txBody>
          <a:bodyPr/>
          <a:lstStyle/>
          <a:p>
            <a:pPr>
              <a:spcBef>
                <a:spcPts val="400"/>
              </a:spcBef>
              <a:buChar char="•"/>
            </a:pPr>
            <a:r>
              <a:rPr>
                <a:latin typeface="Arial"/>
              </a:rPr>
              <a:t>Map customer data across CRM, legacy, GIS, documents</a:t>
            </a:r>
          </a:p>
          <a:p>
            <a:pPr>
              <a:spcBef>
                <a:spcPts val="400"/>
              </a:spcBef>
              <a:buChar char="•"/>
            </a:pPr>
            <a:r>
              <a:rPr>
                <a:latin typeface="Arial"/>
              </a:rPr>
              <a:t>Define a shared customer identifier model</a:t>
            </a:r>
          </a:p>
          <a:p>
            <a:pPr>
              <a:spcBef>
                <a:spcPts val="400"/>
              </a:spcBef>
              <a:buChar char="•"/>
            </a:pPr>
            <a:r>
              <a:rPr>
                <a:latin typeface="Arial"/>
              </a:rPr>
              <a:t>Use Dynamics 365 as the master customer record</a:t>
            </a:r>
          </a:p>
          <a:p>
            <a:pPr>
              <a:spcBef>
                <a:spcPts val="400"/>
              </a:spcBef>
              <a:buChar char="•"/>
            </a:pPr>
            <a:r>
              <a:rPr>
                <a:latin typeface="Arial"/>
              </a:rPr>
              <a:t>API-based integration for near real-time updates</a:t>
            </a:r>
          </a:p>
        </p:txBody>
      </p:sp>
      <p:sp>
        <p:nvSpPr>
          <p:cNvPr id="4" name="Text Placeholder 3"/>
          <p:cNvSpPr>
            <a:spLocks noGrp="1"/>
          </p:cNvSpPr>
          <p:nvPr>
            <p:ph type="body" idx="12" sz="quarter"/>
          </p:nvPr>
        </p:nvSpPr>
        <p:spPr/>
        <p:txBody>
          <a:bodyPr/>
          <a:lstStyle/>
          <a:p>
            <a:pPr>
              <a:spcBef>
                <a:spcPts val="400"/>
              </a:spcBef>
              <a:buChar char="•"/>
            </a:pPr>
            <a:r>
              <a:rPr>
                <a:latin typeface="Arial"/>
              </a:rPr>
              <a:t>Consolidate via MDM and survivorship rules</a:t>
            </a:r>
          </a:p>
          <a:p>
            <a:pPr>
              <a:spcBef>
                <a:spcPts val="400"/>
              </a:spcBef>
              <a:buChar char="•"/>
            </a:pPr>
            <a:r>
              <a:rPr>
                <a:latin typeface="Arial"/>
              </a:rPr>
              <a:t>Build on an Azure-native data platform for analytics</a:t>
            </a:r>
          </a:p>
          <a:p>
            <a:pPr>
              <a:spcBef>
                <a:spcPts val="400"/>
              </a:spcBef>
              <a:buChar char="•"/>
            </a:pPr>
            <a:r>
              <a:rPr>
                <a:latin typeface="Arial"/>
              </a:rPr>
              <a:t>Validate assumptions during discovery</a:t>
            </a:r>
          </a:p>
          <a:p>
            <a:pPr>
              <a:spcBef>
                <a:spcPts val="400"/>
              </a:spcBef>
              <a:buChar char="•"/>
            </a:pPr>
            <a:r>
              <a:rPr>
                <a:latin typeface="Arial"/>
              </a:rPr>
              <a:t>Sequence delivery to manage risk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risks: key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Profile &amp; validate data to improve match accuracy</a:t>
            </a:r>
          </a:p>
          <a:p>
            <a:pPr>
              <a:spcBef>
                <a:spcPts val="400"/>
              </a:spcBef>
              <a:buChar char="•"/>
            </a:pPr>
            <a:r>
              <a:rPr>
                <a:latin typeface="Arial"/>
              </a:rPr>
              <a:t>Identify legacy dependencies early to avoid delivery delays</a:t>
            </a:r>
          </a:p>
          <a:p>
            <a:pPr>
              <a:spcBef>
                <a:spcPts val="400"/>
              </a:spcBef>
              <a:buChar char="•"/>
            </a:pPr>
            <a:r>
              <a:rPr>
                <a:latin typeface="Arial"/>
              </a:rPr>
              <a:t>Apply performance &amp; security constraints to protect throughput</a:t>
            </a:r>
          </a:p>
        </p:txBody>
      </p:sp>
      <p:sp>
        <p:nvSpPr>
          <p:cNvPr id="4" name="Text Placeholder 3"/>
          <p:cNvSpPr>
            <a:spLocks noGrp="1"/>
          </p:cNvSpPr>
          <p:nvPr>
            <p:ph type="body" idx="12" sz="quarter"/>
          </p:nvPr>
        </p:nvSpPr>
        <p:spPr/>
        <p:txBody>
          <a:bodyPr/>
          <a:lstStyle/>
          <a:p>
            <a:pPr>
              <a:spcBef>
                <a:spcPts val="400"/>
              </a:spcBef>
              <a:buChar char="•"/>
            </a:pPr>
            <a:r>
              <a:rPr>
                <a:latin typeface="Arial"/>
              </a:rPr>
              <a:t>Define ownership to strengthen governance &amp; accountability</a:t>
            </a:r>
          </a:p>
          <a:p>
            <a:pPr>
              <a:spcBef>
                <a:spcPts val="400"/>
              </a:spcBef>
              <a:buChar char="•"/>
            </a:pPr>
            <a:r>
              <a:rPr>
                <a:latin typeface="Arial"/>
              </a:rPr>
              <a:t>Use an integration layer to wrap legacy systems</a:t>
            </a:r>
          </a:p>
          <a:p>
            <a:pPr>
              <a:spcBef>
                <a:spcPts val="400"/>
              </a:spcBef>
              <a:buChar char="•"/>
            </a:pPr>
            <a:r>
              <a:rPr>
                <a:latin typeface="Arial"/>
              </a:rPr>
              <a:t>Adopt API-driven connectivity with strong governance</a:t>
            </a:r>
          </a:p>
          <a:p>
            <a:pPr>
              <a:spcBef>
                <a:spcPts val="400"/>
              </a:spcBef>
              <a:buChar char="•"/>
            </a:pPr>
            <a:r>
              <a:rPr>
                <a:latin typeface="Arial"/>
              </a:rPr>
              <a:t>Sequence identity resolution by risk, then scale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Multidisciplinary delivery team structure</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maturity pathway</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testing &amp; service sustainability</a:t>
            </a:r>
          </a:p>
        </p:txBody>
      </p:sp>
      <p:sp>
        <p:nvSpPr>
          <p:cNvPr id="3" name="Text Placeholder 2"/>
          <p:cNvSpPr>
            <a:spLocks noGrp="1"/>
          </p:cNvSpPr>
          <p:nvPr>
            <p:ph type="body" idx="13" sz="quarter"/>
          </p:nvPr>
        </p:nvSpPr>
        <p:spPr/>
        <p:txBody>
          <a:bodyPr/>
          <a:lstStyle/>
          <a:p>
            <a:pPr>
              <a:spcBef>
                <a:spcPts val="400"/>
              </a:spcBef>
              <a:buChar char="•"/>
            </a:pPr>
            <a:r>
              <a:rPr>
                <a:latin typeface="Arial"/>
              </a:rPr>
              <a:t>Security, privacy &amp; compliance built in from day one</a:t>
            </a:r>
          </a:p>
          <a:p>
            <a:pPr>
              <a:spcBef>
                <a:spcPts val="400"/>
              </a:spcBef>
              <a:buChar char="•"/>
            </a:pPr>
            <a:r>
              <a:rPr>
                <a:latin typeface="Arial"/>
              </a:rPr>
              <a:t>Threat modelling and compliance analysis by design</a:t>
            </a:r>
          </a:p>
          <a:p>
            <a:pPr>
              <a:spcBef>
                <a:spcPts val="400"/>
              </a:spcBef>
              <a:buChar char="•"/>
            </a:pPr>
            <a:r>
              <a:rPr>
                <a:latin typeface="Arial"/>
              </a:rPr>
              <a:t>Risk-based testing with proportionate assurance</a:t>
            </a:r>
          </a:p>
          <a:p>
            <a:pPr>
              <a:spcBef>
                <a:spcPts val="400"/>
              </a:spcBef>
              <a:buChar char="•"/>
            </a:pPr>
            <a:r>
              <a:rPr>
                <a:latin typeface="Arial"/>
              </a:rPr>
              <a:t>Operability for live services, not an afterthought</a:t>
            </a:r>
          </a:p>
        </p:txBody>
      </p:sp>
      <p:sp>
        <p:nvSpPr>
          <p:cNvPr id="4" name="Text Placeholder 3"/>
          <p:cNvSpPr>
            <a:spLocks noGrp="1"/>
          </p:cNvSpPr>
          <p:nvPr>
            <p:ph type="body" idx="12" sz="quarter"/>
          </p:nvPr>
        </p:nvSpPr>
        <p:spPr/>
        <p:txBody>
          <a:bodyPr/>
          <a:lstStyle/>
          <a:p>
            <a:pPr>
              <a:spcBef>
                <a:spcPts val="400"/>
              </a:spcBef>
              <a:buChar char="•"/>
            </a:pPr>
            <a:r>
              <a:rPr>
                <a:latin typeface="Arial"/>
              </a:rPr>
              <a:t>UK GDPR + Cyber Essentials Plus alignment</a:t>
            </a:r>
          </a:p>
          <a:p>
            <a:pPr>
              <a:spcBef>
                <a:spcPts val="400"/>
              </a:spcBef>
              <a:buChar char="•"/>
            </a:pPr>
            <a:r>
              <a:rPr>
                <a:latin typeface="Arial"/>
              </a:rPr>
              <a:t>Extra assurance for high-risk components</a:t>
            </a:r>
          </a:p>
          <a:p>
            <a:pPr>
              <a:spcBef>
                <a:spcPts val="400"/>
              </a:spcBef>
              <a:buChar char="•"/>
            </a:pPr>
            <a:r>
              <a:rPr>
                <a:latin typeface="Arial"/>
              </a:rPr>
              <a:t>Continuous monitoring and resilience engineering</a:t>
            </a:r>
          </a:p>
          <a:p>
            <a:pPr>
              <a:spcBef>
                <a:spcPts val="400"/>
              </a:spcBef>
              <a:buChar char="•"/>
            </a:pPr>
            <a:r>
              <a:rPr>
                <a:latin typeface="Arial"/>
              </a:rPr>
              <a:t>Knowledge transfer for NRW ownership readiness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Scenario 2 — Website Innovation Window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12-week innovation window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modes for website improvement</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Evidence generation: four phases</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Evidence-based success criteria for hypothesis testing</a:t>
            </a:r>
          </a:p>
        </p:txBody>
      </p:sp>
      <p:sp>
        <p:nvSpPr>
          <p:cNvPr id="3" name="Text Placeholder 2"/>
          <p:cNvSpPr>
            <a:spLocks noGrp="1"/>
          </p:cNvSpPr>
          <p:nvPr>
            <p:ph type="body" idx="13" sz="quarter"/>
          </p:nvPr>
        </p:nvSpPr>
        <p:spPr/>
        <p:txBody>
          <a:bodyPr/>
          <a:lstStyle/>
          <a:p>
            <a:pPr>
              <a:spcBef>
                <a:spcPts val="400"/>
              </a:spcBef>
              <a:buChar char="•"/>
            </a:pPr>
            <a:r>
              <a:rPr>
                <a:latin typeface="Arial"/>
              </a:rPr>
              <a:t>Hypotheses tied to user problems and outcomes</a:t>
            </a:r>
          </a:p>
          <a:p>
            <a:pPr>
              <a:spcBef>
                <a:spcPts val="400"/>
              </a:spcBef>
              <a:buChar char="•"/>
            </a:pPr>
            <a:r>
              <a:rPr>
                <a:latin typeface="Arial"/>
              </a:rPr>
              <a:t>Lightweight experiments with clear success signals</a:t>
            </a:r>
          </a:p>
          <a:p>
            <a:pPr>
              <a:spcBef>
                <a:spcPts val="400"/>
              </a:spcBef>
              <a:buChar char="•"/>
            </a:pPr>
            <a:r>
              <a:rPr>
                <a:latin typeface="Arial"/>
              </a:rPr>
              <a:t>Controlled tests to generate reliable evidence</a:t>
            </a:r>
          </a:p>
          <a:p>
            <a:pPr>
              <a:spcBef>
                <a:spcPts val="400"/>
              </a:spcBef>
              <a:buChar char="•"/>
            </a:pPr>
            <a:r>
              <a:rPr>
                <a:latin typeface="Arial"/>
              </a:rPr>
              <a:t>Stakeholder review to decide scale or stop</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Measurable usability and accessibility improvements</a:t>
            </a:r>
          </a:p>
          <a:p>
            <a:pPr>
              <a:spcBef>
                <a:spcPts val="400"/>
              </a:spcBef>
              <a:buChar char="•"/>
            </a:pPr>
            <a:r>
              <a:rPr>
                <a:latin typeface="Arial"/>
              </a:rPr>
              <a:t>Validated design and content patterns</a:t>
            </a:r>
          </a:p>
          <a:p>
            <a:pPr>
              <a:spcBef>
                <a:spcPts val="400"/>
              </a:spcBef>
              <a:buChar char="•"/>
            </a:pPr>
            <a:r>
              <a:rPr>
                <a:latin typeface="Arial"/>
              </a:rPr>
              <a:t>Evidence-led search and navigation enhancements</a:t>
            </a:r>
          </a:p>
          <a:p>
            <a:pPr>
              <a:spcBef>
                <a:spcPts val="400"/>
              </a:spcBef>
              <a:buChar char="•"/>
            </a:pPr>
            <a:r>
              <a:rPr>
                <a:latin typeface="Arial"/>
              </a:rPr>
              <a:t>Decision-ready outputs to scale or stop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validated outputs</a:t>
            </a:r>
          </a:p>
        </p:txBody>
      </p:sp>
      <p:sp>
        <p:nvSpPr>
          <p:cNvPr id="3" name="Text Placeholder 2"/>
          <p:cNvSpPr>
            <a:spLocks noGrp="1"/>
          </p:cNvSpPr>
          <p:nvPr>
            <p:ph type="body" idx="12" sz="quarter"/>
          </p:nvPr>
        </p:nvSpPr>
        <p:spPr/>
        <p:txBody>
          <a:bodyPr/>
          <a:lstStyle/>
          <a:p>
            <a:pPr>
              <a:spcBef>
                <a:spcPts val="400"/>
              </a:spcBef>
              <a:buChar char="•"/>
            </a:pPr>
            <a:r>
              <a:rPr>
                <a:latin typeface="Arial"/>
              </a:rPr>
              <a:t>Reusable design patterns and validated hypotheses</a:t>
            </a:r>
          </a:p>
          <a:p>
            <a:pPr>
              <a:spcBef>
                <a:spcPts val="400"/>
              </a:spcBef>
              <a:buChar char="•"/>
            </a:pPr>
            <a:r>
              <a:rPr>
                <a:latin typeface="Arial"/>
              </a:rPr>
              <a:t>Navigation &amp; information architecture prototypes</a:t>
            </a:r>
          </a:p>
          <a:p>
            <a:pPr>
              <a:spcBef>
                <a:spcPts val="400"/>
              </a:spcBef>
              <a:buChar char="•"/>
            </a:pPr>
            <a:r>
              <a:rPr>
                <a:latin typeface="Arial"/>
              </a:rPr>
              <a:t>Evidence-led search improvements</a:t>
            </a:r>
          </a:p>
          <a:p>
            <a:pPr>
              <a:spcBef>
                <a:spcPts val="400"/>
              </a:spcBef>
              <a:buChar char="•"/>
            </a:pPr>
            <a:r>
              <a:rPr>
                <a:latin typeface="Arial"/>
              </a:rPr>
              <a:t>End-to-end prototypes for priority journeys</a:t>
            </a:r>
          </a:p>
          <a:p>
            <a:pPr>
              <a:spcBef>
                <a:spcPts val="400"/>
              </a:spcBef>
              <a:buChar char="•"/>
            </a:pPr>
            <a:r>
              <a:rPr>
                <a:latin typeface="Arial"/>
              </a:rPr>
              <a:t>Accessibility &amp; content backlog with feasibility proof</a:t>
            </a:r>
          </a:p>
          <a:p>
            <a:pPr>
              <a:spcBef>
                <a:spcPts val="400"/>
              </a:spcBef>
              <a:buChar char="•"/>
            </a:pPr>
            <a:r>
              <a:rPr>
                <a:latin typeface="Arial"/>
              </a:rPr>
              <a:t>Live data integration feasibility and measurement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dependencies, and assumptions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Objectives not defined early</a:t>
            </a:r>
          </a:p>
          <a:p>
            <a:pPr>
              <a:spcBef>
                <a:spcPts val="400"/>
              </a:spcBef>
              <a:buChar char="•"/>
            </a:pPr>
            <a:r>
              <a:rPr>
                <a:latin typeface="Arial"/>
              </a:rPr>
              <a:t>Limited user access</a:t>
            </a:r>
          </a:p>
          <a:p>
            <a:pPr>
              <a:spcBef>
                <a:spcPts val="400"/>
              </a:spcBef>
              <a:buChar char="•"/>
            </a:pPr>
            <a:r>
              <a:rPr>
                <a:latin typeface="Arial"/>
              </a:rPr>
              <a:t>Technical/content constraints</a:t>
            </a:r>
          </a:p>
          <a:p>
            <a:pPr>
              <a:spcBef>
                <a:spcPts val="400"/>
              </a:spcBef>
              <a:buChar char="•"/>
            </a:pPr>
            <a:r>
              <a:rPr>
                <a:latin typeface="Arial"/>
              </a:rPr>
              <a:t>Time-limited innovation window</a:t>
            </a:r>
          </a:p>
        </p:txBody>
      </p:sp>
      <p:sp>
        <p:nvSpPr>
          <p:cNvPr id="4" name="Text Placeholder 3"/>
          <p:cNvSpPr>
            <a:spLocks noGrp="1"/>
          </p:cNvSpPr>
          <p:nvPr>
            <p:ph type="body" idx="12" sz="quarter"/>
          </p:nvPr>
        </p:nvSpPr>
        <p:spPr/>
        <p:txBody>
          <a:bodyPr/>
          <a:lstStyle/>
          <a:p>
            <a:pPr>
              <a:spcBef>
                <a:spcPts val="400"/>
              </a:spcBef>
              <a:buChar char="•"/>
            </a:pPr>
            <a:r>
              <a:rPr>
                <a:latin typeface="Arial"/>
              </a:rPr>
              <a:t>Stakeholder engagement needed</a:t>
            </a:r>
          </a:p>
          <a:p>
            <a:pPr>
              <a:spcBef>
                <a:spcPts val="400"/>
              </a:spcBef>
              <a:buChar char="•"/>
            </a:pPr>
            <a:r>
              <a:rPr>
                <a:latin typeface="Arial"/>
              </a:rPr>
              <a:t>Define hypotheses early</a:t>
            </a:r>
          </a:p>
          <a:p>
            <a:pPr>
              <a:spcBef>
                <a:spcPts val="400"/>
              </a:spcBef>
              <a:buChar char="•"/>
            </a:pPr>
            <a:r>
              <a:rPr>
                <a:latin typeface="Arial"/>
              </a:rPr>
              <a:t>Engage users upfront</a:t>
            </a:r>
          </a:p>
          <a:p>
            <a:pPr>
              <a:spcBef>
                <a:spcPts val="400"/>
              </a:spcBef>
              <a:buChar char="•"/>
            </a:pPr>
            <a:r>
              <a:rPr>
                <a:latin typeface="Arial"/>
              </a:rPr>
              <a:t>Measure, report, and learn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5: Sustainability &amp; Social Value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Delivery sustainability &amp; social value</a:t>
            </a:r>
          </a:p>
        </p:txBody>
      </p:sp>
      <p:sp>
        <p:nvSpPr>
          <p:cNvPr id="3" name="Content Placeholder 2"/>
          <p:cNvSpPr>
            <a:spLocks noGrp="1"/>
          </p:cNvSpPr>
          <p:nvPr>
            <p:ph idx="17" sz="quarter"/>
          </p:nvPr>
        </p:nvSpPr>
        <p:spPr/>
        <p:txBody>
          <a:bodyPr/>
          <a:lstStyle/>
          <a:p/>
        </p:txBody>
      </p:sp>
      <p:sp>
        <p:nvSpPr>
          <p:cNvPr id="4" name="Content Placeholder 3"/>
          <p:cNvSpPr>
            <a:spLocks noGrp="1"/>
          </p:cNvSpPr>
          <p:nvPr>
            <p:ph idx="18" sz="quarter"/>
          </p:nvPr>
        </p:nvSpPr>
        <p:spPr/>
        <p:txBody>
          <a:bodyPr/>
          <a:lstStyle/>
          <a:p/>
        </p:txBody>
      </p:sp>
      <p:sp>
        <p:nvSpPr>
          <p:cNvPr id="5" name="Content Placeholder 4"/>
          <p:cNvSpPr>
            <a:spLocks noGrp="1"/>
          </p:cNvSpPr>
          <p:nvPr>
            <p:ph idx="20" sz="quarter"/>
          </p:nvPr>
        </p:nvSpPr>
        <p:spPr/>
        <p:txBody>
          <a:bodyPr/>
          <a:lstStyle/>
          <a:p/>
        </p:txBody>
      </p:sp>
      <p:sp>
        <p:nvSpPr>
          <p:cNvPr id="6" name="Content Placeholder 5"/>
          <p:cNvSpPr>
            <a:spLocks noGrp="1"/>
          </p:cNvSpPr>
          <p:nvPr>
            <p:ph idx="19" sz="quarter"/>
          </p:nvPr>
        </p:nvSpPr>
        <p:spPr/>
        <p:txBody>
          <a:bodyP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Social Value Impact in Wales</a:t>
            </a:r>
          </a:p>
        </p:txBody>
      </p:sp>
      <p:sp>
        <p:nvSpPr>
          <p:cNvPr id="3" name="Text Placeholder 2"/>
          <p:cNvSpPr>
            <a:spLocks noGrp="1"/>
          </p:cNvSpPr>
          <p:nvPr>
            <p:ph type="body" idx="13" sz="quarter"/>
          </p:nvPr>
        </p:nvSpPr>
        <p:spPr/>
        <p:txBody>
          <a:bodyPr/>
          <a:lstStyle/>
          <a:p>
            <a:pPr>
              <a:spcBef>
                <a:spcPts val="400"/>
              </a:spcBef>
              <a:buChar char="•"/>
            </a:pPr>
            <a:r>
              <a:rPr>
                <a:latin typeface="Arial"/>
              </a:rPr>
              <a:t>Local employment with Welsh-based teams</a:t>
            </a:r>
          </a:p>
          <a:p>
            <a:pPr>
              <a:spcBef>
                <a:spcPts val="400"/>
              </a:spcBef>
              <a:buChar char="•"/>
            </a:pPr>
            <a:r>
              <a:rPr>
                <a:latin typeface="Arial"/>
              </a:rPr>
              <a:t>Internships with local universities</a:t>
            </a:r>
          </a:p>
          <a:p>
            <a:pPr>
              <a:spcBef>
                <a:spcPts val="400"/>
              </a:spcBef>
              <a:buChar char="•"/>
            </a:pPr>
            <a:r>
              <a:rPr>
                <a:latin typeface="Arial"/>
              </a:rPr>
              <a:t>Charity partnerships and community engagement</a:t>
            </a:r>
          </a:p>
          <a:p>
            <a:pPr>
              <a:spcBef>
                <a:spcPts val="400"/>
              </a:spcBef>
              <a:buChar char="•"/>
            </a:pPr>
            <a:r>
              <a:rPr>
                <a:latin typeface="Arial"/>
              </a:rPr>
              <a:t>Youth and skills initiatives</a:t>
            </a:r>
          </a:p>
        </p:txBody>
      </p:sp>
      <p:sp>
        <p:nvSpPr>
          <p:cNvPr id="4" name="Text Placeholder 3"/>
          <p:cNvSpPr>
            <a:spLocks noGrp="1"/>
          </p:cNvSpPr>
          <p:nvPr>
            <p:ph type="body" idx="12" sz="quarter"/>
          </p:nvPr>
        </p:nvSpPr>
        <p:spPr/>
        <p:txBody>
          <a:bodyPr/>
          <a:lstStyle/>
          <a:p>
            <a:pPr>
              <a:spcBef>
                <a:spcPts val="400"/>
              </a:spcBef>
              <a:buChar char="•"/>
            </a:pPr>
            <a:r>
              <a:rPr>
                <a:latin typeface="Arial"/>
              </a:rPr>
              <a:t>Welsh SME and social enterprise partnerships</a:t>
            </a:r>
          </a:p>
          <a:p>
            <a:pPr>
              <a:spcBef>
                <a:spcPts val="400"/>
              </a:spcBef>
              <a:buChar char="•"/>
            </a:pPr>
            <a:r>
              <a:rPr>
                <a:latin typeface="Arial"/>
              </a:rPr>
              <a:t>Bilingual service delivery</a:t>
            </a:r>
          </a:p>
          <a:p>
            <a:pPr>
              <a:spcBef>
                <a:spcPts val="400"/>
              </a:spcBef>
              <a:buChar char="•"/>
            </a:pPr>
            <a:r>
              <a:rPr>
                <a:latin typeface="Arial"/>
              </a:rPr>
              <a:t>Digital skills in schools</a:t>
            </a:r>
          </a:p>
          <a:p>
            <a:pPr>
              <a:spcBef>
                <a:spcPts val="400"/>
              </a:spcBef>
              <a:buChar char="•"/>
            </a:pPr>
            <a:r>
              <a:rPr>
                <a:latin typeface="Arial"/>
              </a:rPr>
              <a:t>Transparent reporting and measurable outcomes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&amp; social value performance monitoring</a:t>
            </a:r>
          </a:p>
        </p:txBody>
      </p:sp>
      <p:sp>
        <p:nvSpPr>
          <p:cNvPr id="3" name="Text Placeholder 2"/>
          <p:cNvSpPr>
            <a:spLocks noGrp="1"/>
          </p:cNvSpPr>
          <p:nvPr>
            <p:ph type="body" idx="12" sz="quarter"/>
          </p:nvPr>
        </p:nvSpPr>
        <p:spPr/>
        <p:txBody>
          <a:bodyPr/>
          <a:lstStyle/>
          <a:p>
            <a:pPr>
              <a:spcBef>
                <a:spcPts val="400"/>
              </a:spcBef>
              <a:buChar char="•"/>
            </a:pPr>
            <a:r>
              <a:rPr>
                <a:latin typeface="Arial"/>
              </a:rPr>
              <a:t>Track KPIs: carbon impact, supplier participation, skills uplift</a:t>
            </a:r>
          </a:p>
          <a:p>
            <a:pPr>
              <a:spcBef>
                <a:spcPts val="400"/>
              </a:spcBef>
              <a:buChar char="•"/>
            </a:pPr>
            <a:r>
              <a:rPr>
                <a:latin typeface="Arial"/>
              </a:rPr>
              <a:t>Structured reporting aligned to the governance framework</a:t>
            </a:r>
          </a:p>
          <a:p>
            <a:pPr>
              <a:spcBef>
                <a:spcPts val="400"/>
              </a:spcBef>
              <a:buChar char="•"/>
            </a:pPr>
            <a:r>
              <a:rPr>
                <a:latin typeface="Arial"/>
              </a:rPr>
              <a:t>Scale commitments to engagement size for lasting impact</a:t>
            </a:r>
          </a:p>
          <a:p>
            <a:pPr>
              <a:spcBef>
                <a:spcPts val="400"/>
              </a:spcBef>
              <a:buChar char="•"/>
            </a:pPr>
            <a:r>
              <a:rPr>
                <a:latin typeface="Arial"/>
              </a:rPr>
              <a:t>Continuous improvement with transparent outcomes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Approach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for DDaT delivery</a:t>
            </a:r>
          </a:p>
        </p:txBody>
      </p:sp>
      <p:sp>
        <p:nvSpPr>
          <p:cNvPr id="3" name="Text Placeholder 2"/>
          <p:cNvSpPr>
            <a:spLocks noGrp="1"/>
          </p:cNvSpPr>
          <p:nvPr>
            <p:ph type="body" idx="13" sz="quarter"/>
          </p:nvPr>
        </p:nvSpPr>
        <p:spPr/>
        <p:txBody>
          <a:bodyPr/>
          <a:lstStyle/>
          <a:p>
            <a:pPr>
              <a:spcBef>
                <a:spcPts val="400"/>
              </a:spcBef>
              <a:buChar char="•"/>
            </a:pPr>
            <a:r>
              <a:rPr>
                <a:latin typeface="Arial"/>
              </a:rPr>
              <a:t>Time &amp; Materials: flexible for discovery phases</a:t>
            </a:r>
          </a:p>
          <a:p>
            <a:pPr>
              <a:spcBef>
                <a:spcPts val="400"/>
              </a:spcBef>
              <a:buChar char="•"/>
            </a:pPr>
            <a:r>
              <a:rPr>
                <a:latin typeface="Arial"/>
              </a:rPr>
              <a:t>Fixed Price: predictable for stable requirements</a:t>
            </a:r>
          </a:p>
          <a:p>
            <a:pPr>
              <a:spcBef>
                <a:spcPts val="400"/>
              </a:spcBef>
              <a:buChar char="•"/>
            </a:pPr>
            <a:r>
              <a:rPr>
                <a:latin typeface="Arial"/>
              </a:rPr>
              <a:t>Fixed Capacity: balanced agility and cost certainty</a:t>
            </a:r>
          </a:p>
        </p:txBody>
      </p:sp>
      <p:sp>
        <p:nvSpPr>
          <p:cNvPr id="4" name="Text Placeholder 3"/>
          <p:cNvSpPr>
            <a:spLocks noGrp="1"/>
          </p:cNvSpPr>
          <p:nvPr>
            <p:ph type="body" idx="12" sz="quarter"/>
          </p:nvPr>
        </p:nvSpPr>
        <p:spPr/>
        <p:txBody>
          <a:bodyPr/>
          <a:lstStyle/>
          <a:p>
            <a:pPr>
              <a:spcBef>
                <a:spcPts val="400"/>
              </a:spcBef>
              <a:buChar char="•"/>
            </a:pPr>
            <a:r>
              <a:rPr>
                <a:latin typeface="Arial"/>
              </a:rPr>
              <a:t>Supplier-led: managed platforms and operational services</a:t>
            </a:r>
          </a:p>
          <a:p>
            <a:pPr>
              <a:spcBef>
                <a:spcPts val="400"/>
              </a:spcBef>
              <a:buChar char="•"/>
            </a:pPr>
            <a:r>
              <a:rPr>
                <a:latin typeface="Arial"/>
              </a:rPr>
              <a:t>Blended delivery: buyer and supplier teams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Rate card &amp; discount assumptions</a:t>
            </a:r>
          </a:p>
        </p:txBody>
      </p:sp>
      <p:sp>
        <p:nvSpPr>
          <p:cNvPr id="3" name="Text Placeholder 2"/>
          <p:cNvSpPr>
            <a:spLocks noGrp="1"/>
          </p:cNvSpPr>
          <p:nvPr>
            <p:ph type="body" idx="12" sz="quarter"/>
          </p:nvPr>
        </p:nvSpPr>
        <p:spPr/>
        <p:txBody>
          <a:bodyPr/>
          <a:lstStyle/>
          <a:p>
            <a:pPr>
              <a:spcBef>
                <a:spcPts val="400"/>
              </a:spcBef>
              <a:buChar char="•"/>
            </a:pPr>
            <a:r>
              <a:rPr>
                <a:latin typeface="Arial"/>
              </a:rPr>
              <a:t>Standard role definitions + inclusive delivery costs</a:t>
            </a:r>
          </a:p>
          <a:p>
            <a:pPr>
              <a:spcBef>
                <a:spcPts val="400"/>
              </a:spcBef>
              <a:buChar char="•"/>
            </a:pPr>
            <a:r>
              <a:rPr>
                <a:latin typeface="Arial"/>
              </a:rPr>
              <a:t>8-hour working day; normal delivery environments</a:t>
            </a:r>
          </a:p>
          <a:p>
            <a:pPr>
              <a:spcBef>
                <a:spcPts val="400"/>
              </a:spcBef>
              <a:buChar char="•"/>
            </a:pPr>
            <a:r>
              <a:rPr>
                <a:latin typeface="Arial"/>
              </a:rPr>
              <a:t>Innovation fund contribution included</a:t>
            </a:r>
          </a:p>
          <a:p>
            <a:pPr>
              <a:spcBef>
                <a:spcPts val="400"/>
              </a:spcBef>
              <a:buChar char="•"/>
            </a:pPr>
            <a:r>
              <a:rPr>
                <a:latin typeface="Arial"/>
              </a:rPr>
              <a:t>Rates refined at call-off for specialist needs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fund governance: fair, transparent, impact-led</a:t>
            </a:r>
          </a:p>
        </p:txBody>
      </p:sp>
      <p:sp>
        <p:nvSpPr>
          <p:cNvPr id="3" name="Text Placeholder 2"/>
          <p:cNvSpPr>
            <a:spLocks noGrp="1"/>
          </p:cNvSpPr>
          <p:nvPr>
            <p:ph type="body" idx="13" sz="quarter"/>
          </p:nvPr>
        </p:nvSpPr>
        <p:spPr/>
        <p:txBody>
          <a:bodyPr/>
          <a:lstStyle/>
          <a:p>
            <a:pPr>
              <a:spcBef>
                <a:spcPts val="400"/>
              </a:spcBef>
              <a:buChar char="•"/>
            </a:pPr>
            <a:r>
              <a:rPr>
                <a:latin typeface="Arial"/>
              </a:rPr>
              <a:t>Clear eligibility and transparent access</a:t>
            </a:r>
          </a:p>
          <a:p>
            <a:pPr>
              <a:spcBef>
                <a:spcPts val="400"/>
              </a:spcBef>
              <a:buChar char="•"/>
            </a:pPr>
            <a:r>
              <a:rPr>
                <a:latin typeface="Arial"/>
              </a:rPr>
              <a:t>Impact-based funding decisions and scoring</a:t>
            </a:r>
          </a:p>
          <a:p>
            <a:pPr>
              <a:spcBef>
                <a:spcPts val="400"/>
              </a:spcBef>
              <a:buChar char="•"/>
            </a:pPr>
            <a:r>
              <a:rPr>
                <a:latin typeface="Arial"/>
              </a:rPr>
              <a:t>Collaborative support for contributor proposals</a:t>
            </a:r>
          </a:p>
          <a:p>
            <a:pPr>
              <a:spcBef>
                <a:spcPts val="400"/>
              </a:spcBef>
              <a:buChar char="•"/>
            </a:pPr>
            <a:r>
              <a:rPr>
                <a:latin typeface="Arial"/>
              </a:rPr>
              <a:t>Structured participation with open outcomes</a:t>
            </a:r>
          </a:p>
        </p:txBody>
      </p:sp>
      <p:sp>
        <p:nvSpPr>
          <p:cNvPr id="4" name="Text Placeholder 3"/>
          <p:cNvSpPr>
            <a:spLocks noGrp="1"/>
          </p:cNvSpPr>
          <p:nvPr>
            <p:ph type="body" idx="12" sz="quarter"/>
          </p:nvPr>
        </p:nvSpPr>
        <p:spPr/>
        <p:txBody>
          <a:bodyPr/>
          <a:lstStyle/>
          <a:p>
            <a:pPr>
              <a:spcBef>
                <a:spcPts val="400"/>
              </a:spcBef>
              <a:buChar char="•"/>
            </a:pPr>
            <a:r>
              <a:rPr>
                <a:latin typeface="Arial"/>
              </a:rPr>
              <a:t>Joint governance group with customer oversight</a:t>
            </a:r>
          </a:p>
          <a:p>
            <a:pPr>
              <a:spcBef>
                <a:spcPts val="400"/>
              </a:spcBef>
              <a:buChar char="•"/>
            </a:pPr>
            <a:r>
              <a:rPr>
                <a:latin typeface="Arial"/>
              </a:rPr>
              <a:t>Visible criteria, rationale, and decision trail</a:t>
            </a:r>
          </a:p>
          <a:p>
            <a:pPr>
              <a:spcBef>
                <a:spcPts val="400"/>
              </a:spcBef>
              <a:buChar char="•"/>
            </a:pPr>
            <a:r>
              <a:rPr>
                <a:latin typeface="Arial"/>
              </a:rPr>
              <a:t>Periodic review to adjust priorities and rules</a:t>
            </a:r>
          </a:p>
          <a:p>
            <a:pPr>
              <a:spcBef>
                <a:spcPts val="400"/>
              </a:spcBef>
              <a:buChar char="•"/>
            </a:pPr>
            <a:r>
              <a:rPr>
                <a:latin typeface="Arial"/>
              </a:rPr>
              <a:t>Trust maintained through consistent governance cadence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7: Close &amp; Next Steps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mobilise NRW and suppliers for discovery</a:t>
            </a:r>
          </a:p>
        </p:txBody>
      </p:sp>
      <p:sp>
        <p:nvSpPr>
          <p:cNvPr id="3" name="Text Placeholder 2"/>
          <p:cNvSpPr>
            <a:spLocks noGrp="1"/>
          </p:cNvSpPr>
          <p:nvPr>
            <p:ph type="body" idx="13" sz="quarter"/>
          </p:nvPr>
        </p:nvSpPr>
        <p:spPr/>
        <p:txBody>
          <a:bodyPr/>
          <a:lstStyle/>
          <a:p>
            <a:pPr>
              <a:spcBef>
                <a:spcPts val="400"/>
              </a:spcBef>
              <a:buChar char="•"/>
            </a:pPr>
            <a:r>
              <a:rPr>
                <a:latin typeface="Arial"/>
              </a:rPr>
              <a:t>IBM: issue final commercial proposal</a:t>
            </a:r>
          </a:p>
          <a:p>
            <a:pPr>
              <a:spcBef>
                <a:spcPts val="400"/>
              </a:spcBef>
              <a:buChar char="•"/>
            </a:pPr>
            <a:r>
              <a:rPr>
                <a:latin typeface="Arial"/>
              </a:rPr>
              <a:t>IBM: schedule discovery kickoff workshop</a:t>
            </a:r>
          </a:p>
          <a:p>
            <a:pPr>
              <a:spcBef>
                <a:spcPts val="400"/>
              </a:spcBef>
              <a:buChar char="•"/>
            </a:pPr>
            <a:r>
              <a:rPr>
                <a:latin typeface="Arial"/>
              </a:rPr>
              <a:t>Stable: confirm Welsh delivery team availability</a:t>
            </a:r>
          </a:p>
          <a:p>
            <a:pPr>
              <a:spcBef>
                <a:spcPts val="400"/>
              </a:spcBef>
              <a:buChar char="•"/>
            </a:pPr>
            <a:r>
              <a:rPr>
                <a:latin typeface="Arial"/>
              </a:rPr>
              <a:t>IBM/Stable: prepare onboarding materials</a:t>
            </a:r>
          </a:p>
        </p:txBody>
      </p:sp>
      <p:sp>
        <p:nvSpPr>
          <p:cNvPr id="4" name="Text Placeholder 3"/>
          <p:cNvSpPr>
            <a:spLocks noGrp="1"/>
          </p:cNvSpPr>
          <p:nvPr>
            <p:ph type="body" idx="12" sz="quarter"/>
          </p:nvPr>
        </p:nvSpPr>
        <p:spPr/>
        <p:txBody>
          <a:bodyPr/>
          <a:lstStyle/>
          <a:p>
            <a:pPr>
              <a:spcBef>
                <a:spcPts val="400"/>
              </a:spcBef>
              <a:buChar char="•"/>
            </a:pPr>
            <a:r>
              <a:rPr>
                <a:latin typeface="Arial"/>
              </a:rPr>
              <a:t>NRW: confirm stakeholder availability</a:t>
            </a:r>
          </a:p>
          <a:p>
            <a:pPr>
              <a:spcBef>
                <a:spcPts val="400"/>
              </a:spcBef>
              <a:buChar char="•"/>
            </a:pPr>
            <a:r>
              <a:rPr>
                <a:latin typeface="Arial"/>
              </a:rPr>
              <a:t>NRW: share system inventory &amp; data dictionary</a:t>
            </a:r>
          </a:p>
          <a:p>
            <a:pPr>
              <a:spcBef>
                <a:spcPts val="400"/>
              </a:spcBef>
              <a:buChar char="•"/>
            </a:pPr>
            <a:r>
              <a:rPr>
                <a:latin typeface="Arial"/>
              </a:rPr>
              <a:t>NRW: align on innovation window hypotheses</a:t>
            </a:r>
          </a:p>
          <a:p>
            <a:pPr>
              <a:spcBef>
                <a:spcPts val="400"/>
              </a:spcBef>
              <a:buChar char="•"/>
            </a:pPr>
            <a:r>
              <a:rPr>
                <a:latin typeface="Arial"/>
              </a:rPr>
              <a:t>NRW: review sustainability &amp; social value KPIs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3" sz="quarter"/>
          </p:nvPr>
        </p:nvSpPr>
        <p:spPr/>
        <p:txBody>
          <a:bodyPr/>
          <a:lstStyle/>
          <a:p/>
        </p:txBody>
      </p:sp>
      <p:sp>
        <p:nvSpPr>
          <p:cNvPr id="4" name="Text Placeholder 3"/>
          <p:cNvSpPr>
            <a:spLocks noGrp="1"/>
          </p:cNvSpPr>
          <p:nvPr>
            <p:ph type="body" idx="14" sz="quarter"/>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