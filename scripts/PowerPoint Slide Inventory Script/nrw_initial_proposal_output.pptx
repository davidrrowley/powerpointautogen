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session is based on our initial proposal submission. The intent is to</a:t>
            </a:r>
            <a:br/>
            <a:r>
              <a:t>clarify how we have interpreted your requirements, explain how we would</a:t>
            </a:r>
            <a:br/>
            <a:r>
              <a:t>approach delivery, and provide confidence in how IBM and Stable would work</a:t>
            </a:r>
            <a:br/>
            <a:r>
              <a:t>with NRW. The emphasis is on controlled transformation rather than</a:t>
            </a:r>
            <a:br/>
            <a:r>
              <a:t>disruptive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move from context into our understanding of your environment,</a:t>
            </a:r>
            <a:br/>
            <a:r>
              <a:t>then clarify elements of our proposal before stepping through approach,</a:t>
            </a:r>
            <a:br/>
            <a:r>
              <a:t>delivery model and supporting areas. The intention is to create a clear</a:t>
            </a:r>
            <a:br/>
            <a:r>
              <a:t>line from requirement through to delivery and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is deliberately structured to avoid large-scale disruption.</a:t>
            </a:r>
            <a:br/>
            <a:r>
              <a:t>NRW is operating live services, so transformation has to be incremental,</a:t>
            </a:r>
            <a:br/>
            <a:r>
              <a:t>governed and evidence-led. This is reflected in how we structure discovery,</a:t>
            </a:r>
            <a:br/>
            <a:r>
              <a:t>architecture and delivery sequencing.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session is not intended to restate the written proposal. It is focused</a:t>
            </a:r>
            <a:br/>
            <a:r>
              <a:t>on making the reasoning behind it explicit. We will show how our approach</a:t>
            </a:r>
            <a:br/>
            <a:r>
              <a:t>aligns to your constraints and where we have made deliberate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proposal, we recognise fragmentation across customer data,</a:t>
            </a:r>
            <a:br/>
            <a:r>
              <a:t>integration patterns and user journeys. These issues are typically linked,</a:t>
            </a:r>
            <a:br/>
            <a:r>
              <a:t>with inconsistent identity models and disconnected systems driving both</a:t>
            </a:r>
            <a:br/>
            <a:r>
              <a:t>operational inefficiency and poor user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target outcomes described in the proposal centre on coherence rather</a:t>
            </a:r>
            <a:br/>
            <a:r>
              <a:t>than replacement. This includes a unified customer experience, trusted</a:t>
            </a:r>
            <a:br/>
            <a:r>
              <a:t>data for decision making and reduced dependency on manual processes,</a:t>
            </a:r>
            <a:br/>
            <a:r>
              <a:t>alongside internal capability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challenges imply that a single-step transformation would carry high</a:t>
            </a:r>
            <a:br/>
            <a:r>
              <a:t>risk. The proposal therefore emphasises sequencing, starting with identity</a:t>
            </a:r>
            <a:br/>
            <a:r>
              <a:t>and integration, and building towards consolidation and optimisation once</a:t>
            </a:r>
            <a:br/>
            <a:r>
              <a:t>confidence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describes a blended model where Stable is embedded within IBM</a:t>
            </a:r>
            <a:br/>
            <a:r>
              <a:t>delivery teams. This is not a subcontracting arrangement but a combined</a:t>
            </a:r>
            <a:br/>
            <a:r>
              <a:t>team structure that brings local knowledge and continuity alongside IBM's</a:t>
            </a:r>
            <a:br/>
            <a:r>
              <a:t>scale and specialist capability.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approach is framed as ongoing product evolution rather than a fixed</a:t>
            </a:r>
            <a:br/>
            <a:r>
              <a:t>programme. Governance and traceability are built in from the outset, and</a:t>
            </a:r>
            <a:br/>
            <a:r>
              <a:t>knowledge transfer is continuous to reduce long-term dependency.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is positioned as both a shaping and mobilisation phase. It runs</a:t>
            </a:r>
            <a:br/>
            <a:r>
              <a:t>across user research, technical assessment and delivery planning, ensuring</a:t>
            </a:r>
            <a:br/>
            <a:r>
              <a:t>that roadmap decisions are grounded in evidence and delivery realism.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parallel workstreams are explicitly described in the proposal.</a:t>
            </a:r>
            <a:br/>
            <a:r>
              <a:t>Together they establish a validated baseline, identify constraints and</a:t>
            </a:r>
            <a:br/>
            <a:r>
              <a:t>create a sequenced roadmap aligned to NRW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architecture is structured into four layers. Dynamics 365 owns the</a:t>
            </a:r>
            <a:br/>
            <a:r>
              <a:t>customer domain, the integration layer manages connectivity, and the data</a:t>
            </a:r>
            <a:br/>
            <a:r>
              <a:t>layer provides governed insight. This enables incremental change without</a:t>
            </a:r>
            <a:br/>
            <a:r>
              <a:t>tightly coupling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avoids a single-stage data consolidation. Instead it introduces</a:t>
            </a:r>
            <a:br/>
            <a:r>
              <a:t>a logical master record using shared identifiers, allowing systems to remain</a:t>
            </a:r>
            <a:br/>
            <a:r>
              <a:t>operational while integration resolves fragmentation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Sequencing is critical. Identity and integration are prioritised to improve</a:t>
            </a:r>
            <a:br/>
            <a:r>
              <a:t>user journeys quickly while managing risk. More complex changes are deferred</a:t>
            </a:r>
            <a:br/>
            <a:r>
              <a:t>until confidence in data quality and architecture increases.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are structured around product delivery, combining design, engineering</a:t>
            </a:r>
            <a:br/>
            <a:r>
              <a:t>and data capability. NRW stakeholders are embedded within teams to ensure</a:t>
            </a:r>
            <a:br/>
            <a:r>
              <a:t>alignment and support capability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Governance operates at three levels, supported by integrated risk management.</a:t>
            </a:r>
            <a:br/>
            <a:r>
              <a:t>This ensures alignment to organisational priorities while maintaining control</a:t>
            </a:r>
            <a:br/>
            <a:r>
              <a:t>over delivery quality and technical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highlights data quality and legacy constraints as primary risks.</a:t>
            </a:r>
            <a:br/>
            <a:r>
              <a:t>These are mitigated through structured validation, controlled integration</a:t>
            </a:r>
            <a:br/>
            <a:r>
              <a:t>patterns and incremental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innovation phase is designed to reduce uncertainty rather than deliver</a:t>
            </a:r>
            <a:br/>
            <a:r>
              <a:t>a full solution. It tests specific hypotheses around usability, accessibility</a:t>
            </a:r>
            <a:br/>
            <a:r>
              <a:t>and content effectiveness within the current estate.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 progresses through structured phases, each focused on generating</a:t>
            </a:r>
            <a:br/>
            <a:r>
              <a:t>evidence. Weak ideas are discarded early, allowing effort to focus on those</a:t>
            </a:r>
            <a:br/>
            <a:r>
              <a:t>that demonstrate measurable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Sustainability is embedded into delivery through operational practices such</a:t>
            </a:r>
            <a:br/>
            <a:r>
              <a:t>as FinOps and workload optimisation. The proposal also highlights the role</a:t>
            </a:r>
            <a:br/>
            <a:r>
              <a:t>of data platforms in supporting environmental decision 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Social value is delivered through the Stable partnership and broader</a:t>
            </a:r>
            <a:br/>
            <a:r>
              <a:t>engagement with Welsh communities, including skills programmes, local</a:t>
            </a:r>
            <a:br/>
            <a:r>
              <a:t>employment and collaboration with SMEs and social enterprises.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supports multiple commercial models depending on delivery phase.</a:t>
            </a:r>
            <a:br/>
            <a:r>
              <a:t>Early stages favour flexibility, while later stages can move towards greater</a:t>
            </a:r>
            <a:br/>
            <a:r>
              <a:t>cost certainty as scope becomes clearer.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next step is structured dialogue to refine assumptions and confirm</a:t>
            </a:r>
            <a:br/>
            <a:r>
              <a:t>priorities. This supports transition from initial proposal into final</a:t>
            </a:r>
            <a:br/>
            <a:r>
              <a:t>submission and mobilisation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inviting discussion. The intent is to explore areas where further</a:t>
            </a:r>
            <a:br/>
            <a:r>
              <a:t>clarification is needed and ensure alignment before progressing.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NRW DDaT Initial Proposal Presentation</a:t>
            </a:r>
          </a:p>
          <a:p>
            <a:r>
              <a:t>IBM Consulting and Stable Delivery Approach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Context and Purpose</a:t>
            </a:r>
          </a:p>
          <a:p>
            <a:pPr>
              <a:buChar char="•"/>
            </a:pPr>
            <a:r>
              <a:t>Understanding NRW</a:t>
            </a:r>
          </a:p>
          <a:p>
            <a:pPr>
              <a:buChar char="•"/>
            </a:pPr>
            <a:r>
              <a:t>Proposal Clarifications</a:t>
            </a:r>
          </a:p>
          <a:p>
            <a:pPr>
              <a:buChar char="•"/>
            </a:pPr>
            <a:r>
              <a:t>Customer Platform Approach</a:t>
            </a:r>
          </a:p>
          <a:p>
            <a:pPr>
              <a:buChar char="•"/>
            </a:pPr>
            <a:r>
              <a:t>Delivery and Governance</a:t>
            </a:r>
          </a:p>
          <a:p>
            <a:pPr>
              <a:buChar char="•"/>
            </a:pPr>
            <a:r>
              <a:t>Website Innovation</a:t>
            </a:r>
          </a:p>
          <a:p>
            <a:pPr>
              <a:buChar char="•"/>
            </a:pPr>
            <a:r>
              <a:t>Sustainability and Social Value</a:t>
            </a:r>
          </a:p>
          <a:p>
            <a:pPr>
              <a:buChar char="•"/>
            </a:pPr>
            <a:r>
              <a:t>Commercial Model</a:t>
            </a:r>
          </a:p>
          <a:p>
            <a:pPr>
              <a:buChar char="•"/>
            </a:pPr>
            <a: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1: Context and Purpose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Transformation must balance ambition with operational control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of this session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Clarify our proposal</a:t>
            </a:r>
          </a:p>
          <a:p>
            <a:pPr>
              <a:buChar char="•"/>
            </a:pPr>
            <a:r>
              <a:t>Demonstrate understanding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Explain delivery approach</a:t>
            </a:r>
          </a:p>
          <a:p>
            <a:pPr>
              <a:buChar char="•"/>
            </a:pPr>
            <a:r>
              <a:t>Provide transparency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2: Understanding NRW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systemic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Fragmented customer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Point-to-point integration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Limited journey visibility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Manual reconciliation effort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Desired outcomes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Consistent customer platform</a:t>
            </a:r>
          </a:p>
          <a:p>
            <a:pPr>
              <a:buChar char="•"/>
            </a:pPr>
            <a:r>
              <a:t>Improved data maturity</a:t>
            </a:r>
          </a:p>
          <a:p>
            <a:pPr>
              <a:buChar char="•"/>
            </a:pPr>
            <a:r>
              <a:t>Reduced complexity</a:t>
            </a:r>
          </a:p>
          <a:p>
            <a:pPr>
              <a:buChar char="•"/>
            </a:pPr>
            <a:r>
              <a:t>Sustainable capability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 for delivery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Phased transformation</a:t>
            </a:r>
          </a:p>
          <a:p>
            <a:pPr>
              <a:buChar char="•"/>
            </a:pPr>
            <a:r>
              <a:t>Incremental architecture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Integration before consolidation</a:t>
            </a:r>
          </a:p>
          <a:p>
            <a:pPr>
              <a:buChar char="•"/>
            </a:pPr>
            <a:r>
              <a:t>Capability embedded in delivery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3: Proposal Clarifications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IBM and Stable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Integrated delivery teams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Welsh-based capability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Bilingual alignment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Access to IBM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Product-led evolution</a:t>
            </a:r>
          </a:p>
          <a:p>
            <a:pPr>
              <a:buChar char="•"/>
            </a:pPr>
            <a:r>
              <a:t>Iterative delivery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Strong governance</a:t>
            </a:r>
          </a:p>
          <a:p>
            <a:pPr>
              <a:buChar char="•"/>
            </a:pPr>
            <a:r>
              <a:t>Continuous knowledge transfer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4: Customer Platform Approach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Discovery-led platform evolution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Define roadmap and architecture</a:t>
            </a:r>
          </a:p>
          <a:p>
            <a:pPr>
              <a:buChar char="•"/>
            </a:pPr>
            <a:r>
              <a:t>Validate through multiple lenses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Enable staged investment</a:t>
            </a:r>
          </a:p>
          <a:p>
            <a:pPr>
              <a:buChar char="•"/>
            </a:pPr>
            <a:r>
              <a:t>Support long-term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Discovery workstreams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User and stakeholder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Technical assessment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Architecture definition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Commercial shaping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platform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Decoupled engagement layer</a:t>
            </a:r>
          </a:p>
          <a:p>
            <a:pPr>
              <a:buChar char="•"/>
            </a:pPr>
            <a:r>
              <a:t>Dynamics as customer domain</a:t>
            </a:r>
          </a:p>
          <a:p>
            <a:pPr>
              <a:buChar char="•"/>
            </a:pPr>
            <a:r>
              <a:t>Azure integration layer</a:t>
            </a:r>
          </a:p>
          <a:p>
            <a:pPr>
              <a:buChar char="•"/>
            </a:pPr>
            <a:r>
              <a:t>Governed data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fragmentation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Shared customer identifier</a:t>
            </a:r>
          </a:p>
          <a:p>
            <a:pPr>
              <a:buChar char="•"/>
            </a:pPr>
            <a:r>
              <a:t>Integration-based reconciliation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Avoid early consolidation risk</a:t>
            </a:r>
          </a:p>
          <a:p>
            <a:pPr>
              <a:buChar char="•"/>
            </a:pPr>
            <a:r>
              <a:t>Progressive data improvement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Sequencing and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Identity first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Integration next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Consolidation later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Continuous validation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5: Delivery and Governance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Delivery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Multidisciplinary teams</a:t>
            </a:r>
          </a:p>
          <a:p>
            <a:pPr>
              <a:buChar char="•"/>
            </a:pPr>
            <a:r>
              <a:t>Agile delivery practices</a:t>
            </a:r>
          </a:p>
          <a:p>
            <a:pPr>
              <a:buChar char="•"/>
            </a:pPr>
            <a:r>
              <a:t>Blended NRW collaboration</a:t>
            </a:r>
          </a:p>
          <a:p>
            <a:pPr>
              <a:buChar char="•"/>
            </a:pPr>
            <a:r>
              <a:t>Continuous knowledge 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Strategic governance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Programme governance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Technical governance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Risk management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 and mitigations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Data quality challenges</a:t>
            </a:r>
          </a:p>
          <a:p>
            <a:pPr>
              <a:buChar char="•"/>
            </a:pPr>
            <a:r>
              <a:t>Legacy dependencies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Profiling and validation</a:t>
            </a:r>
          </a:p>
          <a:p>
            <a:pPr>
              <a:buChar char="•"/>
            </a:pPr>
            <a:r>
              <a:t>Integration abstraction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6: Website Innovation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12-week innovation window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Hypothesis-led approach</a:t>
            </a:r>
          </a:p>
          <a:p>
            <a:pPr>
              <a:buChar char="•"/>
            </a:pPr>
            <a:r>
              <a:t>Focused experimentation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Evidence-driven decisions</a:t>
            </a:r>
          </a:p>
          <a:p>
            <a:pPr>
              <a:buChar char="•"/>
            </a:pPr>
            <a:r>
              <a:t>Operate within constraints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Innovation phases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Explore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Ideate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Build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Scale or stop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7: Sustainability and Social Value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Sustainability approach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Cloud efficiency optimisation</a:t>
            </a:r>
          </a:p>
          <a:p>
            <a:pPr>
              <a:buChar char="•"/>
            </a:pPr>
            <a:r>
              <a:t>FinOps and GreenOps</a:t>
            </a:r>
          </a:p>
          <a:p>
            <a:pPr>
              <a:buChar char="•"/>
            </a:pPr>
            <a:r>
              <a:t>Carbon visibility</a:t>
            </a:r>
          </a:p>
          <a:p>
            <a:pPr>
              <a:buChar char="•"/>
            </a:pPr>
            <a:r>
              <a:t>Data for environmental insight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Social value in Wales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Welsh delivery presence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Local employment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20" sz="quarter"/>
          </p:nvPr>
        </p:nvSpPr>
        <p:spPr/>
        <p:txBody>
          <a:bodyPr/>
          <a:lstStyle/>
          <a:p>
            <a:r>
              <a:t>Skills development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SME engagement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8: Commercial Model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 models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model used depends on delivery phase and scope certainty.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Time and materials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Fixed price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Fixed capacity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9: Next Steps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Refine scope</a:t>
            </a:r>
          </a:p>
          <a:p>
            <a:pPr>
              <a:buChar char="•"/>
            </a:pPr>
            <a:r>
              <a:t>Align priorities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Confirm stakeholders</a:t>
            </a:r>
          </a:p>
          <a:p>
            <a:pPr>
              <a:buChar char="•"/>
            </a:pPr>
            <a:r>
              <a:t>Agree timelines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Questions and discussion welcome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