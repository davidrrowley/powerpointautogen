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+ Stable: Proposal for NRW DDaT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cover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joint proposition: scale, local presence, sustainable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IBM and Stable blended delivery model — proven transformation at scale</a:t>
            </a:r>
          </a:p>
          <a:p>
            <a:pPr>
              <a:buChar char="•"/>
            </a:pPr>
            <a:r>
              <a:t>Strong alignment with NRW objectives: customer experience and data maturity</a:t>
            </a:r>
          </a:p>
          <a:p>
            <a:pPr>
              <a:buChar char="•"/>
            </a:pPr>
            <a:r>
              <a:t>Sustainable capability uplift as a core delivery outcome</a:t>
            </a:r>
          </a:p>
          <a:p>
            <a:pPr>
              <a:buChar char="•"/>
            </a:pPr>
            <a:r>
              <a:t>Bilingual Welsh-based execution through the Team Wales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brings end-to-end DDaT capability to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End-to-end DDaT: discovery, design, engineering, data, and operations</a:t>
            </a:r>
          </a:p>
          <a:p>
            <a:pPr>
              <a:buChar char="•"/>
            </a:pPr>
            <a:r>
              <a:t>Deep Microsoft ecosystem: Dynamics 365, Power Platform, Azure, Fabric</a:t>
            </a:r>
          </a:p>
          <a:p>
            <a:pPr>
              <a:buChar char="•"/>
            </a:pPr>
            <a:r>
              <a:t>Experience in complex, regulated, multi-supplier environments</a:t>
            </a:r>
          </a:p>
          <a:p>
            <a:pPr>
              <a:buChar char="•"/>
            </a:pPr>
            <a:r>
              <a:t>Structured delivery through IBM Digital Product Design and Engineering</a:t>
            </a:r>
          </a:p>
          <a:p>
            <a:pPr>
              <a:buChar char="•"/>
            </a:pPr>
            <a:r>
              <a:t>Integrated architecture, data, and product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sets us apart from other framework suppliers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Team Wales model: stable, embedded, bilingual Welsh delivery capability</a:t>
            </a:r>
          </a:p>
          <a:p>
            <a:pPr>
              <a:buChar char="•"/>
            </a:pPr>
            <a:r>
              <a:t>Capability uplift baked into delivery from day one</a:t>
            </a:r>
          </a:p>
          <a:p>
            <a:pPr>
              <a:buChar char="•"/>
            </a:pPr>
            <a:r>
              <a:t>Product-led delivery with governance discipline and audit traceability</a:t>
            </a:r>
          </a:p>
          <a:p>
            <a:pPr>
              <a:buChar char="•"/>
            </a:pPr>
            <a:r>
              <a:t>Evidence-based decision model — avoid over-commitment 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unified customer experience across all NRW services and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structures discovery and shaping across three parallel tracks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Outcome: an evidence-based roadmap and investment business case</a:t>
            </a:r>
          </a:p>
          <a:p>
            <a:pPr>
              <a:buChar char="•"/>
            </a:pPr>
            <a:r>
              <a:t>All three tracks run concurrently across 18 to 24 months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User and stakeholder discovery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Technical and architectural assessment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Commercial and delivery framing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evidence flows directly into the investment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Traceability from user needs through architecture to commercial choices</a:t>
            </a:r>
          </a:p>
          <a:p>
            <a:pPr>
              <a:buChar char="•"/>
            </a:pPr>
            <a:r>
              <a:t>Validated assumptions around scale, complexity, and technical readiness</a:t>
            </a:r>
          </a:p>
          <a:p>
            <a:pPr>
              <a:buChar char="•"/>
            </a:pPr>
            <a:r>
              <a:t>Prioritised roadmap enabling staged and proportionate investment</a:t>
            </a:r>
          </a:p>
          <a:p>
            <a:pPr>
              <a:buChar char="•"/>
            </a:pPr>
            <a:r>
              <a:t>Clear delivery sequencing and confidence in feasibility before commitment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Four-layer architecture model for the NRW customer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architectural principles governing platform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Cloud-first, SaaS-preferred — avoid unnecessary custom build</a:t>
            </a:r>
          </a:p>
          <a:p>
            <a:pPr>
              <a:buChar char="•"/>
            </a:pPr>
            <a:r>
              <a:t>API-first and event-driven — decoupled and interoperable by design</a:t>
            </a:r>
          </a:p>
          <a:p>
            <a:pPr>
              <a:buChar char="•"/>
            </a:pPr>
            <a:r>
              <a:t>Governed data with clear lineage, ownership, and access controls</a:t>
            </a:r>
          </a:p>
          <a:p>
            <a:pPr>
              <a:buChar char="•"/>
            </a:pPr>
            <a:r>
              <a:t>Secure-by-design and compliant across all layers and environments</a:t>
            </a:r>
          </a:p>
          <a:p>
            <a:pPr>
              <a:buChar char="•"/>
            </a:pPr>
            <a:r>
              <a:t>Modular and loosely coupled — no legacy lock-in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Dynamics 365, Power Platform, and Azure as platform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Dynamics 365: authoritative customer domain and system of action</a:t>
            </a:r>
          </a:p>
          <a:p>
            <a:pPr>
              <a:buChar char="•"/>
            </a:pPr>
            <a:r>
              <a:t>CMS and SharePoint: structured content, publishing, and knowledge</a:t>
            </a:r>
          </a:p>
          <a:p>
            <a:pPr>
              <a:buChar char="•"/>
            </a:pPr>
            <a:r>
              <a:t>Azure Integration: decoupled data movement and orchestration layer</a:t>
            </a:r>
          </a:p>
          <a:p>
            <a:pPr>
              <a:buChar char="•"/>
            </a:pPr>
            <a:r>
              <a:t>Data platform: trusted, discoverable, reusable customer and operational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fragmentation is a core integration challenge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Canonical customer identifier model to unify records progressively</a:t>
            </a:r>
          </a:p>
          <a:p>
            <a:pPr>
              <a:buChar char="•"/>
            </a:pPr>
            <a:r>
              <a:t>Progressive unification — not big-bang consolidation across systems</a:t>
            </a:r>
          </a:p>
          <a:p>
            <a:pPr>
              <a:buChar char="•"/>
            </a:pPr>
            <a:r>
              <a:t>Mapping and matching across legacy systems and datasets</a:t>
            </a:r>
          </a:p>
          <a:p>
            <a:pPr>
              <a:buChar char="•"/>
            </a:pPr>
            <a:r>
              <a:t>Event-driven updates for near real-time consistency across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sequencing and risks across the programme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Early: identity model, APIs, and event layer foundations</a:t>
            </a:r>
          </a:p>
          <a:p>
            <a:pPr>
              <a:buChar char="•"/>
            </a:pPr>
            <a:r>
              <a:t>Mid-term: deduplication, survivorship rules, and governance processes</a:t>
            </a:r>
          </a:p>
          <a:p>
            <a:pPr>
              <a:buChar char="•"/>
            </a:pPr>
            <a:r>
              <a:t>Long-term: controlled data consolidation across legacy systems</a:t>
            </a:r>
          </a:p>
          <a:p>
            <a:pPr>
              <a:buChar char="•"/>
            </a:pPr>
            <a:r>
              <a:t>Risks: data quality, legacy dependencies, and ownership clarity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delivery model structured around product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Discovery team: multidisciplinary, hypothesis-led, and time-boxed</a:t>
            </a:r>
          </a:p>
          <a:p>
            <a:pPr>
              <a:buChar char="•"/>
            </a:pPr>
            <a:r>
              <a:t>Long-lived product teams sustaining Alpha, Beta, and Live phases</a:t>
            </a:r>
          </a:p>
          <a:p>
            <a:pPr>
              <a:buChar char="•"/>
            </a:pPr>
            <a:r>
              <a:t>Blended IBM, Stable, and NRW capability embedded throughout</a:t>
            </a:r>
          </a:p>
          <a:p>
            <a:pPr>
              <a:buChar char="•"/>
            </a:pPr>
            <a:r>
              <a:t>Progressive transition of ownership and skills to NRW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governance across strategic, programme, and technical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Strategic governance: alignment, prioritisation, and stakeholder confidence</a:t>
            </a:r>
          </a:p>
          <a:p>
            <a:pPr>
              <a:buChar char="•"/>
            </a:pPr>
            <a:r>
              <a:t>Programme governance: milestones, budget, dependencies, and risk tracking</a:t>
            </a:r>
          </a:p>
          <a:p>
            <a:pPr>
              <a:buChar char="•"/>
            </a:pPr>
            <a:r>
              <a:t>Technical governance: standards, security, and architectural consistency</a:t>
            </a:r>
          </a:p>
          <a:p>
            <a:pPr>
              <a:buChar char="•"/>
            </a:pPr>
            <a:r>
              <a:t>Risk management embedded across all delivery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testing, and operational sustainability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Security-by-design with zero-trust principles and early threat modelling</a:t>
            </a:r>
          </a:p>
          <a:p>
            <a:pPr>
              <a:buChar char="•"/>
            </a:pPr>
            <a:r>
              <a:t>Proportionate testing: automated, performance, and penetration coverage</a:t>
            </a:r>
          </a:p>
          <a:p>
            <a:pPr>
              <a:buChar char="•"/>
            </a:pPr>
            <a:r>
              <a:t>Observability, resilience, and operational runbooks from day one</a:t>
            </a:r>
          </a:p>
          <a:p>
            <a:pPr>
              <a:buChar char="•"/>
            </a:pPr>
            <a:r>
              <a:t>NRW capability transfer: skills, knowledge, and tooling ownership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IBM and Stable Team Wales resourcing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IBM capability: architecture, engineering, data, security, and product</a:t>
            </a:r>
          </a:p>
          <a:p>
            <a:pPr>
              <a:buChar char="•"/>
            </a:pPr>
            <a:r>
              <a:t>Stable as Welsh-based partner bringing local delivery strength</a:t>
            </a:r>
          </a:p>
          <a:p>
            <a:pPr>
              <a:buChar char="•"/>
            </a:pPr>
            <a:r>
              <a:t>Hybrid on-site and remote collaboration model across Wales</a:t>
            </a:r>
          </a:p>
          <a:p>
            <a:pPr>
              <a:buChar char="•"/>
            </a:pPr>
            <a:r>
              <a:t>NRW staff embedded in teams throughout for knowledge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12-week hypothesis-led window to generate evidence not production builds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innovation modes matched to problem clarity and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All modes are driven by measurable, agreed hypotheses</a:t>
            </a:r>
          </a:p>
          <a:p>
            <a:pPr>
              <a:buChar char="•"/>
            </a:pPr>
            <a:r>
              <a:t>Mode selection depends on problem definition and context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Discovery-led: explore unclear or poorly defined problems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Proof-led: test feasibility within known constraints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Optimisation-led: improve well-understood pain points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phases of the 12-week innovation programme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Phase 1 — Explore and Discover: journeys, data, content, accessibility</a:t>
            </a:r>
          </a:p>
          <a:p>
            <a:pPr>
              <a:buChar char="•"/>
            </a:pPr>
            <a:r>
              <a:t>Phase 2 — Ideate and Co-create: prototypes, experiments, bilingual review</a:t>
            </a:r>
          </a:p>
          <a:p>
            <a:pPr>
              <a:buChar char="•"/>
            </a:pPr>
            <a:r>
              <a:t>Phase 3 — Build and Co-execute: technical feasibility and integration</a:t>
            </a:r>
          </a:p>
          <a:p>
            <a:pPr>
              <a:buChar char="•"/>
            </a:pPr>
            <a:r>
              <a:t>Phase 4 — Scale and Decide: evidence packs and investment 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 from the 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Bilingual IA and navigation prototypes with user-tested journeys</a:t>
            </a:r>
          </a:p>
          <a:p>
            <a:pPr>
              <a:buChar char="•"/>
            </a:pPr>
            <a:r>
              <a:t>Search improvements and reusable bilingual content patterns</a:t>
            </a:r>
          </a:p>
          <a:p>
            <a:pPr>
              <a:buChar char="•"/>
            </a:pPr>
            <a:r>
              <a:t>Accessibility and WCAG improvements with documented audit trail</a:t>
            </a:r>
          </a:p>
          <a:p>
            <a:pPr>
              <a:buChar char="•"/>
            </a:pPr>
            <a:r>
              <a:t>Journey prototypes and feasibility evidence for live data integration</a:t>
            </a:r>
          </a:p>
          <a:p>
            <a:pPr>
              <a:buChar char="•"/>
            </a:pPr>
            <a:r>
              <a:t>Prioritised backlog and investment decision evidence pack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mitigations for the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Hypothesis clarity — must be agreed and baselined at programme start</a:t>
            </a:r>
          </a:p>
          <a:p>
            <a:pPr>
              <a:buChar char="•"/>
            </a:pPr>
            <a:r>
              <a:t>Access to users and content owners sustained across all four phases</a:t>
            </a:r>
          </a:p>
          <a:p>
            <a:pPr>
              <a:buChar char="•"/>
            </a:pPr>
            <a:r>
              <a:t>CMS and platform constraints limiting technical feasibility scope</a:t>
            </a:r>
          </a:p>
          <a:p>
            <a:pPr>
              <a:buChar char="•"/>
            </a:pPr>
            <a:r>
              <a:t>Managing expectations: output is evidence and prototypes, not production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sustainability embedded in our digital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GreenOps and FinOps practices for carbon-aware cloud usage</a:t>
            </a:r>
          </a:p>
          <a:p>
            <a:pPr>
              <a:buChar char="•"/>
            </a:pPr>
            <a:r>
              <a:t>Efficient resource allocation and environment lifecycle optimisation</a:t>
            </a:r>
          </a:p>
          <a:p>
            <a:pPr>
              <a:buChar char="•"/>
            </a:pPr>
            <a:r>
              <a:t>Digital solutions supporting NRW environmental insight objectives</a:t>
            </a:r>
          </a:p>
          <a:p>
            <a:pPr>
              <a:buChar char="•"/>
            </a:pPr>
            <a:r>
              <a:t>Aligned to NRW sustainability goals and net-zero commitments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through Stable and IBM in Wales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Stable: Welsh-based SME with direct local employment impact</a:t>
            </a:r>
          </a:p>
          <a:p>
            <a:pPr>
              <a:buChar char="•"/>
            </a:pPr>
            <a:r>
              <a:t>Internships, skills programmes, and university partnerships across Wales</a:t>
            </a:r>
          </a:p>
          <a:p>
            <a:pPr>
              <a:buChar char="•"/>
            </a:pPr>
            <a:r>
              <a:t>Support for Welsh charities and local digital communities</a:t>
            </a:r>
          </a:p>
          <a:p>
            <a:pPr>
              <a:buChar char="•"/>
            </a:pPr>
            <a:r>
              <a:t>Commitments scaled proportionately at call-off stage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flexible commercial model designed for discovery-first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Time and Materials for discovery and shaping phases</a:t>
            </a:r>
          </a:p>
          <a:p>
            <a:pPr>
              <a:buChar char="•"/>
            </a:pPr>
            <a:r>
              <a:t>Fixed price or fixed capacity for well-defined delivery scope</a:t>
            </a:r>
          </a:p>
          <a:p>
            <a:pPr>
              <a:buChar char="•"/>
            </a:pPr>
            <a:r>
              <a:t>Clear rate card assumptions with transparent volume discount principles</a:t>
            </a:r>
          </a:p>
          <a:p>
            <a:pPr>
              <a:buChar char="•"/>
            </a:pPr>
            <a:r>
              <a:t>Volume efficiencies available for sustained and expanded engagement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Stable: outcomes-led, evidence-based, built for NRW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