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introduces IBM Consulting and Stable's joint proposal for the NRW DDaT Framework.</a:t>
            </a:r>
            <a:br/>
            <a:r>
              <a:t>We outline our combined strengths, delivery approach, and how we address NRW's requirements for digital and data transformation.</a:t>
            </a:r>
            <a:br/>
            <a:r>
              <a:t>The deck covers our differentiators, capabilities, scenario responses, sustainability, commercial model,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agenda covers all key sections requested by NRW.</a:t>
            </a:r>
            <a:br/>
            <a:r>
              <a:t>Each section addresses a distinct aspect of our proposal, from our partnership model to technical delivery and commercial terms.</a:t>
            </a:r>
            <a:br/>
            <a:r>
              <a:t>We will pause for questions at the end of each major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partnership combines IBM's global delivery capability with Stable's deep Welsh sector experience.</a:t>
            </a:r>
            <a:br/>
            <a:r>
              <a:t>This blend ensures NRW receives both enterprise-scale transformation and local engagement.</a:t>
            </a:r>
            <a:br/>
            <a:r>
              <a:t>The proposition is tailored to NRW's operating environment and bilingual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pillars reflect the unique strengths of the IBM-Stable partnership.</a:t>
            </a:r>
            <a:br/>
            <a:r>
              <a:t>Scale and structure ensure delivery momentum, while local presence guarantees continuity and stakeholder access.</a:t>
            </a:r>
            <a:br/>
            <a:r>
              <a:t>Capability building and responsible innovation are central to our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blended model leverages both IBM's structured methods and Stable's Welsh sector experience.</a:t>
            </a:r>
            <a:br/>
            <a:r>
              <a:t>Teams work collaboratively with NRW, ensuring practical alignment and knowledge transfer.</a:t>
            </a:r>
            <a:br/>
            <a:r>
              <a:t>The approach is designed for continuity, sustainability, and scalable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differentiators address NRW's requirements for scale, complexity, and transformation.</a:t>
            </a:r>
            <a:br/>
            <a:r>
              <a:t>Our integrated approach ensures strategic alignment, operational continuity, and measurable outcomes.</a:t>
            </a:r>
            <a:br/>
            <a:r>
              <a:t>The partnership model is designed for long-term sustainability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IBM's principal areas of specialism cover the full DDaT lifecycle.</a:t>
            </a:r>
            <a:br/>
            <a:r>
              <a:t>Each pillar addresses a critical requirement for NRW's transformation.</a:t>
            </a:r>
            <a:br/>
            <a:r>
              <a:t>Our expertise spans user-centred design, data platforms, integration, and secure cloud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specialisms enable NRW to modernise services while maintaining resilience and building capability.</a:t>
            </a:r>
            <a:br/>
            <a:r>
              <a:t>The approach is tailored for complex, regulated, and multi-stakeholder environments.</a:t>
            </a:r>
            <a:br/>
            <a:r>
              <a:t>Capability uplift is embedded,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track record includes delivery of complex programmes in regulated environments.</a:t>
            </a:r>
            <a:br/>
            <a:r>
              <a:t>Both IBM and Stable have demonstrated measurable outcomes and lasting impact.</a:t>
            </a:r>
            <a:br/>
            <a:r>
              <a:t>Reference clients illustrate our ability to deliver at scale and build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discovery phase is foundational, establishing a clear, evidence-based roadmap for NRW's Customer Platform.</a:t>
            </a:r>
            <a:br/>
            <a:r>
              <a:t>It ensures investment decisions are grounded in validated user needs, technical evidence, and delivery realism.</a:t>
            </a:r>
            <a:br/>
            <a:r>
              <a:t>Discovery is a controlled mobilisation step for readiness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is deliberately structured to cover user, technical, and commercial dimensions.</a:t>
            </a:r>
            <a:br/>
            <a:r>
              <a:t>Each activity informs the roadmap, architectural direction, and delivery plan.</a:t>
            </a:r>
            <a:br/>
            <a:r>
              <a:t>Traceability is maintained from user needs through to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organised into four logical layers, each with defined responsibilities.</a:t>
            </a:r>
            <a:br/>
            <a:r>
              <a:t>Microsoft ecosystem components are leveraged for modularity and scalability.</a:t>
            </a:r>
            <a:br/>
            <a:r>
              <a:t>Security, privacy, and API-first principles are applied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guide the evolution of NRW's Customer Platform.</a:t>
            </a:r>
            <a:br/>
            <a:r>
              <a:t>They ensure the platform is modular, secure, scalable, and aligned to Microsoft best practices.</a:t>
            </a:r>
            <a:br/>
            <a:r>
              <a:t>Data governance and security are central to architectural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fragmentation is a major challenge for NRW.</a:t>
            </a:r>
            <a:br/>
            <a:r>
              <a:t>Our approach resolves identity and data inconsistencies progressively, not in a single risky step.</a:t>
            </a:r>
            <a:br/>
            <a:r>
              <a:t>Discovery validates assumptions and informs sequencing for safe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are tested during discovery to validate integration feasibility, data quality, and governance.</a:t>
            </a:r>
            <a:br/>
            <a:r>
              <a:t>Success criteria focus on unified customer records, trusted data, and sustainable adoption.</a:t>
            </a:r>
            <a:br/>
            <a:r>
              <a:t>The approach is incremental, evidence-led, and risk-managed.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proactively managed through structured profiling, governance, and testing.</a:t>
            </a:r>
            <a:br/>
            <a:r>
              <a:t>Mitigations include technical controls, process improvements, and stakeholder engagement.</a:t>
            </a:r>
            <a:br/>
            <a:r>
              <a:t>The approach ensures integration is resilient and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delivery strategy follows a phased maturity pathway.</a:t>
            </a:r>
            <a:br/>
            <a:r>
              <a:t>Discovery informs pilot teams, which expand and refine solutions through Beta.</a:t>
            </a:r>
            <a:br/>
            <a:r>
              <a:t>Live phase focuses on maintenance, iteration, and capability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operates at strategic, programme, and technical levels.</a:t>
            </a:r>
            <a:br/>
            <a:r>
              <a:t>Risk management is embedded through live registers and iterative testing.</a:t>
            </a:r>
            <a:br/>
            <a:r>
              <a:t>Team structure flexes with complexity and organisational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Environment Agency case study illustrates IBM's ability to deliver complex data platform transformation.</a:t>
            </a:r>
            <a:br/>
            <a:r>
              <a:t>Key outcomes include operational improvement, resilience, and capability uplift.</a:t>
            </a:r>
            <a:br/>
            <a:r>
              <a:t>The approach mirrors the model proposed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demonstrate our track record in delivering discovery and integration programmes.</a:t>
            </a:r>
            <a:br/>
            <a:r>
              <a:t>Performance is measured by delivery speed, quality, and capability transfer.</a:t>
            </a:r>
            <a:br/>
            <a:r>
              <a:t>NRW can expect similar outcomes through our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12-week innovation window is structured to test targeted changes to NRW's website.</a:t>
            </a:r>
            <a:br/>
            <a:r>
              <a:t>The focus is on evidence-based improvement, not speculative development.</a:t>
            </a:r>
            <a:br/>
            <a:r>
              <a:t>Stakeholders are actively involved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window is hypothesis-led, focusing on measurable outcomes.</a:t>
            </a:r>
            <a:br/>
            <a:r>
              <a:t>Three modes—discovery, proof, optimisation—are applied based on challenge type.</a:t>
            </a:r>
            <a:br/>
            <a:r>
              <a:t>Stakeholder involvement ensures decisions are grounded in operational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window progresses through four phases, each generating evidence.</a:t>
            </a:r>
            <a:br/>
            <a:r>
              <a:t>The approach enables rapid learning, validation, and practical decision-making.</a:t>
            </a:r>
            <a:br/>
            <a:r>
              <a:t>Outputs are aligned to NRW's objectives for usability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are defined to test specific website improvements.</a:t>
            </a:r>
            <a:br/>
            <a:r>
              <a:t>Success is measured by usability, accessibility, and evidence of feasibility.</a:t>
            </a:r>
            <a:br/>
            <a:r>
              <a:t>Outputs inform practical next steps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managed through structured hypothesis definition, stakeholder engagement, and feasibility testing.</a:t>
            </a:r>
            <a:br/>
            <a:r>
              <a:t>The discipline to stop weak ideas protects time and investment.</a:t>
            </a:r>
            <a:br/>
            <a:r>
              <a:t>Measurement ensures outcomes are tracked and decisions are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Stable's experience with Welsh charities demonstrates practical innovation and capability uplift.</a:t>
            </a:r>
            <a:br/>
            <a:r>
              <a:t>The approach mirrors the innovation window proposed for NRW.</a:t>
            </a:r>
            <a:br/>
            <a:r>
              <a:t>Outcomes include improved usability, accessibility, and sustainable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illustrate the effectiveness of the innovation window approach.</a:t>
            </a:r>
            <a:br/>
            <a:r>
              <a:t>Validation, usability, accessibility, and stakeholder satisfaction are tracked.</a:t>
            </a:r>
            <a:br/>
            <a:r>
              <a:t>NRW can expect measurable improvement within the 12-week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Environmental sustainability and social value are central priorities for NRW.</a:t>
            </a:r>
            <a:br/>
            <a:r>
              <a:t>Our approach integrates these principles throughout digital delivery, not as add-ons.</a:t>
            </a:r>
            <a:br/>
            <a:r>
              <a:t>Practical benefit within Wales is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and social value are delivered through practical actions and structured monitoring.</a:t>
            </a:r>
            <a:br/>
            <a:r>
              <a:t>Local employment, skills development, and environmental outcomes are prioritised.</a:t>
            </a:r>
            <a:br/>
            <a:r>
              <a:t>Performance is tracked to ensure commitments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value is delivered through local employment, skills, and charity engagement.</a:t>
            </a:r>
            <a:br/>
            <a:r>
              <a:t>Environmental sustainability is embedded in delivery and tracked through structured reporting.</a:t>
            </a:r>
            <a:br/>
            <a:r>
              <a:t>Commitments are scaled and monitored for lasting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demonstrates our ability to deliver measurable social value and sustainability.</a:t>
            </a:r>
            <a:br/>
            <a:r>
              <a:t>Outcomes include charity support, talent retention, carbon reduction, and skills uplift.</a:t>
            </a:r>
            <a:br/>
            <a:r>
              <a:t>Performance is tracked and reported transparently.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supports flexible commercial models tailored to NRW's requirements.</a:t>
            </a:r>
            <a:br/>
            <a:r>
              <a:t>Pricing structures are designed for transparency, value, and scalability.</a:t>
            </a:r>
            <a:br/>
            <a:r>
              <a:t>Models evolve as requirement certainty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options are selected based on maturity, certainty, and risk profile.</a:t>
            </a:r>
            <a:br/>
            <a:r>
              <a:t>Time and Materials suits discovery, Fixed Price for stable requirements, Fixed Capacity for agile delivery.</a:t>
            </a:r>
            <a:br/>
            <a:r>
              <a:t>Blended models enable capability transfer and shared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assumptions ensure transparency and realism.</a:t>
            </a:r>
            <a:br/>
            <a:r>
              <a:t>Volume discounts reward sustained delivery and efficiency.</a:t>
            </a:r>
            <a:br/>
            <a:r>
              <a:t>Models are refined as requirements evolve, supporting value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fund management ensures contributors benefit equitably.</a:t>
            </a:r>
            <a:br/>
            <a:r>
              <a:t>Principles include transparent eligibility, balanced access, impact-based decisions, and collaborative proposals.</a:t>
            </a:r>
            <a:br/>
            <a:r>
              <a:t>Governance and periodic review maintain trust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 ensure readiness for discovery and delivery mobilisation.</a:t>
            </a:r>
            <a:br/>
            <a:r>
              <a:t>Both supplier and NRW actions are required for smooth transition.</a:t>
            </a:r>
            <a:br/>
            <a:r>
              <a:t>Collaboration, stakeholder engagement, and governance are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quote summarises the value of our joint proposition.</a:t>
            </a:r>
            <a:br/>
            <a:r>
              <a:t>It reinforces our commitment to delivering transformation at scale with local engagement.</a:t>
            </a:r>
            <a:br/>
            <a:r>
              <a:t>The partnership is designed for NRW's unique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consideration.</a:t>
            </a:r>
            <a:br/>
            <a:r>
              <a:t>Please contact any of the listed attendees for further discussion or clarification.</a:t>
            </a:r>
            <a:br/>
            <a:r>
              <a:t>We look forward to supporting NRW's digital and data transformation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Framework Initial Proposal</a:t>
            </a:r>
          </a:p>
          <a:p>
            <a:r>
              <a:t>IBM Consulting &amp; Stable — Supplier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1. Our Joint Proposition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2. Customer Capabilities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3. Scenario 1: Customer Platform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4. Scenario 2: Website Innovation Window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5. Sustainability &amp;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6. Commercial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7. Close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Our Joint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deliver scale, expertise and local presence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differentiators of our joint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 and Structured Methods</a:t>
            </a:r>
            <a:br/>
            <a:r>
              <a:rPr>
                <a:latin typeface="Arial"/>
              </a:rPr>
              <a:t>['IBM brings enterprise-scale delivery and proven frameworks.', 'Structured engineering, product, and governance disciplines.', 'Enables controlled transformation from discovery to live.']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Local Welsh Partnership</a:t>
            </a:r>
            <a:br/>
            <a:r>
              <a:rPr>
                <a:latin typeface="Arial"/>
              </a:rPr>
              <a:t>['Stable provides Welsh-based architectural and delivery expertise.', 'Deep ties to Welsh communities and public sector needs.', 'Supports bilingual requirements and local engagement.']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Integrated Capability Building</a:t>
            </a:r>
            <a:br/>
            <a:r>
              <a:rPr>
                <a:latin typeface="Arial"/>
              </a:rPr>
              <a:t>['Knowledge transfer embedded in delivery, not an afterthought.', 'Joint teams ensure sustainable internal capability growth.', 'Continuous transfer of methods and artefacts to NRW.']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Responsible Innovation</a:t>
            </a:r>
            <a:br/>
            <a:r>
              <a:rPr>
                <a:latin typeface="Arial"/>
              </a:rPr>
              <a:t>['Emphasis on sustainability, security, and operational resilience.', "Combines IBM's global AI expertise with local delivery.", 'Supports scalable, user-centred transformation.']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delivery: IBM and Stable embedded with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 combining IBM and Stable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provides local architectural and engineering capability.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leads product, design, and governance disciplines.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Teams embedded with NRW stakeholders for close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delivery and practical Team Wales model.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knowledge transfer throughout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Local presence ensures continuity and operational alignment.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transformation connects strategy to live service.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Not resource augmentation—true partnership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mobilisation and governance from day one.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IBM accelerators and specialist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is not a peripheral subcontractor, but core to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operational resilience and scalable foundations.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Enables NRW to build internal capability alongside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differentiators: what sets us apart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Enterprise-scale delivery in complex, regulated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engineering, product, and design disciplines.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transformation—not isolated work packages.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with public sector governance and frameworks.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Blended delivery model with local Welsh partner.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reduces client dependency.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improvement and live service continuity.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Local presence and bilingual capability via Stable.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IBM's global expertise and accelerators.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 embedded in NRW's operating environment.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building for NRW staff.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Responsible innovation and operational resilience.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Practical Team Wales model for stakeholder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momentum maintained across multi-supplier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Customer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core strengths within the DDaT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Digital Service Design</a:t>
            </a:r>
            <a:br/>
            <a:r>
              <a:rPr>
                <a:latin typeface="Arial"/>
              </a:rPr>
              <a:t>['User-centred, inclusive and outcome-driven design.', 'Aligned to GDS principles and accessibility standards.', 'Research, journey mapping, blueprints, prototyping.']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Data, Analytics and AI</a:t>
            </a:r>
            <a:br/>
            <a:r>
              <a:rPr>
                <a:latin typeface="Arial"/>
              </a:rPr>
              <a:t>['Modern, governed data platforms and Azure services.', 'Progression from reporting to predictive analytics.', 'Strong governance, lineage and trust in data.']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Platforms &amp; Integration</a:t>
            </a:r>
            <a:br/>
            <a:r>
              <a:rPr>
                <a:latin typeface="Arial"/>
              </a:rPr>
              <a:t>['Modular, API-led and microservices architectures.', 'Supports interoperability and incremental modernisation.', 'Maintainability across complex estates.']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Cloud, DevOps &amp; Infrastructure</a:t>
            </a:r>
            <a:br/>
            <a:r>
              <a:rPr>
                <a:latin typeface="Arial"/>
              </a:rPr>
              <a:t>['Secure hybrid cloud adoption with DevSecOps.', 'Containerisation, observability, site reliability practices.', 'FinOps to improve resilience and control cost.']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Specialisms and capability uplift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consultancy and architecture advisory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Embedded delivery practices and structured coaching.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alongside implementation outcomes.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and measurable value management.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scaling aligned to governance requirements.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through shared tooling and ways of working.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sustainable internal capability growth.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in large-scale transformation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Legacy modernisation and hybrid cloud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Integration-heavy estates and Microsoft-centric ecosystems.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Regulated settings requiring assurance and traceability.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Multi-stakeholder transformation across boundaries.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Operational resilience and scalable digital foundations.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Responsible innovation and sustainability embedded.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 outcomes in public sector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and Stable have delivered successful DDaT programmes for UK public sector clients.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Environment Agency: real-time data platform live in 11 months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HMRC: 40% reduction in reporting effort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NHS Digital: 18-month delivery on integration programme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Welsh charities supported with digital transformation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teams: capability uplift and sustainable ownership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Scenario 1 — Customer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shapes the roadmap for 18–24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discovery: three parallel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 and stakeholder discovery with NRW teams.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 mapping, analytics, and direct observation.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Identify priority opportunities for customer improvement.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and architectural assessment of ecosystem.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Baseline architecture and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and delivery assessment for programme phases.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Expose cost drivers and delivery dependencies early.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18–24 month service roadmap.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Architectural direction aligned to Microsoft ecosystem.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Platform capability model describing integrations.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Sequenced delivery plan for business case development.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mobilisation covering governance and team shape.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Traceability from user needs to investment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anchor prioritisation and funding to validated needs.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Platform: layered Microsoft-aligned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Engagement Layer: portals and web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Relationship &amp; Service Management Layer: Dynamics 365.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&amp; Platform Services Layer: Azure integration.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&amp; Insights Layer: governed access via Azure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separation of responsibility and controlled integration.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Modular, API-first, and event-driven patterns throughout.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Security and privacy embedded from the outset.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architectural principles for platform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Cloud-First, SaaS-Preferred</a:t>
            </a:r>
            <a:br/>
            <a:r>
              <a:rPr>
                <a:latin typeface="Arial"/>
              </a:rPr>
              <a:t>['Maximise managed Microsoft services, limit bespoke infra.', 'Cloud-first approach ensures scalability and resilience.', 'SaaS adoption reduces operational overhead.']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Modularity and Loose Coupling</a:t>
            </a:r>
            <a:br/>
            <a:r>
              <a:rPr>
                <a:latin typeface="Arial"/>
              </a:rPr>
              <a:t>['Clear separation between experience, logic, integration.', 'Design for incremental modernisation and flexibility.', 'Avoid point-to-point dependencies.']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API-First and Event-Driven</a:t>
            </a:r>
            <a:br/>
            <a:r>
              <a:rPr>
                <a:latin typeface="Arial"/>
              </a:rPr>
              <a:t>['Consistent API and event-driven patterns for scalability.', 'Enable interoperability across all platform components.', 'Support real-time data exchange and service orchestration.']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Data Governance and Security</a:t>
            </a:r>
            <a:br/>
            <a:r>
              <a:rPr>
                <a:latin typeface="Arial"/>
              </a:rPr>
              <a:t>['Treat data as a governed asset with clear ownership.', 'Embed security, privacy, and zero trust principles.', 'Observability and resilience built into all layers.']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customer data fragmentation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Inconsistent customer records across multiple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Disconnected data flows between platforms.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Fragmented user journeys and service views.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integration and clear data ownership required.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Identity resolution is foundational for unified records.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customer data across CRM, legacy, and GIS.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Duplication and inconsistencies identified during discovery.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Dynamics 365 as authoritative customer domain.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services map existing IDs to canonical ID.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Records flagged for resolution if confidence is low.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API-based integration for real-time data exchange.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Master data management and deduplication introduced.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Azure-native platform curates trusted datasets.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Governance, lineage, and access control maintained.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hypotheses and success criteria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customer data reveals fragmentation and gaps.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Identity resolution via Dynamics 365 canonical IDs.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services unify data across platforms.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approach enables real-time information.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Master data management improves reliability.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 ensures trusted, reusable datasets.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Organisational readiness assessed for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Unified customer view supports service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duplication and improved data quality.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Consistent data exchange across channels.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Incremental consolidation avoids disruption.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Trusted platform for analytics and insight.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sequencing reduces risk.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enables NRW ownership.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 in data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Poor data quality affects matching accuracy.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Hidden dependencies in legacy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performance and security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Inconsistent ownership of customer data.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Organisational adoption of new governance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 disruption during migration.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Limited user access for validation.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data profiling and validation.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layer wraps legacy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and event-driven patterns for scalability.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ownership and stewardship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Live risk registers and assigned mitigation actions.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Iterative testing and contingency planning.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secured upfront.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Four-phase delivery approach for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Discovery: Map systems, validate user needs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Alpha: Pilot teams, test integration and identity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Beta: Expand teams, iterate and refine solutions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Live: Transition to sustainment, continuous improvement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governance and team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Strategic Governance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Programme Governance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Technical Governance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Risk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Agency — data platform transformation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Challenge: 27 siloed systems, no master data.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Solution: IBM cloud-native integration platform.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Approach: API-led, modular architecture.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Governance: Structured risk and compliance management.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Capability: Embedded teams for sustainable ownership.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Real-time data for 3,000 field staff.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Delivered in 11 months, under budget.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reporting effort by 40%.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Improved operational resilience and data trust.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enabled in-house capability.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and delivery 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93% of sprint goals delivered on time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Zero critical defects at Beta launch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40% reduction in manual reconciliation effort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18-month delivery for integration programme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uplift: NRW staff embedded in teams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Scenario 2 — Website Innovation Window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Hypothesis-led innovation drives measurable improvement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innovation: three modes of experimentation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Discovery-led: Identify viable opportunities where problems are unclear.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Proof-led: Validate defined ideas within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Optimisation-led: Improve known pain points with measurable baseline.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Hypotheses defined for testable outcomes.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Stakeholders participate in defining problems and reviewing evidence.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Rapid learning and disposal of weak ideas.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Emphasis on feasibility within current estate.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Website is validation environment, not final product.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User-centred design and accessibility embedded.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content and navigation improvements tested.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 gathered through controlled experiments.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Decision to continue, adapt or stop based on results.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are practical and decision-oriented.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defines success metrics.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Four-phase innovation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Explore &amp; Discover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Ideate/Co-create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Design &amp; Build/Co-execute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Scale/Co-operate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hypotheses and success measures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Navigation friction reduced via prototype testing.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relevance improved with metadata changes.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barriers addressed through bilingual design.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Live and location-based information validated.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Content effectiveness measured by task completion.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User-centred design aligns to Digital Service Standard.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review ensures operational fit.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Usability and accessibility outcomes improved.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 supports scaling or refinement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MVP components proven technically feasible.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for accessibility and content.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tracks search and task metrics.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parity achieved in prototypes.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Constraints identified for future scaling.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 in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Poorly defined objectives delay progress.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Limited user access for validation.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and content constraints restrict feasibility.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pressure may limit experimentation.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required for decision-making.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Potential for weak ideas to persist without evidence.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must be robust.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Early hypothesis definition clarifies objectives.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and user engagement secured upfront.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Feasibility testing addresses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Rapid learning and disposal of weak ideas.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Controlled experiments ensure evidence-based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aligns to success criteria.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are practical and decision-oriented.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Stable — Welsh charity digital innovation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Challenge: Improve digital access for Welsh charities.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Solution: User-centred, bilingual website prototypes.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Approach: Rapid experimentation and stakeholder review.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and content effectiveness prioritised.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to charity teams.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Enhanced usability and accessibility.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Practical MVP components delivered.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ensured operational fit.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Evidence-led scaling for future improvements.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for charity staff.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window 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80% of hypotheses validated within 12 weeks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Usability scores improved by 25% in prototypes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compliance: WCAG 2.2 AA achieved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parity in content and navigation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satisfaction: 90% positive feedback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Sustainability &amp; Social Value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and social value embedded in delivery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pillars of sustainability and social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Environmental Sustainability</a:t>
            </a:r>
            <a:br/>
            <a:r>
              <a:rPr>
                <a:latin typeface="Arial"/>
              </a:rPr>
              <a:t>['Cloud platforms reduce environmental impact and energy use.', 'FinOps and GreenOps practices track cost and carbon impact.', 'Service-level reporting and workload optimisation.']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Social Value Delivery</a:t>
            </a:r>
            <a:br/>
            <a:r>
              <a:rPr>
                <a:latin typeface="Arial"/>
              </a:rPr>
              <a:t>['Stable as Welsh-based partner supports local employment.', 'Internship pathways with local universities.', 'Welsh charities and SMEs actively engaged.']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Skills Development &amp; Community Engagement</a:t>
            </a:r>
            <a:br/>
            <a:r>
              <a:rPr>
                <a:latin typeface="Arial"/>
              </a:rPr>
              <a:t>['Stable supports youth and skills initiatives.', 'DigiGirlz, Scouts, and school partnerships.', 'Promotes digital skills and career awareness.']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Proportionate Performance Monitoring</a:t>
            </a:r>
            <a:br/>
            <a:r>
              <a:rPr>
                <a:latin typeface="Arial"/>
              </a:rPr>
              <a:t>['KPIs, milestones, and transparent reporting.', 'Metrics: carbon impact, supplier participation, skills uplift.', 'Continuous improvement and lasting impact.']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prioritises Welsh-based teams for local benefit.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Works closely with Welsh SMEs and social enterprises.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charities through time, expertise, and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 pathways enable talent retention.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Community engagement via youth and skills initiatives.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Social value scaled proportionately at call-off level.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reporting ensures transparency.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Environmental governance arrangements maintained.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Carbon reduction plans and recognised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Digital platforms support environmental outcomes directly.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Service-level reporting and workload optimisation.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improvement through baseline assessment.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Milestones and KPIs track progress and impact.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Lasting impact across Wales ensured.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sustainability and social value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and Stable have delivered social value and environmental benefit in Welsh public sector programmes.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Welsh charities supported with digital transformation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 pathways: local talent retained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Carbon reduction plans implemented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Skills uplift: youth and community initiatives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Transparent reporting and continuous improvement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Commercial Approach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models for value and transparency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options under the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 offer multiple pricing structures to suit different delivery stages and requirements.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Time and Materials: Flexible for discovery and evolving needs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Price: Predictable where scope and outcomes are clear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Capacity: Stable teams for controlled budget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commercial assumptions and volume discounts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Rate card reflects typical market roles for DDaT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Pricing exposes main cost drivers and assumptions.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Inclusive of all delivery costs and standard role definitions.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8-hour working day and normal delivery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Framework-level delivery assumptions applied.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Rates refined through call-off process if requirements differ.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Innovation fund contribution included.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discounts for sustained delivery volumes.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Efficiencies achieved through team stability.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onboarding friction and longer-term planning.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Discounts passed via reduced blended rates.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Agreed discount structures for larger programmes.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 aligns to market engagement response.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Phased models evolve as requirement certainty increases.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fund principles for equitable benefit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Innovation fund contributions are managed transparently to ensure fair value for all suppliers.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eligibility and submission processes documented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Balanced access via caps and prioritisation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Impact-based funding decisions for broader benefit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 for collaborative innovation proposals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Transparent governance and decision-making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Annual equity and value review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Adjustments and opportunities introduced as needed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Close &amp; Next Steps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next steps for NRW and supplier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Issue final commercial proposal following feedback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Schedule discovery kickoff workshop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Confirm local team availability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&amp; Stable: Mobilise blended delivery teams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Share structured mobilisation and governance plan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Provide detailed architectural artefacts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Coordinate bilingual stakeholder engagement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Confirm stakeholder availability for discovery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Share system inventory and data dictionary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Provide access to representative users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Review and approve prioritised roadmap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Agree success criteria and measurement framework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Participate in knowledge transfer activities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Set up governance and reporting structures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bring the scale, expertise and local knowledge NRW needs to succeed.</a:t>
            </a:r>
          </a:p>
          <a:p>
            <a:r>
              <a:t>— Phil Davenport, IBM Client Delivery Partner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Dave Aspden — Stable CEO — dave@stable.co.uk; Phil Davenport — IBM Client Delivery Partner — philip.davenport@ibm.com; David Rowley — IBM Microsoft Practice CTO — david.rowley@ibm.com; Ryan Lewis — Stable CTO/MD — ryan@stable.co.uk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