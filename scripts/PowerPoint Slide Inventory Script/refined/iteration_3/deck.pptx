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and introductions. This presentation sets out the IBM and Stable joint response to the NRW DDaT framework opportunity. We will cover our proposition, delivery approach, and commercial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IBM brings enterprise-grade DDaT capability and deep Microsoft ecosystem expertise. Stable brings Welsh-based bilingual delivery and strong local stakeholder relationships. Together the proposition is greater than the sum of its parts — addressing NRW's need for scale, sustainability and local accountability.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+ Stable Proposal for NRW DDaT Framework</a:t>
            </a:r>
          </a:p>
          <a:p>
            <a:r>
              <a:t>Delivering digital transformation for Natural Resources Wales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Joint proposition &amp; introductions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Strengths &amp; differentiators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1': 'Customer Platform'}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{'Scenario 2': 'Website Innovation Window'}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Sustainability &amp; social value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Commercial approach &amp; close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joint proposition: scale, local presence, sustainable capability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and Stable blended delivery model — proven transformation at scale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Strong alignment with NRW objectives: customer experience and data maturity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Sustainable capability uplift as a core delivery outcome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Welsh-based execution through the Team Wales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IBM brings end-to-end DDaT capability to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{'End-to-end DDaT': 'discovery to operations'}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{'Deep Microsoft ecosystem': 'Dynamics 365, Power Platform, Azure, Fabric'}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Proven delivery in regulated, multi-supplier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Structured approach via IBM Digital Product Design &amp; Engineering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Integrated architecture, data, and product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Differentiators vs other framework suppliers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Embedded, stable, bilingual Welsh delivery capability (Team Wales model)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Capability uplift built into delivery from day one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Product-led delivery with governance discipline and audit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Evidence-based decisions to avoid early over-commitment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unified customer experience across NRW services and channels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parallel tracks to shape an evidence-based roadmap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{'Outcome': 'evidence-based roadmap and investment business case'}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Runs concurrently over 18–24 months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Commercial &amp; delivery framing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Business case, benefits, costs, delivery approach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pPr>
              <a:spcBef>
                <a:spcPts val="400"/>
              </a:spcBef>
            </a:pPr>
            <a:r>
              <a:rPr>
                <a:latin typeface="Arial"/>
              </a:rPr>
              <a:t>{'Output': 'investment case and implementation plan'}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Evidence to Investment Decisions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Trace needs → architecture → commercial choices, with full traceability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Validate assumptions on scale, complexity, and technical readiness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 a staged, proportionate investment roadmap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Sequence delivery with feasibility confidence before commitment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Customer Platform — Four-layer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Customer Engagement: portals, web, content, bilingual interfaces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CRM &amp; Service Management: Dynamics 365 as system of action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Integration &amp; Platform Services: Azure API, orchestration, events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Data &amp; Insights: governed Azure and Fabric data services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principles for platform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{'Cloud-first, SaaS-preferred': 'minimize custom build'}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{'API-first &amp; event-driven': 'decouple for interoperability'}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{'Governed data': 'lineage, ownership, access controls'}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Secure-by-design &amp; compliant across layers and environments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{'Modular &amp; loosely coupled': 'avoid legacy lock-in'}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building blocks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{'Dynamics 365': 'Authoritative customer domain and system of action'}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{'CMS &amp; SharePoint': 'Structured content, publishing, and knowledge'}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{'Azure Integration': 'Decoupled data movement and orchestration'}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{'Data platform': 'Trusted, discoverable, reusable customer and operational data'}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data fragmentation hinders integration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Unify records progressively with a canonical customer ID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Map &amp; match across legacy systems and datasets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Use event-driven updates for near real-time consistency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Avoid big-bang consolidation; reduce integration risk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sequencing &amp; key risks across the lifecycle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{'Early': 'identity model, APIs, event layer foundations'}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{'Mid-term': 'deduplication, survivorship rules, governance processes'}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{'Long-term': 'controlled consolidation across legacy systems'}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{'Key risks': 'data quality, legacy dependencies, ownership clarity'}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Product-team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{'Discovery': 'multidisciplinary, hypothesis-led, time-boxed'}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Alpha, Beta, Live phases delivered by long-lived product teams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IBM, Stable, and NRW capabilities embedded across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Ownership and skills transition progressively to NRW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Three-tier governance for delivery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{'Strategic': 'alignment, prioritisation, stakeholder confidence'}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{'Programme': 'milestones, budget, dependencies, risk tracking'}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{'Technical': 'standards, security, architectural consistency'}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Risk management embedded across all delivery cycles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Security, testing, and operations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{'Security-by-design': 'zero trust and early threat modelling'}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{'Proportionate testing': 'automated, performance, and penetration coverage'}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{'Observability &amp; resilience': 'runbooks from day one'}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{'NRW transfer': 'skills, knowledge, and tooling ownership'}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Blended resourcing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IBM architecture, engineering, data, security, and product expertise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Stable Team Wales provides Welsh-based delivery strength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{'Hybrid delivery': 'on-site + remote collaboration across Wales'}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NRW staff embedded to accelerate knowledge transfer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12-week hypothesis-led window to generate evidence, not production builds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innovation mode by clarity and readiness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{'Discovery-led': 'Explore unclear or poorly defined problems'}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{'Proof-led': 'Test feasibility within known constraints'}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{'Optimisation-led': 'Improve well-understood pain points'}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Select using measurable, agreed hypotheses and context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phases of the 12-week innovation 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/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 from the 12-week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Bilingual IA &amp; navigation prototypes with user-tested journeys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Search improvements and reusable bilingual content patterns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Accessibility (WCAG) enhancements with documented audit trail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Journey prototypes and feasibility evidence for live data integration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Prioritised backlog and investment decision evidence pack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 window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Clarify baseline hypothesis at programme start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Secure user and content-owner access across all four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CMS/platform constraints limit feasible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{'Manage expectations': 'evidence and prototypes, not production'}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 sustainability in our digital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Apply GreenOps and FinOps for carbon-aware cloud usage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Optimize resource allocation and environment lifecycle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Enable digital solutions for NRW environmental insight objectives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Align delivery with NRW sustainability goals and net-zero commitments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value commitments in Wales (Stable + IBM)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{'Stable': 'Welsh SMEs; direct local jobs and skills impact'}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{'Stable': 'internships, skills programmes, university partnerships'}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{'Stable': 'support for Welsh charities and local digital communities'}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Commitments scaled proportionately at call-off stage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model options for discovery-first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Time &amp; Materials for discovery and shaping phases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Transparent rate-card assumptions with volume discount principles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Fixed price or fixed capacity for defined delivery scope</a:t>
            </a:r>
          </a:p>
          <a:p>
            <a:pPr>
              <a:spcBef>
                <a:spcPts val="400"/>
              </a:spcBef>
              <a:buChar char="•"/>
            </a:pPr>
            <a:r>
              <a:rPr>
                <a:latin typeface="Arial"/>
              </a:rPr>
              <a:t>Volume efficiencies for sustained and expanded engagement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Outcomes-led, evidence-based delivery for NRW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