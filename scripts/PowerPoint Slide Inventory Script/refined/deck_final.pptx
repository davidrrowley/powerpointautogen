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introductions. This presentation sets out the IBM and Stable joint response to the NRW DDaT framework opportunity. We will cover our proposition, delivery approach, and commercial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IBM brings enterprise-grade DDaT capability and deep Microsoft ecosystem expertise. Stable brings Welsh-based bilingual delivery and strong local stakeholder relationships. Together the proposition is greater than the sum of its parts — addressing NRW's need for scale, sustainability and local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+ Stable Proposal for NRW DDaT Framework</a:t>
            </a:r>
          </a:p>
          <a:p>
            <a:r>
              <a:t>Digital transformation delivery for Natural Resources Wales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Joint proposition &amp; introductions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Strengths &amp; differentiators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{'Scenario 1': 'Customer Platform'}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{'Scenario 2': 'Website Innovation Window'}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Sustainability &amp; social value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Commercial approach &amp; close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joint proposition: scale, local presence, sustainable capability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and Stable blended delivery model — proven transformation at scale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Strong alignment with NRW objectives: customer experience and data maturity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Sustainable capability uplift as a core delivery outcome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Welsh-based execution through the Team Wales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delivers end-to-end DDaT for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{'End-to-end DDaT': 'discovery to operations'}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{'Deep Microsoft ecosystem': 'Dynamics 365, Power Platform, Azure, Fabric'}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Proven delivery in regulated, multi-supplier environments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approach via IBM Digital Product Design &amp; Engineering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Integrated architecture, data, and product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differentiators vs other framework suppliers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Embedded, stable bilingual Welsh delivery (Team Wales model)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 built into delivery from day one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Product-led delivery with governance discipline and audit traceability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Evidence-based decisions to avoid early over-commitment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unified customer experience across NRW services and channels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parallel tracks to shape an evidence-based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{'Outcome': 'evidence-based roadmap and investment business case'}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{'Lane 3': 'Commercial &amp; delivery framing'}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{'Business case': 'benefits, costs, delivery approach'}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{'Output': 'investment case and implementation plan'}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to Investment Decisions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Trace needs to architecture to commercial choices—full traceability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{'Validate assumptions': 'scale, complexity, and technical readiness'}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Use a staged, proportionate investment roadmap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Commit only after delivery feasibility confidence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Customer Platform — Four-layer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{'Customer Engagement': 'portals, web, content, bilingual interfaces'}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{'CRM &amp; Service Management': 'Dynamics 365 as system of action'}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{'Integration &amp; Platform Services': 'Azure API, orchestration, events'}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{'Data &amp; Insights': 'governed Azure + Fabric data services'}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principles for platform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{'Dynamics 365': 'Authoritative customer domain and system of action'}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{'CMS &amp; SharePoint': 'Structured content, publishing, and knowledge'}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{'Azure Integration': 'Decoupled data movement and orchestration'}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{'Data platform': 'Trusted, discoverable, reusable customer and operational data'}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data fragmentation hinders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Unify records progressively using a canonical customer ID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Map and match across legacy systems and datasets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Use event-driven updates for near real-time consistency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Avoid big-bang consolidation to reduce integration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sequencing &amp; key risks across the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{'Early': 'Identity model, APIs, event layer foundations'}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{'Mid-term': 'Deduplication, survivorship rules, governance processes'}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{'Long-term': 'Controlled consolidation across legacy systems'}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{'Key risks': 'Data quality, legacy dependencies, ownership clarity'}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Product-team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{'Discovery': 'multidisciplinary, hypothesis-led, time-boxed'}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Alpha, Beta, Live delivered by long-lived product teams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IBM, Stable, NRW capabilities embedded across phases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Ownership and skills transition progressively to NRW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Three-tier governance for delivery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{'Strategic': 'alignment, prioritisation, stakeholder confidence'}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{'Programme': 'milestones, budget, dependencies, risk tracking'}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{'Technical': 'standards, security, architectural consistency'}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Risk management embedded across all delivery cycles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Security, testing, and operations by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Security-by-design: zero trust and early threat modelling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Proportionate testing: automated, performance, and pen coverage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Observability &amp; resilience: runbooks from day one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 transfer: skills, knowledge, and tooling ownership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Blended resourcing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{'IBM experts': 'architecture, engineering, data, security, product'}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{'Stable Team Wales': 'Welsh-based delivery strength'}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{'Hybrid delivery': 'on-site + remote collaboration across Wales'}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 staff embedded to accelerate knowledge transfer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12-week hypothesis-led window to generate evidence, not production builds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mode selection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{'Discovery-led': 'Explore unclear problems and define the right question'}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{'Proof-led': 'Test feasibility with clear hypotheses and constraints'}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{'Optimisation-led': 'Improve known pain points with measurable outcomes'}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Choose by clarity and readiness, using agreed hypotheses and context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phases of the 12-week innovation 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outputs from the 12-week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IA &amp; navigation prototypes with user-tested journeys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Search improvements and reusable bilingual content patterns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Accessibility (WCAG) enhancements with documented audit trail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Journey prototypes and feasibility evidence for live data integration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Prioritised backlog and investment decision evidence pack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window risks and mitigations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Clarify baseline hypothesis at programme start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Secure user and content-owner access across all four phases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CMS/platform constraints limit feasible scope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{'Manage expectations': 'evidence and prototypes, not production'}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 sustainability in our digital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Apply GreenOps and FinOps for carbon-aware cloud usage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Optimize resource allocation and environment lifecycle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Enable digital solutions for NRW environmental insight objectives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Align delivery with NRW sustainability goals and net-zero commitments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value commitments in Wales (Stable + IBM)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{'Welsh SMEs': 'direct local jobs and skills impact'}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Internships, skills programmes, and university partnerships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 for Welsh charities and local digital communities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Commitments scaled proportionately at call-off stage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model options for discovery-first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Time &amp; Materials for discovery and shaping phases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Transparent rate-card assumptions with volume discount principles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Fixed price or fixed capacity for defined delivery scope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Volume efficiencies for sustained and expanded engagement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Outcomes-led, evidence-based delivery for NRW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