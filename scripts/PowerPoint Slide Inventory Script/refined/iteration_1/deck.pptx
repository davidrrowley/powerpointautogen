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introductions. This presentation sets out the IBM and Stable joint response to the NRW DDaT framework opportunity. We will cover our proposition, delivery approach, and commercial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brings enterprise-grade DDaT capability and deep Microsoft ecosystem expertise. Stable brings Welsh-based bilingual delivery and strong local stakeholder relationships. Together the proposition is greater than the sum of its parts — addressing NRW's need for scale, sustainability and local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+ Stable: Proposal for NRW DDaT Framework</a:t>
            </a:r>
          </a:p>
          <a:p>
            <a:r>
              <a:t>Delivering digital transformation for Natural Resources Wales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will cover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Introductions and our joint proposition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Strengths and differentiators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Scenario 1 — Customer Platform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Scenario 2 — Website Innovation Window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Sustainability and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Close and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joint proposition: scale, local presence, sustainable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blended delivery model — proven transformation at scale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Strong alignment with NRW objectives: customer experience and data maturity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as a core delivery outcome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Welsh-based execution through the Team Wales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brings end-to-end DDaT capability to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End-to-end DDaT: discovery, design, engineering, data, and operations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Deep Microsoft ecosystem: Dynamics 365, Power Platform, Azure, Fabric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in complex, regulated, multi-supplier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delivery through IBM Digital Product Design and Engineering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architecture, data, and product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sets us apart from other framework suppliers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Team Wales model: stable, embedded, bilingual Welsh delivery capability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baked into delivery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with governance discipline and audit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decision model — avoid over-commitment early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unified customer experience across all NRW services and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structures discovery and shaping across three parallel tracks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an evidence-based roadmap and investment business case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All three tracks run concurrently across 18 to 24 months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User and stakeholder discovery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and architectural assessment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Commercial and delivery framing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evidence flows directly into the investment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Traceability from user needs through architecture to commercial choices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Validated assumptions around scale, complexity, and technical readiness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roadmap enabling staged and proportionate investment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delivery sequencing and confidence in feasibility before commitment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Four-layer architecture model for the NRW customer platform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Engagement: portals, web, content, bilingual interfaces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CRM and Service Management: Dynamics 365 as the system of action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and Platform Services: Azure API, orchestration, events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and Insights: governed Azure and Fabric data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architectural principles governing platform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Cloud-first, SaaS-preferred — avoid unnecessary custom build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and event-driven — decoupled and interoperable by design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Governed data with clear lineage, ownership, and access controls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Secure-by-design and compliant across all layers and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Modular and loosely coupled — no legacy lock-in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Dynamics 365, Power Platform, and Azure as platform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Dynamics 365: authoritative customer domain and system of action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CMS and SharePoint: structured content, publishing, and knowledge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Azure Integration: decoupled data movement and orchestration layer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platform: trusted, discoverable, reusable customer and operational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fragmentation is a core integration challenge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Canonical customer identifier model to unify records progressively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Progressive unification — not big-bang consolidation across systems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and matching across legacy systems and datasets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Event-driven updates for near real-time consistency across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sequencing and risks across the programme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Early: identity model, APIs, and event layer foundations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Mid-term: deduplication, survivorship rules, and governance processes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Long-term: controlled data consolidation across legacy systems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Risks: data quality, legacy dependencies, and ownership clarity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delivery model structured around product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Discovery team: multidisciplinary, hypothesis-led, and time-boxed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Long-lived product teams sustaining Alpha, Beta, and Live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IBM, Stable, and NRW capability embedded throughout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Progressive transition of ownership and skills to NRW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governance across strategic, programme, and technical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Strategic governance: alignment, prioritisation, and stakeholder confidence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Programme governance: milestones, budget, dependencies, and risk tracking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governance: standards, security, and architectural consistency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Risk management embedded across all delivery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testing, and operational sustainability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Security-by-design with zero-trust principles and early threat modelling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Proportionate testing: automated, performance, and penetration coverage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Observability, resilience, and operational runbooks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capability transfer: skills, knowledge, and tooling ownership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IBM and Stable Team Wales resourcing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capability: architecture, engineering, data, security, and product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as Welsh-based partner bringing local delivery strength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Hybrid on-site and remote collaboration model across Wales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staff embedded in teams throughout for knowledge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12-week hypothesis-led window to generate evidence not production builds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innovation modes matched to problem clarity and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All modes are driven by measurable, agreed hypotheses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Mode selection depends on problem definition and context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Discovery-led: explore unclear or poorly defined problems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Proof-led: test feasibility within known constraints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Optimisation-led: improve well-understood pain points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phases of the 12-week innovation programme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 1 — Explore and Discover: journeys, data, content, accessibility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 2 — Ideate and Co-create: prototypes, experiments, bilingual review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 3 — Build and Co-execute: technical feasibility and integration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 4 — Scale and Decide: evidence packs and investment recommendations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 from the 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IA and navigation prototypes with user-tested journeys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improvements and reusable bilingual content patterns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and WCAG improvements with documented audit trail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Journey prototypes and feasibility evidence for live data integration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and investment decision evidence pack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and mitigations for the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Hypothesis clarity — must be agreed and baselined at programme start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users and content owners sustained across all four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CMS and platform constraints limiting technical feasibility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Managing expectations: output is evidence and prototypes, not production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sustainability embedded in our digital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GreenOps and FinOps practices for carbon-aware cloud usage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Efficient resource allocation and environment lifecycle optimisation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Digital solutions supporting NRW environmental insight objectives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Aligned to NRW sustainability goals and net-zero commitments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through Stable and IBM in Wales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Welsh-based SME with direct local employment impact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Internships, skills programmes, and university partnerships across Wales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 for Welsh charities and local digital communities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Commitments scaled proportionately at call-off stage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flexible commercial model designed for discovery-first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and Materials for discovery and shaping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Fixed price or fixed capacity for well-defined delivery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rate card assumptions with transparent volume discount principles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efficiencies available for sustained and expanded engagement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Stable: outcomes-led, evidence-based, built for NRW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 welcome challenge — open to questions on any area of today's proposal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