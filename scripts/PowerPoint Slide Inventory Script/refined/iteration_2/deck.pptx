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introductions. This presentation sets out the IBM and Stable joint response to the NRW DDaT framework opportunity. We will cover our proposition, delivery approach, and commercial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brings enterprise-grade DDaT capability and deep Microsoft ecosystem expertise. Stable brings Welsh-based bilingual delivery and strong local stakeholder relationships. Together the proposition is greater than the sum of its parts — addressing NRW's need for scale, sustainability and local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+ Stable Proposal for NRW DDaT Framework</a:t>
            </a:r>
          </a:p>
          <a:p>
            <a:r>
              <a:t>Delivering digital transformation for Natural Resources Wales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proposition &amp; introductions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Strengths &amp; differentiators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1': 'Customer Platform'}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2': 'Website Innovation Window'}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&amp;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joint proposition: scale, local presence, sustainable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blended delivery model — proven transformation at scale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Strong alignment with NRW objectives: customer experience and data maturity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as a core delivery outcome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Welsh-based execution through the Team Wales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brings end-to-end DDaT capability to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{'End-to-end DDaT': 'discovery to operations'}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{'Deep Microsoft ecosystem': 'Dynamics 365, Power Platform, Azure, Fabric'}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Proven delivery in regulated, multi-supplier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approach via IBM Digital Product Design &amp; Engineering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architecture, data, and product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differentiates us from other framework suppliers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{'Team Wales model': 'stable, embedded, bilingual Welsh delivery capability'}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built into delivery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with governance discipline and audit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decisions to avoid early over-commitment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unified customer experience across all NRW services and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parallel tracks to shape an evidence-based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{'Outcome': 'evidence-based roadmap and investment business case'}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Runs concurrently over 18–24 months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Commercial &amp; delivery framing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Business case, benefits, costs, delivery approach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{'Outputs': 'investment case and implementation plan'}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to investment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Traceability from user needs to architecture to commercial choices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Validated assumptions on scale, complexity, and technical readiness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roadmap for staged, proportionate investment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Sequenced delivery with feasibility confidence before commitment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Four-layer architecture model for the NRW customer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Engagement: portals, web, content, bilingual interfaces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CRM and Service Management: Dynamics 365 as the system of action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and Platform Services: Azure API, orchestration, events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and Insights: governed Azure and Fabric data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principles for platform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{'Cloud-first, SaaS-preferred': 'minimize custom build'}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{'API-first &amp; event-driven': 'decouple for interoperability'}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{'Governed data': 'lineage, ownership, and access controls'}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Secure-by-design &amp; compliant across layers and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{'Modular &amp; loosely coupled': 'avoid legacy lock-in'}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{'Dynamics 365': 'authoritative customer domain and system of action'}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{'CMS &amp; SharePoint': 'structured content, publishing, and knowledge'}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{'Azure Integration': 'decoupled data movement and orchestration layer'}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{'Data platform': 'trusted, discoverable, reusable customer and operational data'}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data fragmentation hinders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Canonical customer identifier to unify records progressively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Progressive unification—avoid big-bang consolidation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and matching across legacy systems and datasets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Event-driven updates for near real-time consistency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sequencing &amp; key risks across the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{'Early': 'identity model, APIs, event layer foundations'}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{'Mid-term': 'deduplication, survivorship rules, governance processes'}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{'Long-term': 'controlled consolidation across legacy systems'}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{'Risks': 'data quality, legacy dependencies, ownership clarity'}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Product-team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{'Discovery team': 'multidisciplinary, hypothesis-led, time-boxed'}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Long-lived product teams sustain Alpha, Beta, and Live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IBM, Stable, and NRW capabilities embedded throughout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Ownership and skills progressively transition to NRW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governance for delivery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{'Strategic': 'alignment, prioritisation, stakeholder confidence'}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{'Programme': 'milestones, budget, dependencies, risk tracking'}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{'Technical': 'standards, security, architectural consistency'}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Risk management embedded across all delivery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testing, and operations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{'Security-by-design': 'zero trust and early threat modelling'}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{'Proportionate testing': 'automated, performance, and penetration coverage'}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{'Observability and resilience': 'runbooks from day one'}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{'NRW transfer': 'skills, knowledge, and tooling ownership'}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resourcing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{'IBM': 'architecture, engineering, data, security, product'}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 Team Wales': 'Welsh-based delivery strength'}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{'Hybrid delivery': 'on-site + remote collaboration across Wales'}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staff embedded for knowledge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12-week hypothesis-led window to generate evidence, not production builds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modes by problem clarity and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Select mode using measurable, agreed hypotheses and context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{'title': 'Optimisation-led', 'body': 'Improve well-understood pain points'}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phases of the 12-week innovation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 from the 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IA &amp; navigation prototypes with user-tested journeys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improvements and reusable bilingual content patterns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and WCAG improvements with documented audit trail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Journey prototypes and feasibility evidence for live data integration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and investment decision evidence pack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Baseline hypothesis clarity at programme start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 user and content-owner access across all four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CMS/platform constraints limit feasible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{'Manage expectations': 'evidence and prototypes, not production'}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 sustainability in our digital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Apply GreenOps and FinOps for carbon-aware cloud usage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Optimize resource allocation and environment lifecycle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 digital solutions for NRW environmental insight objectives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Align delivery with NRW sustainability goals and net-zero commitments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Wales (Stable + IBM)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{'Stable': 'Welsh SME; direct local jobs and skills impact'}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Internships, skills programmes, and university partnerships across Wales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 for Welsh charities and local digital communities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Commitments scaled proportionately at call-off stage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 for discovery-first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&amp; Materials for discovery and shaping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Fixed price or fixed capacity for defined delivery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Transparent rate-card assumptions with volume discount principles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efficiencies for sustained and expanded engagement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Outcomes-led, evidence-based delivery for NRW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 welcome challenge—open to questions on any area of today’s proposal.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