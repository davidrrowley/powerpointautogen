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891" r:id="rId1"/>
  </p:sldMasterIdLst>
  <p:notesMasterIdLst>
    <p:notesMasterId r:id="rId94"/>
  </p:notesMasterIdLst>
  <p:handoutMasterIdLst>
    <p:handoutMasterId r:id="rId95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</p:sldIdLst>
  <p:sldSz cx="9144000" cy="5143500" type="screen16x9"/>
  <p:notesSz cx="6858000" cy="9144000"/>
  <p:defaultTextStyle>
    <a:defPPr>
      <a:defRPr lang="en-US"/>
    </a:defPPr>
    <a:lvl1pPr marL="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672E31BB-9F53-944C-AFF7-1F240E61BE18}">
          <p14:sldIdLst>
            <p14:sldId id="262"/>
            <p14:sldId id="256"/>
            <p14:sldId id="258"/>
            <p14:sldId id="336"/>
            <p14:sldId id="360"/>
            <p14:sldId id="261"/>
            <p14:sldId id="349"/>
            <p14:sldId id="265"/>
            <p14:sldId id="257"/>
            <p14:sldId id="266"/>
            <p14:sldId id="264"/>
          </p14:sldIdLst>
        </p14:section>
        <p14:section name="Covers and front matter designs" id="{591A3328-AB40-EB40-8371-0BE8997D5ECA}">
          <p14:sldIdLst>
            <p14:sldId id="269"/>
            <p14:sldId id="383"/>
            <p14:sldId id="386"/>
            <p14:sldId id="387"/>
            <p14:sldId id="388"/>
            <p14:sldId id="389"/>
            <p14:sldId id="361"/>
            <p14:sldId id="363"/>
            <p14:sldId id="362"/>
            <p14:sldId id="275"/>
            <p14:sldId id="395"/>
            <p14:sldId id="396"/>
            <p14:sldId id="397"/>
            <p14:sldId id="398"/>
            <p14:sldId id="399"/>
            <p14:sldId id="281"/>
            <p14:sldId id="370"/>
            <p14:sldId id="283"/>
            <p14:sldId id="364"/>
            <p14:sldId id="284"/>
            <p14:sldId id="285"/>
          </p14:sldIdLst>
        </p14:section>
        <p14:section name="Sample slides" id="{FE79D234-09B0-7A4C-9C40-866AE14B99F0}">
          <p14:sldIdLst>
            <p14:sldId id="286"/>
            <p14:sldId id="287"/>
            <p14:sldId id="288"/>
            <p14:sldId id="365"/>
            <p14:sldId id="290"/>
            <p14:sldId id="291"/>
            <p14:sldId id="292"/>
            <p14:sldId id="293"/>
            <p14:sldId id="294"/>
            <p14:sldId id="295"/>
            <p14:sldId id="296"/>
            <p14:sldId id="410"/>
            <p14:sldId id="297"/>
            <p14:sldId id="298"/>
            <p14:sldId id="299"/>
            <p14:sldId id="304"/>
            <p14:sldId id="300"/>
            <p14:sldId id="301"/>
            <p14:sldId id="302"/>
            <p14:sldId id="303"/>
            <p14:sldId id="305"/>
            <p14:sldId id="381"/>
            <p14:sldId id="306"/>
            <p14:sldId id="382"/>
            <p14:sldId id="327"/>
            <p14:sldId id="328"/>
            <p14:sldId id="326"/>
            <p14:sldId id="307"/>
            <p14:sldId id="411"/>
            <p14:sldId id="412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377"/>
            <p14:sldId id="378"/>
            <p14:sldId id="308"/>
          </p14:sldIdLst>
        </p14:section>
        <p14:section name="Sample charts &amp; tables" id="{269F54EE-045D-8D4D-9D1D-F95D304254CD}">
          <p14:sldIdLst>
            <p14:sldId id="356"/>
            <p14:sldId id="310"/>
            <p14:sldId id="357"/>
            <p14:sldId id="342"/>
            <p14:sldId id="313"/>
            <p14:sldId id="316"/>
            <p14:sldId id="369"/>
            <p14:sldId id="318"/>
            <p14:sldId id="358"/>
            <p14:sldId id="359"/>
            <p14:sldId id="314"/>
            <p14:sldId id="347"/>
            <p14:sldId id="338"/>
            <p14:sldId id="339"/>
            <p14:sldId id="322"/>
            <p14:sldId id="323"/>
            <p14:sldId id="325"/>
            <p14:sldId id="324"/>
          </p14:sldIdLst>
        </p14:section>
        <p14:section name="Color palette" id="{65FF3ABE-B9F3-0A45-B4B2-DBFBFD1D9A4D}">
          <p14:sldIdLst>
            <p14:sldId id="3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32"/>
    <p:restoredTop sz="96327"/>
  </p:normalViewPr>
  <p:slideViewPr>
    <p:cSldViewPr snapToGrid="0" snapToObjects="1">
      <p:cViewPr varScale="1">
        <p:scale>
          <a:sx n="159" d="100"/>
          <a:sy n="159" d="100"/>
        </p:scale>
        <p:origin x="464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231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872" y="1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94" Type="http://schemas.openxmlformats.org/officeDocument/2006/relationships/notesMaster" Target="notesMasters/notesMaster1.xml"/><Relationship Id="rId95" Type="http://schemas.openxmlformats.org/officeDocument/2006/relationships/handoutMaster" Target="handoutMasters/handoutMaster1.xml"/><Relationship Id="rId96" Type="http://schemas.openxmlformats.org/officeDocument/2006/relationships/commentAuthors" Target="commentAuthors.xml"/><Relationship Id="rId97" Type="http://schemas.openxmlformats.org/officeDocument/2006/relationships/presProps" Target="presProps.xml"/><Relationship Id="rId98" Type="http://schemas.openxmlformats.org/officeDocument/2006/relationships/viewProps" Target="viewProps.xml"/><Relationship Id="rId99" Type="http://schemas.openxmlformats.org/officeDocument/2006/relationships/theme" Target="theme/theme1.xml"/><Relationship Id="rId10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Arial" panose="020B0604020202020204" pitchFamily="34" charset="0"/>
              <a:ea typeface="IBM Plex Sans Light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22450" y="228600"/>
            <a:ext cx="3213100" cy="1807369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19456" y="2247900"/>
            <a:ext cx="6419088" cy="61595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marL="803275" marR="0" lvl="4" indent="-1714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Tx/>
              <a:buFont typeface="IBM Plex Sans Light" charset="-12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spcBef>
        <a:spcPts val="600"/>
      </a:spcBef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174625" indent="-169863" algn="l" defTabSz="914400" rtl="0" eaLnBrk="1" latinLnBrk="0" hangingPunct="1">
      <a:spcBef>
        <a:spcPts val="600"/>
      </a:spcBef>
      <a:buFont typeface="IBM Plex Sans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347472" indent="-173736" algn="l" defTabSz="914400" rtl="0" eaLnBrk="1" latinLnBrk="0" hangingPunct="1">
      <a:spcBef>
        <a:spcPts val="600"/>
      </a:spcBef>
      <a:buFont typeface="IBM Plex Sans Light" panose="020B0604020202020204" pitchFamily="34" charset="0"/>
      <a:buChar char="•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630936" indent="-173736" algn="l" defTabSz="914400" rtl="0" eaLnBrk="1" latinLnBrk="0" hangingPunct="1">
      <a:spcBef>
        <a:spcPts val="600"/>
      </a:spcBef>
      <a:buFont typeface="IBM Plex Sans Light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174625" marR="0" indent="-169863" algn="l" defTabSz="914400" rtl="0" eaLnBrk="1" fontAlgn="base" latinLnBrk="0" hangingPunct="1">
      <a:lnSpc>
        <a:spcPct val="100000"/>
      </a:lnSpc>
      <a:spcBef>
        <a:spcPts val="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1000" b="0" i="0" kern="1200">
        <a:solidFill>
          <a:schemeClr val="bg1"/>
        </a:solidFill>
        <a:latin typeface="IBM Plex Sans Medm" panose="020B050305020300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session is based on our initial proposal submission. The intent is to</a:t>
            </a:r>
            <a:br/>
            <a:r>
              <a:t>clarify how we have interpreted your requirements, explain how we would</a:t>
            </a:r>
            <a:br/>
            <a:r>
              <a:t>approach delivery, and provide confidence in how IBM and Stable would work</a:t>
            </a:r>
            <a:br/>
            <a:r>
              <a:t>with NRW. The emphasis is on controlled transformation rather than</a:t>
            </a:r>
            <a:br/>
            <a:r>
              <a:t>disruptive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will move from context into our understanding of your environment,</a:t>
            </a:r>
            <a:br/>
            <a:r>
              <a:t>then clarify elements of our proposal before stepping through approach,</a:t>
            </a:r>
            <a:br/>
            <a:r>
              <a:t>delivery model and supporting areas. The intention is to create a clear</a:t>
            </a:r>
            <a:br/>
            <a:r>
              <a:t>line from requirement through to delivery and operation.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proposal is deliberately structured to avoid large-scale disruption.</a:t>
            </a:r>
            <a:br/>
            <a:r>
              <a:t>NRW is operating live services, so transformation has to be incremental,</a:t>
            </a:r>
            <a:br/>
            <a:r>
              <a:t>governed and evidence-led. This is reflected in how we structure discovery,</a:t>
            </a:r>
            <a:br/>
            <a:r>
              <a:t>architecture and delivery sequencing.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session is not intended to restate the written proposal. It is focused</a:t>
            </a:r>
            <a:br/>
            <a:r>
              <a:t>on making the reasoning behind it explicit. We will show how our approach</a:t>
            </a:r>
            <a:br/>
            <a:r>
              <a:t>aligns to your constraints and where we have made deliberate trade-offs.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proposal, we recognise fragmentation across customer data,</a:t>
            </a:r>
            <a:br/>
            <a:r>
              <a:t>integration patterns and user journeys. These issues are typically linked,</a:t>
            </a:r>
            <a:br/>
            <a:r>
              <a:t>with inconsistent identity models and disconnected systems driving both</a:t>
            </a:r>
            <a:br/>
            <a:r>
              <a:t>operational inefficiency and poor user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target outcomes described in the proposal centre on coherence rather</a:t>
            </a:r>
            <a:br/>
            <a:r>
              <a:t>than replacement. This includes a unified customer experience, trusted</a:t>
            </a:r>
            <a:br/>
            <a:r>
              <a:t>data for decision making and reduced dependency on manual processes,</a:t>
            </a:r>
            <a:br/>
            <a:r>
              <a:t>alongside internal capability uplift.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challenges imply that a single-step transformation would carry high</a:t>
            </a:r>
            <a:br/>
            <a:r>
              <a:t>risk. The proposal therefore emphasises sequencing, starting with identity</a:t>
            </a:r>
            <a:br/>
            <a:r>
              <a:t>and integration, and building towards consolidation and optimisation once</a:t>
            </a:r>
            <a:br/>
            <a:r>
              <a:t>confidence improves.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proposal describes a blended model where Stable is embedded within IBM</a:t>
            </a:r>
            <a:br/>
            <a:r>
              <a:t>delivery teams. This is not a subcontracting arrangement but a combined</a:t>
            </a:r>
            <a:br/>
            <a:r>
              <a:t>team structure that brings local knowledge and continuity alongside IBM's</a:t>
            </a:r>
            <a:br/>
            <a:r>
              <a:t>scale and specialist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approach is framed as ongoing product evolution rather than a fixed</a:t>
            </a:r>
            <a:br/>
            <a:r>
              <a:t>programme. Governance and traceability are built in from the outset, and</a:t>
            </a:r>
            <a:br/>
            <a:r>
              <a:t>knowledge transfer is continuous to reduce long-term dependency.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Discovery is positioned as both a shaping and mobilisation phase. It runs</a:t>
            </a:r>
            <a:br/>
            <a:r>
              <a:t>across user research, technical assessment and delivery planning, ensuring</a:t>
            </a:r>
            <a:br/>
            <a:r>
              <a:t>that roadmap decisions are grounded in evidence and delivery realism.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three parallel workstreams are explicitly described in the proposal.</a:t>
            </a:r>
            <a:br/>
            <a:r>
              <a:t>Together they establish a validated baseline, identify constraints and</a:t>
            </a:r>
            <a:br/>
            <a:r>
              <a:t>create a sequenced roadmap aligned to NRW priorities.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architecture is structured into four layers. Dynamics 365 owns the</a:t>
            </a:r>
            <a:br/>
            <a:r>
              <a:t>customer domain, the integration layer manages connectivity, and the data</a:t>
            </a:r>
            <a:br/>
            <a:r>
              <a:t>layer provides governed insight. This enables incremental change without</a:t>
            </a:r>
            <a:br/>
            <a:r>
              <a:t>tightly coupling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proposal avoids a single-stage data consolidation. Instead it introduces</a:t>
            </a:r>
            <a:br/>
            <a:r>
              <a:t>a logical master record using shared identifiers, allowing systems to remain</a:t>
            </a:r>
            <a:br/>
            <a:r>
              <a:t>operational while integration resolves fragmentation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Sequencing is critical. Identity and integration are prioritised to improve</a:t>
            </a:r>
            <a:br/>
            <a:r>
              <a:t>user journeys quickly while managing risk. More complex changes are deferred</a:t>
            </a:r>
            <a:br/>
            <a:r>
              <a:t>until confidence in data quality and architecture increases.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Teams are structured around product delivery, combining design, engineering</a:t>
            </a:r>
            <a:br/>
            <a:r>
              <a:t>and data capability. NRW stakeholders are embedded within teams to ensure</a:t>
            </a:r>
            <a:br/>
            <a:r>
              <a:t>alignment and support capability uplift.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Governance operates at three levels, supported by integrated risk management.</a:t>
            </a:r>
            <a:br/>
            <a:r>
              <a:t>This ensures alignment to organisational priorities while maintaining control</a:t>
            </a:r>
            <a:br/>
            <a:r>
              <a:t>over delivery quality and technical consistency.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proposal highlights data quality and legacy constraints as primary risks.</a:t>
            </a:r>
            <a:br/>
            <a:r>
              <a:t>These are mitigated through structured validation, controlled integration</a:t>
            </a:r>
            <a:br/>
            <a:r>
              <a:t>patterns and incremental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innovation phase is designed to reduce uncertainty rather than deliver</a:t>
            </a:r>
            <a:br/>
            <a:r>
              <a:t>a full solution. It tests specific hypotheses around usability, accessibility</a:t>
            </a:r>
            <a:br/>
            <a:r>
              <a:t>and content effectiveness within the current estate.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work progresses through structured phases, each focused on generating</a:t>
            </a:r>
            <a:br/>
            <a:r>
              <a:t>evidence. Weak ideas are discarded early, allowing effort to focus on those</a:t>
            </a:r>
            <a:br/>
            <a:r>
              <a:t>that demonstrate measurable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Sustainability is embedded into delivery through operational practices such</a:t>
            </a:r>
            <a:br/>
            <a:r>
              <a:t>as FinOps and workload optimisation. The proposal also highlights the role</a:t>
            </a:r>
            <a:br/>
            <a:r>
              <a:t>of data platforms in supporting environmental decision making.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Social value is delivered through the Stable partnership and broader</a:t>
            </a:r>
            <a:br/>
            <a:r>
              <a:t>engagement with Welsh communities, including skills programmes, local</a:t>
            </a:r>
            <a:br/>
            <a:r>
              <a:t>employment and collaboration with SMEs and social enterprises.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proposal supports multiple commercial models depending on delivery phase.</a:t>
            </a:r>
            <a:br/>
            <a:r>
              <a:t>Early stages favour flexibility, while later stages can move towards greater</a:t>
            </a:r>
            <a:br/>
            <a:r>
              <a:t>cost certainty as scope becomes clearer.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next step is structured dialogue to refine assumptions and confirm</a:t>
            </a:r>
            <a:br/>
            <a:r>
              <a:t>priorities. This supports transition from initial proposal into final</a:t>
            </a:r>
            <a:br/>
            <a:r>
              <a:t>submission and mobilisation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inviting discussion. The intent is to explore areas where further</a:t>
            </a:r>
            <a:br/>
            <a:r>
              <a:t>clarification is needed and ensure alignment before progressing.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gi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gif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gi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gi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gi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5" name="Picture">
            <a:extLst>
              <a:ext uri="{FF2B5EF4-FFF2-40B4-BE49-F238E27FC236}">
                <a16:creationId xmlns:a16="http://schemas.microsoft.com/office/drawing/2014/main" id="{8F105A4A-9552-334A-9BC6-8D24E7F7BA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766AD5-4616-AD47-BF56-4CF516CAE9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504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5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AFBEF0-43ED-3247-83DD-DC66028EC0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C84EB7A-8D89-4847-A981-950437F138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977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4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2852DC-D56D-D74A-8D1A-E2957BA8F7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CEE8E4C-96B1-AA43-9432-4E6A518DB1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73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3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30DC9BF6-7093-1544-9101-FC7B73CE9A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B6A17C-AFF6-C640-9555-FFFE815C65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010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2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73D7ADEB-1992-754B-AD9C-1F55CD8E8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ECEF78-9864-0D48-9AB2-8447ACC853D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125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074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0100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390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605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154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37161" y="91440"/>
            <a:ext cx="8778172" cy="4404360"/>
          </a:xfrm>
        </p:spPr>
        <p:txBody>
          <a:bodyPr/>
          <a:lstStyle>
            <a:lvl1pPr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276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5562535" cy="4294632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742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130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7" y="1243584"/>
            <a:ext cx="4123876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752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10312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785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91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077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682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5741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077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872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414216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Black rectangle">
            <a:extLst>
              <a:ext uri="{FF2B5EF4-FFF2-40B4-BE49-F238E27FC236}">
                <a16:creationId xmlns:a16="http://schemas.microsoft.com/office/drawing/2014/main" id="{612CE115-19C6-174D-97D1-85AD78D8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2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IBM Consulting / DOC ID / Month XX,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411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4687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7231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174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AF558B-7F9E-D94C-91DC-907B299967CF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3EAF49-221E-8B43-8D20-D58F4F885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4434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54D63C-09D4-6A49-B605-D1076B01100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70163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808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4572000" cy="2571751"/>
          </a:xfrm>
          <a:noFill/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4572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703589-7433-EC4D-BE5D-6575D7E7166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8C1B72-1958-D34C-A6E7-456FA9B0FC9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600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6980A7-369F-8B4C-8947-FB084B5C4D9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55AABD-2874-C04C-A3C5-21D11C371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5768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7739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569463"/>
          </a:xfrm>
          <a:noFill/>
        </p:spPr>
        <p:txBody>
          <a:bodyPr lIns="182880" tIns="164592" rIns="228600" bIns="228600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1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2286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9"/>
          </p:nvPr>
        </p:nvSpPr>
        <p:spPr>
          <a:xfrm>
            <a:off x="2286001" y="2570163"/>
            <a:ext cx="2286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7"/>
          </p:nvPr>
        </p:nvSpPr>
        <p:spPr>
          <a:xfrm>
            <a:off x="4572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6858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320A1C-9D4D-2642-8A60-4D7502759E0A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2286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1D6F0D-CE7A-AD49-AE36-D798DDFEB592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4572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4FA535-4023-394A-90AB-A2087397CBB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8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B495F-72F9-774E-A3C3-3B24D9E37D7D}"/>
              </a:ext>
            </a:extLst>
          </p:cNvPr>
          <p:cNvCxnSpPr/>
          <p:nvPr userDrawn="1"/>
        </p:nvCxnSpPr>
        <p:spPr bwMode="auto">
          <a:xfrm>
            <a:off x="228600" y="2571750"/>
            <a:ext cx="8686800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8155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76350"/>
          </a:xfrm>
          <a:solidFill>
            <a:schemeClr val="tx2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276350"/>
            <a:ext cx="9144000" cy="386715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4250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8072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3" y="2571750"/>
            <a:ext cx="2286003" cy="2571750"/>
          </a:xfrm>
          <a:solidFill>
            <a:schemeClr val="tx2"/>
          </a:solidFill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8794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2286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4572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6858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2E18FC-E432-1E42-B894-602F7E42F9F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75E39C-0AE8-5A49-B52F-35BB80D2B041}"/>
              </a:ext>
            </a:extLst>
          </p:cNvPr>
          <p:cNvCxnSpPr/>
          <p:nvPr userDrawn="1"/>
        </p:nvCxnSpPr>
        <p:spPr bwMode="auto">
          <a:xfrm flipV="1">
            <a:off x="2283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7AC78C-6E13-604B-BABB-F3F41F933F3B}"/>
              </a:ext>
            </a:extLst>
          </p:cNvPr>
          <p:cNvCxnSpPr/>
          <p:nvPr userDrawn="1"/>
        </p:nvCxnSpPr>
        <p:spPr bwMode="auto">
          <a:xfrm flipV="1">
            <a:off x="6855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4260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514600" y="1243584"/>
            <a:ext cx="6400800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0591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8819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05456" y="1259626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400">
                <a:solidFill>
                  <a:schemeClr val="tx1"/>
                </a:solidFill>
              </a:defRPr>
            </a:lvl1pPr>
            <a:lvl2pPr>
              <a:spcBef>
                <a:spcPts val="1100"/>
              </a:spcBef>
              <a:defRPr sz="1400">
                <a:solidFill>
                  <a:schemeClr val="tx1"/>
                </a:solidFill>
              </a:defRPr>
            </a:lvl2pPr>
            <a:lvl3pPr>
              <a:spcBef>
                <a:spcPts val="11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10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110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527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62634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000">
                <a:solidFill>
                  <a:schemeClr val="tx1"/>
                </a:solidFill>
              </a:defRPr>
            </a:lvl1pPr>
            <a:lvl2pPr>
              <a:spcBef>
                <a:spcPts val="300"/>
              </a:spcBef>
              <a:defRPr sz="1000">
                <a:solidFill>
                  <a:schemeClr val="tx1"/>
                </a:solidFill>
              </a:defRPr>
            </a:lvl2pPr>
            <a:lvl3pPr>
              <a:spcBef>
                <a:spcPts val="300"/>
              </a:spcBef>
              <a:defRPr sz="1000">
                <a:solidFill>
                  <a:schemeClr val="tx1"/>
                </a:solidFill>
              </a:defRPr>
            </a:lvl3pPr>
            <a:lvl4pPr>
              <a:spcBef>
                <a:spcPts val="300"/>
              </a:spcBef>
              <a:defRPr sz="1000">
                <a:solidFill>
                  <a:schemeClr val="tx1"/>
                </a:solidFill>
              </a:defRPr>
            </a:lvl4pPr>
            <a:lvl5pPr>
              <a:spcBef>
                <a:spcPts val="30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73168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4675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2505457" y="201168"/>
            <a:ext cx="6409876" cy="4294632"/>
          </a:xfrm>
        </p:spPr>
        <p:txBody>
          <a:bodyPr lIns="0" tIns="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7208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9024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7917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61872"/>
            <a:ext cx="4123944" cy="1309878"/>
          </a:xfrm>
        </p:spPr>
        <p:txBody>
          <a:bodyPr/>
          <a:lstStyle>
            <a:lvl1pPr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1C6F2CA-B8B6-BF4F-8900-E2319DA9DD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9456" y="3209544"/>
            <a:ext cx="6409944" cy="1307592"/>
          </a:xfrm>
        </p:spPr>
        <p:txBody>
          <a:bodyPr anchor="b"/>
          <a:lstStyle>
            <a:lvl1pPr>
              <a:spcBef>
                <a:spcPts val="300"/>
              </a:spcBef>
              <a:defRPr sz="600">
                <a:solidFill>
                  <a:schemeClr val="tx1"/>
                </a:solidFill>
              </a:defRPr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8213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E30253-DA74-3E44-9BC6-8B5C1DD668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9723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yellow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EEBA7C-F498-524A-9427-6358C4846A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379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F54E53-3A23-9A4B-B6FC-E1BD369164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12137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teal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C727A0-1A17-074E-8354-E327AC2DBC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5178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grey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835D96-8926-B845-B252-0835183F21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89591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40)">
    <p:bg>
      <p:bgPr>
        <a:solidFill>
          <a:srgbClr val="FF83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37339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yellow20)">
    <p:bg>
      <p:bgPr>
        <a:solidFill>
          <a:srgbClr val="FDDC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5130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20)">
    <p:bg>
      <p:bgPr>
        <a:solidFill>
          <a:srgbClr val="FFD7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5984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teal40)">
    <p:bg>
      <p:bgPr>
        <a:solidFill>
          <a:srgbClr val="08BD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9858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6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">
            <a:extLst>
              <a:ext uri="{FF2B5EF4-FFF2-40B4-BE49-F238E27FC236}">
                <a16:creationId xmlns:a16="http://schemas.microsoft.com/office/drawing/2014/main" id="{934B3B19-0C45-9541-83FA-EE9B1AA972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6193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80)">
    <p:bg>
      <p:bgPr>
        <a:solidFill>
          <a:srgbClr val="BA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>
            <a:extLst>
              <a:ext uri="{FF2B5EF4-FFF2-40B4-BE49-F238E27FC236}">
                <a16:creationId xmlns:a16="http://schemas.microsoft.com/office/drawing/2014/main" id="{4A23D73C-34B1-FF44-9B5A-0AD4D78DA0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4014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7" y="2312884"/>
            <a:ext cx="1297606" cy="51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9311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tic Rebus sign-off (grey20)"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8032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4791456" y="201168"/>
            <a:ext cx="4123944" cy="42946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228666" y="4800600"/>
            <a:ext cx="4114735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6859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7086601" y="4800600"/>
            <a:ext cx="1828732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20BB8D8-C46D-7A4B-97AF-798F102BA8D4}"/>
              </a:ext>
            </a:extLst>
          </p:cNvPr>
          <p:cNvGrpSpPr/>
          <p:nvPr userDrawn="1"/>
        </p:nvGrpSpPr>
        <p:grpSpPr>
          <a:xfrm>
            <a:off x="-109730" y="-110490"/>
            <a:ext cx="9364220" cy="536448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28219"/>
              <a:ext cx="91440" cy="4686681"/>
              <a:chOff x="-109730" y="228219"/>
              <a:chExt cx="91440" cy="4686681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745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821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1490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28219"/>
              <a:ext cx="91440" cy="4685665"/>
              <a:chOff x="-109730" y="221869"/>
              <a:chExt cx="91440" cy="4685665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110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186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75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400780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2" r:id="rId1"/>
    <p:sldLayoutId id="2147483926" r:id="rId2"/>
    <p:sldLayoutId id="2147483935" r:id="rId3"/>
    <p:sldLayoutId id="2147483938" r:id="rId4"/>
    <p:sldLayoutId id="2147483939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  <p:sldLayoutId id="2147483906" r:id="rId19"/>
    <p:sldLayoutId id="2147483907" r:id="rId20"/>
    <p:sldLayoutId id="2147483908" r:id="rId21"/>
    <p:sldLayoutId id="2147483909" r:id="rId22"/>
    <p:sldLayoutId id="2147483910" r:id="rId23"/>
    <p:sldLayoutId id="2147483911" r:id="rId24"/>
    <p:sldLayoutId id="2147483912" r:id="rId25"/>
    <p:sldLayoutId id="2147483913" r:id="rId26"/>
    <p:sldLayoutId id="2147483914" r:id="rId27"/>
    <p:sldLayoutId id="2147483915" r:id="rId28"/>
    <p:sldLayoutId id="2147483916" r:id="rId29"/>
    <p:sldLayoutId id="2147483917" r:id="rId30"/>
    <p:sldLayoutId id="2147483918" r:id="rId31"/>
    <p:sldLayoutId id="2147483919" r:id="rId32"/>
    <p:sldLayoutId id="2147483920" r:id="rId33"/>
    <p:sldLayoutId id="2147483921" r:id="rId34"/>
    <p:sldLayoutId id="2147483922" r:id="rId35"/>
    <p:sldLayoutId id="2147483941" r:id="rId36"/>
    <p:sldLayoutId id="2147483942" r:id="rId37"/>
    <p:sldLayoutId id="2147483943" r:id="rId38"/>
    <p:sldLayoutId id="2147483944" r:id="rId39"/>
    <p:sldLayoutId id="2147483945" r:id="rId40"/>
    <p:sldLayoutId id="2147483946" r:id="rId41"/>
    <p:sldLayoutId id="2147483947" r:id="rId42"/>
    <p:sldLayoutId id="2147483948" r:id="rId43"/>
    <p:sldLayoutId id="2147483949" r:id="rId44"/>
    <p:sldLayoutId id="2147483933" r:id="rId45"/>
    <p:sldLayoutId id="2147483934" r:id="rId46"/>
    <p:sldLayoutId id="2147483923" r:id="rId47"/>
    <p:sldLayoutId id="2147483950" r:id="rId48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5pPr>
      <a:lvl6pPr marL="36256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6pPr>
      <a:lvl7pPr marL="72513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7pPr>
      <a:lvl8pPr marL="108770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8pPr>
      <a:lvl9pPr marL="145027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90000"/>
        <a:buFont typeface="IBM Plex Sans Light" pitchFamily="2" charset="2"/>
        <a:buNone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171452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34290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panose="020B0604020202020204" pitchFamily="34" charset="0"/>
        <a:buChar char="•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628658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 baseline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80328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Font typeface="IBM Plex Sans Light" charset="-120"/>
        <a:buChar char="»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158372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6pPr>
      <a:lvl7pPr marL="194629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7pPr>
      <a:lvl8pPr marL="230886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8pPr>
      <a:lvl9pPr marL="267143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9pPr>
    </p:bodyStyle>
    <p:otherStyle>
      <a:defPPr>
        <a:defRPr lang="en-US"/>
      </a:defPPr>
      <a:lvl1pPr marL="0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1pPr>
      <a:lvl2pPr marL="362568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2pPr>
      <a:lvl3pPr marL="725139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3pPr>
      <a:lvl4pPr marL="1087707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4pPr>
      <a:lvl5pPr marL="145027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5pPr>
      <a:lvl6pPr marL="181284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6pPr>
      <a:lvl7pPr marL="2175414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7pPr>
      <a:lvl8pPr marL="2537983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8pPr>
      <a:lvl9pPr marL="2900552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 userDrawn="1">
          <p15:clr>
            <a:srgbClr val="F26B43"/>
          </p15:clr>
        </p15:guide>
        <p15:guide id="2" pos="144" userDrawn="1">
          <p15:clr>
            <a:srgbClr val="F26B43"/>
          </p15:clr>
        </p15:guide>
        <p15:guide id="3" pos="5616" userDrawn="1">
          <p15:clr>
            <a:srgbClr val="F26B43"/>
          </p15:clr>
        </p15:guide>
        <p15:guide id="4" orient="horz" pos="2832" userDrawn="1">
          <p15:clr>
            <a:srgbClr val="F26B43"/>
          </p15:clr>
        </p15:guide>
        <p15:guide id="5" orient="horz" pos="3094" userDrawn="1">
          <p15:clr>
            <a:srgbClr val="F26B43"/>
          </p15:clr>
        </p15:guide>
        <p15:guide id="6" pos="2880" userDrawn="1">
          <p15:clr>
            <a:srgbClr val="F26B43"/>
          </p15:clr>
        </p15:guide>
        <p15:guide id="7" pos="2736" userDrawn="1">
          <p15:clr>
            <a:srgbClr val="F26B43"/>
          </p15:clr>
        </p15:guide>
        <p15:guide id="8" pos="1440" userDrawn="1">
          <p15:clr>
            <a:srgbClr val="F26B43"/>
          </p15:clr>
        </p15:guide>
        <p15:guide id="9" pos="3024" userDrawn="1">
          <p15:clr>
            <a:srgbClr val="F26B43"/>
          </p15:clr>
        </p15:guide>
        <p15:guide id="10" pos="1296" userDrawn="1">
          <p15:clr>
            <a:srgbClr val="F26B43"/>
          </p15:clr>
        </p15:guide>
        <p15:guide id="11" pos="1584" userDrawn="1">
          <p15:clr>
            <a:srgbClr val="F26B43"/>
          </p15:clr>
        </p15:guide>
        <p15:guide id="12" pos="4320" userDrawn="1">
          <p15:clr>
            <a:srgbClr val="F26B43"/>
          </p15:clr>
        </p15:guide>
        <p15:guide id="13" pos="4176" userDrawn="1">
          <p15:clr>
            <a:srgbClr val="F26B43"/>
          </p15:clr>
        </p15:guide>
        <p15:guide id="14" pos="4464" userDrawn="1">
          <p15:clr>
            <a:srgbClr val="F26B43"/>
          </p15:clr>
        </p15:guide>
        <p15:guide id="15" orient="horz" pos="412" userDrawn="1">
          <p15:clr>
            <a:srgbClr val="F26B43"/>
          </p15:clr>
        </p15:guide>
        <p15:guide id="17" orient="horz" pos="812" userDrawn="1">
          <p15:clr>
            <a:srgbClr val="F26B43"/>
          </p15:clr>
        </p15:guide>
        <p15:guide id="18" orient="horz" pos="1620" userDrawn="1">
          <p15:clr>
            <a:srgbClr val="F26B43"/>
          </p15:clr>
        </p15:guide>
        <p15:guide id="19" orient="horz" pos="1216" userDrawn="1">
          <p15:clr>
            <a:srgbClr val="F26B43"/>
          </p15:clr>
        </p15:guide>
        <p15:guide id="20" orient="horz" pos="2022" userDrawn="1">
          <p15:clr>
            <a:srgbClr val="F26B43"/>
          </p15:clr>
        </p15:guide>
        <p15:guide id="21" orient="horz" pos="242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NRW DDaT Initial Proposal Presentation</a:t>
            </a:r>
          </a:p>
          <a:p>
            <a:r>
              <a:t>IBM Consulting and Stable Delivery Approach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Context and Purpose</a:t>
            </a:r>
          </a:p>
          <a:p>
            <a:pPr>
              <a:buChar char="•"/>
            </a:pPr>
            <a:r>
              <a:t>Understanding NRW</a:t>
            </a:r>
          </a:p>
          <a:p>
            <a:pPr>
              <a:buChar char="•"/>
            </a:pPr>
            <a:r>
              <a:t>Proposal Clarifications</a:t>
            </a:r>
          </a:p>
          <a:p>
            <a:pPr>
              <a:buChar char="•"/>
            </a:pPr>
            <a:r>
              <a:t>Customer Platform Approach</a:t>
            </a:r>
          </a:p>
          <a:p>
            <a:pPr>
              <a:buChar char="•"/>
            </a:pPr>
            <a:r>
              <a:t>Delivery and Governance</a:t>
            </a:r>
          </a:p>
          <a:p>
            <a:pPr>
              <a:buChar char="•"/>
            </a:pPr>
            <a:r>
              <a:t>Website Innovation</a:t>
            </a:r>
          </a:p>
          <a:p>
            <a:pPr>
              <a:buChar char="•"/>
            </a:pPr>
            <a:r>
              <a:t>Sustainability and Social Value</a:t>
            </a:r>
          </a:p>
          <a:p>
            <a:pPr>
              <a:buChar char="•"/>
            </a:pPr>
            <a:r>
              <a:t>Commercial Model</a:t>
            </a:r>
          </a:p>
          <a:p>
            <a:pPr>
              <a:buChar char="•"/>
            </a:pPr>
            <a: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1: Context and Purpose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Transformation must balance ambition with operational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of this session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Clarify our proposal</a:t>
            </a:r>
          </a:p>
          <a:p>
            <a:pPr>
              <a:buChar char="•"/>
            </a:pPr>
            <a:r>
              <a:t>Demonstrate understanding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Explain delivery approach</a:t>
            </a:r>
          </a:p>
          <a:p>
            <a:pPr>
              <a:buChar char="•"/>
            </a:pPr>
            <a:r>
              <a:t>Provide transparency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2: Understanding NRW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systemic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Fragmented customer data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Point-to-point integration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r>
              <a:t>Limited journey visibility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r>
              <a:t>Manual reconciliation effort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Desired outcomes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Consistent customer platform</a:t>
            </a:r>
          </a:p>
          <a:p>
            <a:pPr>
              <a:buChar char="•"/>
            </a:pPr>
            <a:r>
              <a:t>Improved data maturity</a:t>
            </a:r>
          </a:p>
          <a:p>
            <a:pPr>
              <a:buChar char="•"/>
            </a:pPr>
            <a:r>
              <a:t>Reduced complexity</a:t>
            </a:r>
          </a:p>
          <a:p>
            <a:pPr>
              <a:buChar char="•"/>
            </a:pPr>
            <a:r>
              <a:t>Sustainable capability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Implications for delivery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Phased transformation</a:t>
            </a:r>
          </a:p>
          <a:p>
            <a:pPr>
              <a:buChar char="•"/>
            </a:pPr>
            <a:r>
              <a:t>Incremental architecture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Integration before consolidation</a:t>
            </a:r>
          </a:p>
          <a:p>
            <a:pPr>
              <a:buChar char="•"/>
            </a:pPr>
            <a:r>
              <a:t>Capability embedded in delivery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3: Proposal Clarifications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IBM and Stable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Integrated delivery teams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Welsh-based capability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r>
              <a:t>Bilingual alignment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r>
              <a:t>Access to IBM scale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Transformation approach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Product-led evolution</a:t>
            </a:r>
          </a:p>
          <a:p>
            <a:pPr>
              <a:buChar char="•"/>
            </a:pPr>
            <a:r>
              <a:t>Iterative delivery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Strong governance</a:t>
            </a:r>
          </a:p>
          <a:p>
            <a:pPr>
              <a:buChar char="•"/>
            </a:pPr>
            <a:r>
              <a:t>Continuous knowledge transfer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4: Customer Platform Approach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Discovery-led platform evolution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Define roadmap and architecture</a:t>
            </a:r>
          </a:p>
          <a:p>
            <a:pPr>
              <a:buChar char="•"/>
            </a:pPr>
            <a:r>
              <a:t>Validate through multiple lenses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Enable staged investment</a:t>
            </a:r>
          </a:p>
          <a:p>
            <a:pPr>
              <a:buChar char="•"/>
            </a:pPr>
            <a:r>
              <a:t>Support long-term delivery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Discovery workstreams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User and stakeholder discovery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Technical assessment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Architecture definition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Commercial shaping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platform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Decoupled engagement layer</a:t>
            </a:r>
          </a:p>
          <a:p>
            <a:pPr>
              <a:buChar char="•"/>
            </a:pPr>
            <a:r>
              <a:t>Dynamics as customer domain</a:t>
            </a:r>
          </a:p>
          <a:p>
            <a:pPr>
              <a:buChar char="•"/>
            </a:pPr>
            <a:r>
              <a:t>Azure integration layer</a:t>
            </a:r>
          </a:p>
          <a:p>
            <a:pPr>
              <a:buChar char="•"/>
            </a:pPr>
            <a:r>
              <a:t>Governed data platform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fragmentation approach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Shared customer identifier</a:t>
            </a:r>
          </a:p>
          <a:p>
            <a:pPr>
              <a:buChar char="•"/>
            </a:pPr>
            <a:r>
              <a:t>Integration-based reconciliation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Avoid early consolidation risk</a:t>
            </a:r>
          </a:p>
          <a:p>
            <a:pPr>
              <a:buChar char="•"/>
            </a:pPr>
            <a:r>
              <a:t>Progressive data improvement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Sequencing and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Identity first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Integration next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r>
              <a:t>Consolidation later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r>
              <a:t>Continuous validation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5: Delivery and Governance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Delivery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Multidisciplinary teams</a:t>
            </a:r>
          </a:p>
          <a:p>
            <a:pPr>
              <a:buChar char="•"/>
            </a:pPr>
            <a:r>
              <a:t>Agile delivery practices</a:t>
            </a:r>
          </a:p>
          <a:p>
            <a:pPr>
              <a:buChar char="•"/>
            </a:pPr>
            <a:r>
              <a:t>Blended NRW collaboration</a:t>
            </a:r>
          </a:p>
          <a:p>
            <a:pPr>
              <a:buChar char="•"/>
            </a:pPr>
            <a:r>
              <a:t>Continuous knowledge transfer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Strategic governance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Programme governance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r>
              <a:t>Technical governance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r>
              <a:t>Risk management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risks and mitigations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Data quality challenges</a:t>
            </a:r>
          </a:p>
          <a:p>
            <a:pPr>
              <a:buChar char="•"/>
            </a:pPr>
            <a:r>
              <a:t>Legacy dependencies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Profiling and validation</a:t>
            </a:r>
          </a:p>
          <a:p>
            <a:pPr>
              <a:buChar char="•"/>
            </a:pPr>
            <a:r>
              <a:t>Integration abstraction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6: Website Innovation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12-week innovation window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Hypothesis-led approach</a:t>
            </a:r>
          </a:p>
          <a:p>
            <a:pPr>
              <a:buChar char="•"/>
            </a:pPr>
            <a:r>
              <a:t>Focused experimentation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Evidence-driven decisions</a:t>
            </a:r>
          </a:p>
          <a:p>
            <a:pPr>
              <a:buChar char="•"/>
            </a:pPr>
            <a:r>
              <a:t>Operate within constraints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 phases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Explore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Ideate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Build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Scale or stop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7: Sustainability and Social Value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Sustainability approach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Cloud efficiency optimisation</a:t>
            </a:r>
          </a:p>
          <a:p>
            <a:pPr>
              <a:buChar char="•"/>
            </a:pPr>
            <a:r>
              <a:t>FinOps and GreenOps</a:t>
            </a:r>
          </a:p>
          <a:p>
            <a:pPr>
              <a:buChar char="•"/>
            </a:pPr>
            <a:r>
              <a:t>Carbon visibility</a:t>
            </a:r>
          </a:p>
          <a:p>
            <a:pPr>
              <a:buChar char="•"/>
            </a:pPr>
            <a:r>
              <a:t>Data for environmental insight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value in Wales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Welsh delivery presence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Local employment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r>
              <a:t>Skills development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r>
              <a:t>SME engagement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8: Commercial Model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Commercial models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The model used depends on delivery phase and scope certainty.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Time and materials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Fixed price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r>
              <a:t>Fixed capacity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9: Next Steps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Refine scope</a:t>
            </a:r>
          </a:p>
          <a:p>
            <a:pPr>
              <a:buChar char="•"/>
            </a:pPr>
            <a:r>
              <a:t>Align priorities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Confirm stakeholders</a:t>
            </a:r>
          </a:p>
          <a:p>
            <a:pPr>
              <a:buChar char="•"/>
            </a:pPr>
            <a:r>
              <a:t>Agree timelines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Questions and discussion welcome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BM Brand Template 2022">
  <a:themeElements>
    <a:clrScheme name="IBM brand presentation palette 2022">
      <a:dk1>
        <a:srgbClr val="FFFFFF"/>
      </a:dk1>
      <a:lt1>
        <a:srgbClr val="000000"/>
      </a:lt1>
      <a:dk2>
        <a:srgbClr val="E5F6FF"/>
      </a:dk2>
      <a:lt2>
        <a:srgbClr val="F4F4F4"/>
      </a:lt2>
      <a:accent1>
        <a:srgbClr val="002D9C"/>
      </a:accent1>
      <a:accent2>
        <a:srgbClr val="0F62FE"/>
      </a:accent2>
      <a:accent3>
        <a:srgbClr val="82CFFF"/>
      </a:accent3>
      <a:accent4>
        <a:srgbClr val="9EF0F0"/>
      </a:accent4>
      <a:accent5>
        <a:srgbClr val="E0E0E0"/>
      </a:accent5>
      <a:accent6>
        <a:srgbClr val="FCF4D6"/>
      </a:accent6>
      <a:hlink>
        <a:srgbClr val="0F62FE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System Font Regular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91440" tIns="91440" rIns="91440" bIns="91440" rtlCol="0">
        <a:spAutoFit/>
      </a:bodyPr>
      <a:lstStyle>
        <a:defPPr marL="173736" indent="-173736" algn="l">
          <a:spcBef>
            <a:spcPts val="1100"/>
          </a:spcBef>
          <a:buFont typeface="System Font Regular"/>
          <a:buChar char="–"/>
          <a:defRPr sz="1400" dirty="0" smtClean="0">
            <a:solidFill>
              <a:schemeClr val="tx1"/>
            </a:solidFill>
            <a:latin typeface="+mn-lt"/>
            <a:ea typeface="Arial" charset="0"/>
            <a:cs typeface="Arial" charset="0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50">
      <a:srgbClr val="FA4D56"/>
    </a:custClr>
    <a:custClr name="Red 40">
      <a:srgbClr val="FF8389"/>
    </a:custClr>
    <a:custClr name="Red 30">
      <a:srgbClr val="FFB3B8"/>
    </a:custClr>
    <a:custClr name="Red 20">
      <a:srgbClr val="FFD7D9"/>
    </a:custClr>
    <a:custClr name="Red 10">
      <a:srgbClr val="FFF1F1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20">
      <a:srgbClr val="FDDC69"/>
    </a:custClr>
    <a:custClr name="Yellow 10">
      <a:srgbClr val="FCF4D6"/>
    </a:custClr>
    <a:custClr name="Teal 50">
      <a:srgbClr val="009D9A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</a:custClrLst>
  <a:extLst>
    <a:ext uri="{05A4C25C-085E-4340-85A3-A5531E510DB2}">
      <thm15:themeFamily xmlns:thm15="http://schemas.microsoft.com/office/thememl/2012/main" name="IBM_Consulting_Master_Presentation_2021_V02_Arial" id="{B2C576C2-600E-F64A-B9E3-D1962F0CA4D8}" vid="{07FDF6E9-F782-6448-8CF6-F1EBA0EAB26E}"/>
    </a:ext>
  </a:extLst>
</a:theme>
</file>

<file path=ppt/theme/theme2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ppt/theme/theme3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6653</Words>
  <Application>Microsoft Macintosh PowerPoint</Application>
  <PresentationFormat>On-screen Show (16:9)</PresentationFormat>
  <Paragraphs>1058</Paragraphs>
  <Slides>92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7" baseType="lpstr">
      <vt:lpstr>Arial</vt:lpstr>
      <vt:lpstr>IBM Plex Sans</vt:lpstr>
      <vt:lpstr>IBM Plex Sans Light</vt:lpstr>
      <vt:lpstr>Wingdings</vt:lpstr>
      <vt:lpstr>IBM Brand Template 2022</vt:lpstr>
      <vt:lpstr>Welcome to the  IBM Consulting  Presentation Template — Arial variant</vt:lpstr>
      <vt:lpstr>About this template</vt:lpstr>
      <vt:lpstr>Master pages</vt:lpstr>
      <vt:lpstr>Master slide type categories</vt:lpstr>
      <vt:lpstr>Background colors</vt:lpstr>
      <vt:lpstr>Guides and grid alignment</vt:lpstr>
      <vt:lpstr>Tick marks</vt:lpstr>
      <vt:lpstr>Color palette</vt:lpstr>
      <vt:lpstr>Theme and custom colors</vt:lpstr>
      <vt:lpstr>Bulleted lists</vt:lpstr>
      <vt:lpstr>Editing footers</vt:lpstr>
      <vt:lpstr>Master presentation template on image background 1, 3 line maximum, sentence case — First Lastname Job Title</vt:lpstr>
      <vt:lpstr>Master presentation template on image background 2, 3 line maximum, sentence case — First Lastname Job Title</vt:lpstr>
      <vt:lpstr>Master presentation template on image background 7,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gray background, 3 line maximum, sentence case — First Lastname Job Title</vt:lpstr>
      <vt:lpstr>Master presentation template on yellow background, 3 line maximum, sentence case — First Lastname Job Title</vt:lpstr>
      <vt:lpstr>Master presentation template on cyan background, 3 line maximum, sentence case — First Lastname Job Title</vt:lpstr>
      <vt:lpstr>Master presentation template on cyan split background, 3 line maximum, sentence case — First Lastname Job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Contents</vt:lpstr>
      <vt:lpstr>Contents</vt:lpstr>
      <vt:lpstr>Part or section divider  with highlighted type</vt:lpstr>
      <vt:lpstr>Part or section divider  with highlighted type</vt:lpstr>
      <vt:lpstr>Section divider with page contents</vt:lpstr>
      <vt:lpstr>Section divider</vt:lpstr>
      <vt:lpstr>Fact with small description acting as headline or title of the page</vt:lpstr>
      <vt:lpstr>Fact with small description acting as headline or title with image</vt:lpstr>
      <vt:lpstr>Go simple and big if possible</vt:lpstr>
      <vt:lpstr>Go simple and big if possible</vt:lpstr>
      <vt:lpstr>“Design is a plan for arranging  elements in such a way as best to accomplish a particular purpose.”  Charles Eames The Information Machine, 1964</vt:lpstr>
      <vt:lpstr>PowerPoint Presentation</vt:lpstr>
      <vt:lpstr>Text goes here lorem ipsum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Lorem ipsum dolor sit amet donec quam felis ultricies nec eu pellentesque pretium quis sem. Nulla consequat massa quis enim. </vt:lpstr>
      <vt:lpstr>Lorem ipsum dolor sit amet donec quam felis ultricies</vt:lpstr>
      <vt:lpstr>Boxes (4 tall)</vt:lpstr>
      <vt:lpstr>Headline</vt:lpstr>
      <vt:lpstr>Combined pie charts (unlabeled)</vt:lpstr>
      <vt:lpstr>Table</vt:lpstr>
      <vt:lpstr>Simplified pie chart (unlabeled)</vt:lpstr>
      <vt:lpstr>Case study (option 1)</vt:lpstr>
      <vt:lpstr>Case study (option 2)</vt:lpstr>
      <vt:lpstr>The team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IBM sign-off</vt:lpstr>
      <vt:lpstr>Organizational chart</vt:lpstr>
      <vt:lpstr>Proposed client project structure</vt:lpstr>
      <vt:lpstr>Value tree</vt:lpstr>
      <vt:lpstr>Value tree (complex)</vt:lpstr>
      <vt:lpstr>Graph template</vt:lpstr>
      <vt:lpstr>RACI table</vt:lpstr>
      <vt:lpstr>Portfolio matrix</vt:lpstr>
      <vt:lpstr>Strategy overview</vt:lpstr>
      <vt:lpstr>Combined pie charts (unlabeled)</vt:lpstr>
      <vt:lpstr>Simplified pie chart (unlabeled)</vt:lpstr>
      <vt:lpstr>Opportunity prioritization matrix</vt:lpstr>
      <vt:lpstr>Performance health check framework</vt:lpstr>
      <vt:lpstr>Stacked 3-layer  pyramid </vt:lpstr>
      <vt:lpstr>Stacked 3-layer  pyramid with list</vt:lpstr>
      <vt:lpstr>Puzzle piece detail  (stacked)</vt:lpstr>
      <vt:lpstr>Puzzle piece detail  (horizontal)</vt:lpstr>
      <vt:lpstr>World (editable)</vt:lpstr>
      <vt:lpstr>World (editable with  location markers)</vt:lpstr>
      <vt:lpstr>Color palette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 IBM Presentation Template — Arial variant</dc:title>
  <dc:creator>Lucas Souza</dc:creator>
  <cp:lastModifiedBy>Katie Andresen</cp:lastModifiedBy>
  <cp:revision>9</cp:revision>
  <cp:lastPrinted>2019-04-25T15:14:05Z</cp:lastPrinted>
  <dcterms:created xsi:type="dcterms:W3CDTF">2022-03-31T19:33:22Z</dcterms:created>
  <dcterms:modified xsi:type="dcterms:W3CDTF">2022-04-01T00:26:21Z</dcterms:modified>
</cp:coreProperties>
</file>