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91" r:id="rId1"/>
  </p:sldMasterIdLst>
  <p:notesMasterIdLst>
    <p:notesMasterId r:id="rId94"/>
  </p:notesMasterIdLst>
  <p:handoutMasterIdLst>
    <p:handoutMasterId r:id="rId9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Lst>
  <p:sldSz cx="9144000" cy="5143500" type="screen16x9"/>
  <p:notesSz cx="6858000" cy="9144000"/>
  <p:defaultTex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 uri="{521415D9-36F7-43E2-AB2F-B90AF26B5E84}">
      <ns0:sectionLst xmlns:ns0="http://schemas.microsoft.com/office/powerpoint/2010/main">
        <ns0:section name="Introduction" id="{E6ED27ED-5F4F-4D42-8703-8D80AB328A39}">
          <ns0:sldIdLst>
            <ns0:sldId id="256"/>
            <ns0:sldId id="257"/>
          </ns0:sldIdLst>
        </ns0:section>
        <ns0:section name="Section 1: IBM &amp; Stable Joint Proposition" id="{AEF76246-6D68-405B-8603-7B1B1B3C5AC6}">
          <ns0:sldIdLst>
            <ns0:sldId id="258"/>
            <ns0:sldId id="259"/>
            <ns0:sldId id="260"/>
            <ns0:sldId id="261"/>
            <ns0:sldId id="262"/>
            <ns0:sldId id="263"/>
            <ns0:sldId id="264"/>
            <ns0:sldId id="265"/>
            <ns0:sldId id="266"/>
            <ns0:sldId id="267"/>
          </ns0:sldIdLst>
        </ns0:section>
        <ns0:section name="Section 2: Scenarios 1 &amp; 2" id="{1BADDFDF-E3DD-4554-9265-B5DB13FF34FE}">
          <ns0:sldIdLst>
            <ns0:sldId id="268"/>
            <ns0:sldId id="269"/>
            <ns0:sldId id="270"/>
            <ns0:sldId id="271"/>
            <ns0:sldId id="272"/>
            <ns0:sldId id="273"/>
            <ns0:sldId id="274"/>
            <ns0:sldId id="275"/>
            <ns0:sldId id="276"/>
            <ns0:sldId id="277"/>
            <ns0:sldId id="278"/>
            <ns0:sldId id="279"/>
            <ns0:sldId id="280"/>
            <ns0:sldId id="281"/>
            <ns0:sldId id="282"/>
            <ns0:sldId id="283"/>
            <ns0:sldId id="284"/>
            <ns0:sldId id="285"/>
            <ns0:sldId id="286"/>
          </ns0:sldIdLst>
        </ns0:section>
        <ns0:section name="Section 3: Commercial Overview" id="{C11F16BE-CB0C-478A-B3E3-836A073EABB2}">
          <ns0:sldIdLst>
            <ns0:sldId id="287"/>
            <ns0:sldId id="288"/>
            <ns0:sldId id="289"/>
            <ns0:sldId id="290"/>
            <ns0:sldId id="291"/>
            <ns0:sldId id="292"/>
            <ns0:sldId id="293"/>
          </ns0:sldIdLst>
        </ns0:section>
        <ns0:section name="Section 4: Sustainability &amp; Social Value" id="{B67C29BA-A527-4BE8-BC46-6040232AEFD9}">
          <ns0:sldIdLst>
            <ns0:sldId id="294"/>
            <ns0:sldId id="295"/>
            <ns0:sldId id="296"/>
            <ns0:sldId id="297"/>
            <ns0:sldId id="298"/>
            <ns0:sldId id="299"/>
            <ns0:sldId id="300"/>
          </ns0:sldIdLst>
        </ns0:section>
        <ns0:section name="Close: Key takeaways and next steps" id="{FC35CF2D-E287-469A-AA26-B932B4B32A72}">
          <ns0:sldIdLst>
            <ns0:sldId id="301"/>
            <ns0:sldId id="302"/>
            <ns0:sldId id="303"/>
            <ns0:sldId id="304"/>
          </ns0:sldIdLst>
        </ns0:section>
      </ns0: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32"/>
    <p:restoredTop sz="96327"/>
  </p:normalViewPr>
  <p:slideViewPr>
    <p:cSldViewPr snapToGrid="0" snapToObjects="1">
      <p:cViewPr varScale="1">
        <p:scale>
          <a:sx n="159" d="100"/>
          <a:sy n="159" d="100"/>
        </p:scale>
        <p:origin x="464" y="184"/>
      </p:cViewPr>
      <p:guideLst>
        <p:guide orient="horz" pos="1620"/>
        <p:guide pos="2880"/>
      </p:guideLst>
    </p:cSldViewPr>
  </p:slideViewPr>
  <p:outlineViewPr>
    <p:cViewPr>
      <p:scale>
        <a:sx n="33" d="100"/>
        <a:sy n="33" d="100"/>
      </p:scale>
      <p:origin x="0" y="-2317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8" d="100"/>
          <a:sy n="88" d="100"/>
        </p:scale>
        <p:origin x="387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94" Type="http://schemas.openxmlformats.org/officeDocument/2006/relationships/notesMaster" Target="notesMasters/notesMaster1.xml"/><Relationship Id="rId95" Type="http://schemas.openxmlformats.org/officeDocument/2006/relationships/handoutMaster" Target="handoutMasters/handoutMaster1.xml"/><Relationship Id="rId96" Type="http://schemas.openxmlformats.org/officeDocument/2006/relationships/commentAuthors" Target="commentAuthors.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Arial" panose="020B0604020202020204" pitchFamily="34" charset="0"/>
                <a:ea typeface="IBM Plex Sans Light" charset="0"/>
                <a:cs typeface="Arial" panose="020B0604020202020204" pitchFamily="34" charset="0"/>
              </a:rPr>
              <a:pPr algn="l"/>
              <a:t>‹#›</a:t>
            </a:fld>
            <a:endParaRPr lang="en-US" sz="600" dirty="0">
              <a:solidFill>
                <a:schemeClr val="bg1"/>
              </a:solidFill>
              <a:latin typeface="Arial" panose="020B0604020202020204" pitchFamily="34" charset="0"/>
              <a:ea typeface="IBM Plex Sans Light" charset="0"/>
              <a:cs typeface="Arial" panose="020B0604020202020204" pitchFamily="34"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Arial" panose="020B0604020202020204" pitchFamily="34" charset="0"/>
                <a:ea typeface="IBM Plex Sans Light" charset="0"/>
                <a:cs typeface="Arial" panose="020B0604020202020204" pitchFamily="34"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7369"/>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a:pPr>
            <a:r>
              <a:rPr kumimoji="0" lang="en-US" sz="10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Fifth level</a:t>
            </a: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Group Name / DOC ID / Month XX, 2022 / © 2022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600"/>
      </a:spcBef>
      <a:defRPr sz="1000" b="0" i="0" kern="1200">
        <a:solidFill>
          <a:schemeClr val="bg1"/>
        </a:solidFill>
        <a:latin typeface="Arial" panose="020B0604020202020204" pitchFamily="34" charset="0"/>
        <a:ea typeface="+mn-ea"/>
        <a:cs typeface="+mn-cs"/>
      </a:defRPr>
    </a:lvl1pPr>
    <a:lvl2pPr marL="174625" indent="-169863" algn="l" defTabSz="914400" rtl="0" eaLnBrk="1" latinLnBrk="0" hangingPunct="1">
      <a:spcBef>
        <a:spcPts val="600"/>
      </a:spcBef>
      <a:buFont typeface="IBM Plex Sans"/>
      <a:buChar char="–"/>
      <a:tabLst/>
      <a:defRPr sz="1000" b="0" i="0" kern="1200">
        <a:solidFill>
          <a:schemeClr val="bg1"/>
        </a:solidFill>
        <a:latin typeface="Arial" panose="020B0604020202020204" pitchFamily="34" charset="0"/>
        <a:ea typeface="+mn-ea"/>
        <a:cs typeface="+mn-cs"/>
      </a:defRPr>
    </a:lvl2pPr>
    <a:lvl3pPr marL="347472" indent="-173736" algn="l" defTabSz="914400" rtl="0" eaLnBrk="1" latinLnBrk="0" hangingPunct="1">
      <a:spcBef>
        <a:spcPts val="600"/>
      </a:spcBef>
      <a:buFont typeface="IBM Plex Sans Light" panose="020B0604020202020204" pitchFamily="34" charset="0"/>
      <a:buChar char="•"/>
      <a:tabLst/>
      <a:defRPr sz="1000" b="0" i="0" kern="1200">
        <a:solidFill>
          <a:schemeClr val="bg1"/>
        </a:solidFill>
        <a:latin typeface="Arial" panose="020B0604020202020204" pitchFamily="34" charset="0"/>
        <a:ea typeface="+mn-ea"/>
        <a:cs typeface="+mn-cs"/>
      </a:defRPr>
    </a:lvl3pPr>
    <a:lvl4pPr marL="630936" indent="-173736" algn="l" defTabSz="914400" rtl="0" eaLnBrk="1" latinLnBrk="0" hangingPunct="1">
      <a:spcBef>
        <a:spcPts val="600"/>
      </a:spcBef>
      <a:buFont typeface="IBM Plex Sans Light"/>
      <a:buChar char="–"/>
      <a:tabLst/>
      <a:defRPr sz="1000" b="0" i="0" kern="1200">
        <a:solidFill>
          <a:schemeClr val="bg1"/>
        </a:solidFill>
        <a:latin typeface="Arial" panose="020B0604020202020204" pitchFamily="34" charset="0"/>
        <a:ea typeface="+mn-ea"/>
        <a:cs typeface="+mn-cs"/>
      </a:defRPr>
    </a:lvl4pPr>
    <a:lvl5pPr marL="174625" marR="0" indent="-169863"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sz="1000" b="0" i="0" kern="1200">
        <a:solidFill>
          <a:schemeClr val="bg1"/>
        </a:solidFill>
        <a:latin typeface="IBM Plex Sans Medm"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NRW DDaT Framework proposal. This presentation introduces the IBM and Stable partnership, our approach, and how we will deliver value for NRW. We will cover our joint proposition, technical scenarios, commercial model, sustainability,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agenda outlines the journey for today's session. We will start with our joint value proposition, move through scenario-based delivery approaches, discuss commercial terms, highlight our sustainability and social value commitments, and conclude with next steps.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partnership combines IBM's global scale and digital expertise with Stable's local Welsh delivery capability. This enables us to deliver complex transformation for NRW, grounded in local context and supported by world-class methods.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pillars underpin our approach for NRW: comprehensive capability, local presence, sustainable outcomes, and integrated delivery. Each pillar is essential for delivering transformation that is robust, relevant, and enduring.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delivery model blends IBM's scale and Stable's local knowledge, ensuring NRW benefits from both world-class expertise and Welsh context. Teams are co-located, accountable, and focused on building NRW's internal capability.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strengths align directly with NRW's needs: technical depth, public sector experience, local delivery, and a focus on sustainable transformation. We are not just a supplier but a strategic partner for NRW’s digital journey.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track record spans major UK and Welsh public sector clients, demonstrating our ability to deliver at pace and scale. We have successfully modernised data, improved compliance, and built sustainable capability for clients like NRW.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specialisms cover the full DDaT spectrum: user-centred design, advanced data and AI, robust integration, and secure cloud delivery. These are directly relevant to NRW’s transformation priorities.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operating model ensures NRW is involved at every stage. Teams are multidisciplinary, agile, and focused on building NRW’s internal capability through hands-on delivery and coaching.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 brings deep Welsh sector experience, supporting charities, SMEs, and public sector bodies. Their bilingual team delivers real social value and strengthens local skills and employment.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delivery is measured, transparent, and consistently high-performing. These metrics reflect our commitment to quality, timeliness, and sustainable outcomes for clients like NRW.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to both the Customer Platform and Website Innovation Window is grounded in discovery, evidence, and iterative delivery. We ensure all investment decisions are validated by user need and technical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is structured around three parallel activities: understanding users, assessing the technical landscape, and shaping delivery. This ensures the roadmap is grounded in real needs and technical feasibility.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discovery phase is not just shaping but mobilisation. We embed delivery readiness, governance, and ways of working from the start, ensuring NRW can move confidently from discovery to delivery.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NRW’s current environment is fragmented, with customer data and journeys split across multiple systems. This creates operational inefficiency, poor user experience, and challenges for integration and analytics.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architecture leverages NRW’s Microsoft estate, with clear separation of engagement, service, integration, and data layers. This enables incremental modernisation and robust, scalable service delivery.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principles ensure the platform is robust, scalable, and future-proof. Security, modularity, and data governance are embedded from the outset, supporting NRW’s operational and compliance needs.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fragmentation is a core challenge. Our approach maps the landscape, introduces a shared identifier, and progressively integrates and governs data, enabling NRW to move toward a unified customer view.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hypothesis is paired with a measurable outcome, ensuring discovery delivers tangible value and sets NRW up for successful delivery and operation.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phased roadmap enables NRW to move from discovery through to live service in a controlled, evidence-based manner. Each phase builds on validated outcomes and increases NRW’s delivery maturity.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multi-layered, ensuring alignment from strategy to technical detail. Risks are proactively managed, and all decisions are transparent and evidence-based.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identified early and addressed through structured mitigation plans. Our approach ensures that technical, organisational, and operational risks are actively managed throughout delivery.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leverages NRW’s existing web stack, focusing on rapid prototyping and evidence generation within current technical constraints. Bilingual and accessibility needs are core.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12-week innovation window is structured for rapid learning. Each phase builds evidence, validates ideas, and supports informed decision-making for NRW.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ensures the innovation window delivers actionable evidence, not just artefacts. NRW remains involved throughout, and all work is grounded in operational reality.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hypothesis is paired with a clear, measurable success criterion. This ensures the 12-week window delivers practical, decision-ready evidence for NRW.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team is multidisciplinary, blending IBM, Stable, and NRW roles. This ensures rapid progress, practical outputs, and strong engagement throughout the 12 weeks.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actively managed through the design of the innovation window. Early definition, continuous engagement, and structured testing ensure value is delivered within 12 weeks.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delivers practical, decision-oriented outputs. NRW receives evidence, prototypes, and a clear path for scaling or refining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commercial approach provides NRW with flexibility, transparency, and value for money. We offer multiple pricing models to suit different delivery stages and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stages require different models. Discovery benefits from T&amp;M flexibility; fixed price is used for well-defined outcomes; fixed capacity balances agility and cost; supplier-led suits ongoing operations.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rate card and terms are transparent and flexible. We adjust for specialist needs and offer discounts for volume and stability, ensuring NRW gets value and clarity.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scenario-specific, with discovery using T&amp;M and the innovation window using a fixed capacity model. Detailed rates and milestones are included in the pricing template.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provide a comprehensive offer, but certain specialist or out-of-scope items may require adjustment. All inclusions and exclusions are clearly defined for NRW.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call-off mechanism ensures flexibility and clarity for each engagement. Next steps focus on refining scope, agreeing terms, and mobilising the right team for NRW.</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and Stable embed environmental sustainability and social value throughout delivery, not as add-ons. Our commitments are practical, measurable, and aligned to NRW and Welsh public sector priorities.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commitments span environmental, linguistic, social, and community dimensions. We deliver measurable benefit for NRW, the Welsh public sector, and local communities.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Stable’s impact in Wales is tangible and ongoing. Their local presence, skills development, and community engagement directly support NRW’s social value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structured metrics and transparent reporting to ensure our commitments are delivered and improved over time. NRW can track progress and impact at every stage.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ensures digital transformation directly supports NRW’s environmental and social goals. Technology, skills, and community benefit are delivered together.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through discipline, transparency, and tailored actions. We ensure all commitments are meaningful, measurable, and scalable for NRW.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actions ensure a smooth transition from proposal to delivery. We are ready to mobilise and begin work with NRW as soon as the call-off is confirmed.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and consideration. Please contact any of our team for further discussion, clarification, or to arrange next steps. We look forward to partnering with NRW.</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brand closing slide. No content required; this slide signals the end of the presentation and reinforces IBM and Stable’s commitment to NRW’s success.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gi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gi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gi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gi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5" name="Picture">
            <a:extLst>
              <a:ext uri="{FF2B5EF4-FFF2-40B4-BE49-F238E27FC236}">
                <a16:creationId xmlns:a16="http://schemas.microsoft.com/office/drawing/2014/main" id="{8F105A4A-9552-334A-9BC6-8D24E7F7BA34}"/>
              </a:ext>
            </a:extLst>
          </p:cNvPr>
          <p:cNvPicPr>
            <a:picLocks noChangeAspect="1"/>
          </p:cNvPicPr>
          <p:nvPr userDrawn="1"/>
        </p:nvPicPr>
        <p:blipFill>
          <a:blip r:embed="rId2"/>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3D766AD5-4616-AD47-BF56-4CF516CAE954}"/>
              </a:ext>
            </a:extLst>
          </p:cNvPr>
          <p:cNvPicPr>
            <a:picLocks noChangeAspect="1"/>
          </p:cNvPicPr>
          <p:nvPr userDrawn="1"/>
        </p:nvPicPr>
        <p:blipFill>
          <a:blip r:embed="rId3"/>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79450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5"/>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7" name="Picture 6">
            <a:extLst>
              <a:ext uri="{FF2B5EF4-FFF2-40B4-BE49-F238E27FC236}">
                <a16:creationId xmlns:a16="http://schemas.microsoft.com/office/drawing/2014/main" id="{26AFBEF0-43ED-3247-83DD-DC66028EC0CB}"/>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9" name="Graphic 8">
            <a:extLst>
              <a:ext uri="{FF2B5EF4-FFF2-40B4-BE49-F238E27FC236}">
                <a16:creationId xmlns:a16="http://schemas.microsoft.com/office/drawing/2014/main" id="{6C84EB7A-8D89-4847-A981-950437F138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1548977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4"/>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5">
            <a:extLst>
              <a:ext uri="{FF2B5EF4-FFF2-40B4-BE49-F238E27FC236}">
                <a16:creationId xmlns:a16="http://schemas.microsoft.com/office/drawing/2014/main" id="{9B2852DC-D56D-D74A-8D1A-E2957BA8F741}"/>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7" name="Graphic 6">
            <a:extLst>
              <a:ext uri="{FF2B5EF4-FFF2-40B4-BE49-F238E27FC236}">
                <a16:creationId xmlns:a16="http://schemas.microsoft.com/office/drawing/2014/main" id="{ECEE8E4C-96B1-AA43-9432-4E6A518DB1B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3739273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3"/>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30DC9BF6-7093-1544-9101-FC7B73CE9A92}"/>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EFB6A17C-AFF6-C640-9555-FFFE815C65AA}"/>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324701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2"/>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73D7ADEB-1992-754B-AD9C-1F55CD8E8263}"/>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BFECEF78-9864-0D48-9AB2-8447ACC853D3}"/>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531125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700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0100"/>
          </a:xfrm>
        </p:spPr>
        <p:txBody>
          <a:bodyPr/>
          <a:lstStyle>
            <a:lvl1pPr>
              <a:defRPr>
                <a:solidFill>
                  <a:srgbClr val="002D9C"/>
                </a:solidFill>
              </a:defRPr>
            </a:lvl1pPr>
          </a:lstStyle>
          <a:p>
            <a:r>
              <a:rPr lang="en-US" dirty="0"/>
              <a:t>Click to edit Master title style</a:t>
            </a:r>
          </a:p>
        </p:txBody>
      </p:sp>
      <p:sp>
        <p:nvSpPr>
          <p:cNvPr id="8" name="Text Placeholder 1"/>
          <p:cNvSpPr>
            <a:spLocks noGrp="1"/>
          </p:cNvSpPr>
          <p:nvPr>
            <p:ph type="body" sz="quarter" idx="13"/>
          </p:nvPr>
        </p:nvSpPr>
        <p:spPr>
          <a:xfrm>
            <a:off x="219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4791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5390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a:solidFill>
                  <a:srgbClr val="002D9C"/>
                </a:solidFill>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72605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b="0" i="0">
                <a:solidFill>
                  <a:srgbClr val="002D9C"/>
                </a:solidFill>
                <a:latin typeface="Arial" panose="020B0604020202020204" pitchFamily="34" charset="0"/>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4572000" y="0"/>
            <a:ext cx="4572000" cy="5143500"/>
          </a:xfrm>
        </p:spPr>
        <p:txBody>
          <a:bodyPr lIns="91440" tIns="91440" rIns="91440" bIns="91440"/>
          <a:lstStyle>
            <a:lvl1pPr>
              <a:defRPr b="0" i="0" baseline="0">
                <a:solidFill>
                  <a:schemeClr val="tx1"/>
                </a:solidFill>
                <a:latin typeface="Arial" panose="020B0604020202020204" pitchFamily="34" charset="0"/>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1315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37161" y="91440"/>
            <a:ext cx="8778172" cy="4404360"/>
          </a:xfrm>
        </p:spPr>
        <p:txBody>
          <a:bodyPr/>
          <a:lstStyle>
            <a:lvl1pPr>
              <a:defRPr sz="9600" b="0" i="0">
                <a:solidFill>
                  <a:srgbClr val="002D9C"/>
                </a:solidFill>
                <a:latin typeface="Arial" panose="020B0604020202020204" pitchFamily="34" charset="0"/>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1276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5562535" cy="4294632"/>
          </a:xfrm>
        </p:spPr>
        <p:txBody>
          <a:bodyPr/>
          <a:lstStyle>
            <a:lvl1pPr>
              <a:defRPr>
                <a:solidFill>
                  <a:srgbClr val="002D9C"/>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23742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4791456" y="201168"/>
            <a:ext cx="4123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8130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4791457" y="1243584"/>
            <a:ext cx="4123876"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43752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210312" y="1216152"/>
            <a:ext cx="4142232" cy="3279648"/>
          </a:xfrm>
        </p:spPr>
        <p:txBody>
          <a:bodyPr/>
          <a:lstStyle>
            <a:lvl1pPr>
              <a:defRPr sz="2400">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4791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85785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91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7077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7268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60574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4791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sz="quarter" idx="13"/>
          </p:nvPr>
        </p:nvSpPr>
        <p:spPr>
          <a:xfrm>
            <a:off x="7077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4687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4142164" cy="4294632"/>
          </a:xfrm>
        </p:spPr>
        <p:txBody>
          <a:bodyPr/>
          <a:lstStyle>
            <a:lvl1pPr>
              <a:defRPr>
                <a:solidFill>
                  <a:schemeClr val="tx1"/>
                </a:solidFill>
              </a:defRPr>
            </a:lvl1pPr>
          </a:lstStyle>
          <a:p>
            <a:r>
              <a:rPr lang="en-US"/>
              <a:t>Click to edit Master title style</a:t>
            </a:r>
            <a:endParaRPr lang="en-US" dirty="0"/>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4572000" y="0"/>
            <a:ext cx="4572000" cy="5143500"/>
          </a:xfrm>
          <a:prstGeom prst="rect">
            <a:avLst/>
          </a:prstGeom>
          <a:solidFill>
            <a:schemeClr val="tx2"/>
          </a:solidFill>
        </p:spPr>
        <p:txBody>
          <a:bodyPr wrap="square" lIns="0" tIns="0" rIns="0" bIns="0" rtlCol="0" anchor="ctr">
            <a:noAutofit/>
          </a:bodyPr>
          <a:lstStyle/>
          <a:p>
            <a:pPr algn="ctr"/>
            <a:endParaRPr lang="en-US" sz="1200" b="0" i="0" dirty="0">
              <a:solidFill>
                <a:schemeClr val="tx1"/>
              </a:solidFill>
              <a:latin typeface="Arial" panose="020B0604020202020204" pitchFamily="34" charset="0"/>
              <a:cs typeface="Arial" panose="020B0604020202020204" pitchFamily="34" charset="0"/>
            </a:endParaRPr>
          </a:p>
        </p:txBody>
      </p:sp>
      <p:sp>
        <p:nvSpPr>
          <p:cNvPr id="6" name="Text Placeholder"/>
          <p:cNvSpPr>
            <a:spLocks noGrp="1"/>
          </p:cNvSpPr>
          <p:nvPr>
            <p:ph type="body" sz="quarter" idx="12"/>
          </p:nvPr>
        </p:nvSpPr>
        <p:spPr>
          <a:xfrm>
            <a:off x="4791456" y="201168"/>
            <a:ext cx="4123944" cy="4294632"/>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Consulting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4641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904468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03723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73617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4572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0" name="Content Placeholder 2"/>
          <p:cNvSpPr>
            <a:spLocks noGrp="1"/>
          </p:cNvSpPr>
          <p:nvPr>
            <p:ph sz="quarter" idx="18"/>
          </p:nvPr>
        </p:nvSpPr>
        <p:spPr>
          <a:xfrm>
            <a:off x="6858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2" name="Content Placeholder 3"/>
          <p:cNvSpPr>
            <a:spLocks noGrp="1"/>
          </p:cNvSpPr>
          <p:nvPr>
            <p:ph sz="quarter" idx="19"/>
          </p:nvPr>
        </p:nvSpPr>
        <p:spPr>
          <a:xfrm>
            <a:off x="4572000" y="2570163"/>
            <a:ext cx="4572000" cy="2573337"/>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6854434"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4792362" y="2570163"/>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82808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4572000" cy="2571751"/>
          </a:xfrm>
          <a:no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Content Placeholder 1"/>
          <p:cNvSpPr>
            <a:spLocks noGrp="1"/>
          </p:cNvSpPr>
          <p:nvPr>
            <p:ph sz="quarter" idx="17"/>
          </p:nvPr>
        </p:nvSpPr>
        <p:spPr>
          <a:xfrm>
            <a:off x="4572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6858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2570163"/>
            <a:ext cx="4572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4572000" y="2570163"/>
            <a:ext cx="4572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228600"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4792362"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6855768"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27739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2569463"/>
          </a:xfrm>
          <a:noFill/>
        </p:spPr>
        <p:txBody>
          <a:bodyPr lIns="182880" tIns="164592" rIns="228600" bIns="228600"/>
          <a:lstStyle>
            <a:lvl1pPr>
              <a:defRPr sz="4800">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2570163"/>
            <a:ext cx="2286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2286001" y="2570163"/>
            <a:ext cx="2286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72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6858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2286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572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6858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228600" y="2571750"/>
            <a:ext cx="86868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3815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1276350"/>
          </a:xfrm>
          <a:solidFill>
            <a:schemeClr val="tx2"/>
          </a:solid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Picture Placeholder"/>
          <p:cNvSpPr>
            <a:spLocks noGrp="1"/>
          </p:cNvSpPr>
          <p:nvPr>
            <p:ph type="pic" sz="quarter" idx="12"/>
          </p:nvPr>
        </p:nvSpPr>
        <p:spPr>
          <a:xfrm>
            <a:off x="0" y="1276350"/>
            <a:ext cx="9144000" cy="386715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92425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9144000" cy="5148072"/>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6" name="Text Placeholder"/>
          <p:cNvSpPr>
            <a:spLocks noGrp="1"/>
          </p:cNvSpPr>
          <p:nvPr>
            <p:ph type="body" sz="quarter" idx="12"/>
          </p:nvPr>
        </p:nvSpPr>
        <p:spPr>
          <a:xfrm>
            <a:off x="-3" y="2571750"/>
            <a:ext cx="2286003" cy="257175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000">
                <a:solidFill>
                  <a:schemeClr val="tx1"/>
                </a:solidFill>
              </a:defRPr>
            </a:lvl2pPr>
            <a:lvl3pPr>
              <a:buClr>
                <a:srgbClr val="001141"/>
              </a:buClr>
              <a:defRPr sz="1000">
                <a:solidFill>
                  <a:schemeClr val="tx1"/>
                </a:solidFill>
              </a:defRPr>
            </a:lvl3pPr>
            <a:lvl4pPr>
              <a:buClr>
                <a:srgbClr val="001141"/>
              </a:buClr>
              <a:defRPr sz="1000">
                <a:solidFill>
                  <a:schemeClr val="tx1"/>
                </a:solidFill>
              </a:defRPr>
            </a:lvl4pPr>
            <a:lvl5pPr>
              <a:buClr>
                <a:srgbClr val="00114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931879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2286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4572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6858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2283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6855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6426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2514600" y="1243584"/>
            <a:ext cx="6400800"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036059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9881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5"/>
          </p:nvPr>
        </p:nvSpPr>
        <p:spPr>
          <a:xfrm>
            <a:off x="2505456" y="1259626"/>
            <a:ext cx="1837944" cy="3252216"/>
          </a:xfrm>
        </p:spPr>
        <p:txBody>
          <a:bodyPr/>
          <a:lstStyle>
            <a:lvl1pPr>
              <a:spcBef>
                <a:spcPts val="300"/>
              </a:spcBef>
              <a:defRPr sz="1400">
                <a:solidFill>
                  <a:schemeClr val="tx1"/>
                </a:solidFill>
              </a:defRPr>
            </a:lvl1pPr>
            <a:lvl2pPr>
              <a:spcBef>
                <a:spcPts val="1100"/>
              </a:spcBef>
              <a:defRPr sz="1400">
                <a:solidFill>
                  <a:schemeClr val="tx1"/>
                </a:solidFill>
              </a:defRPr>
            </a:lvl2pPr>
            <a:lvl3pPr>
              <a:spcBef>
                <a:spcPts val="1100"/>
              </a:spcBef>
              <a:defRPr sz="1400">
                <a:solidFill>
                  <a:schemeClr val="tx1"/>
                </a:solidFill>
              </a:defRPr>
            </a:lvl3pPr>
            <a:lvl4pPr>
              <a:spcBef>
                <a:spcPts val="1100"/>
              </a:spcBef>
              <a:defRPr sz="1400">
                <a:solidFill>
                  <a:schemeClr val="tx1"/>
                </a:solidFill>
              </a:defRPr>
            </a:lvl4pPr>
            <a:lvl5pPr>
              <a:spcBef>
                <a:spcPts val="110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64527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62634"/>
            <a:ext cx="1837944" cy="3252216"/>
          </a:xfrm>
        </p:spPr>
        <p:txBody>
          <a:bodyPr/>
          <a:lstStyle>
            <a:lvl1pPr>
              <a:spcBef>
                <a:spcPts val="300"/>
              </a:spcBef>
              <a:defRPr sz="1000">
                <a:solidFill>
                  <a:schemeClr val="tx1"/>
                </a:solidFill>
              </a:defRPr>
            </a:lvl1pPr>
            <a:lvl2pPr>
              <a:spcBef>
                <a:spcPts val="300"/>
              </a:spcBef>
              <a:defRPr sz="1000">
                <a:solidFill>
                  <a:schemeClr val="tx1"/>
                </a:solidFill>
              </a:defRPr>
            </a:lvl2pPr>
            <a:lvl3pPr>
              <a:spcBef>
                <a:spcPts val="300"/>
              </a:spcBef>
              <a:defRPr sz="1000">
                <a:solidFill>
                  <a:schemeClr val="tx1"/>
                </a:solidFill>
              </a:defRPr>
            </a:lvl3pPr>
            <a:lvl4pPr>
              <a:spcBef>
                <a:spcPts val="300"/>
              </a:spcBef>
              <a:defRPr sz="1000">
                <a:solidFill>
                  <a:schemeClr val="tx1"/>
                </a:solidFill>
              </a:defRPr>
            </a:lvl4pPr>
            <a:lvl5pPr>
              <a:spcBef>
                <a:spcPts val="300"/>
              </a:spcBef>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73168" y="1216152"/>
            <a:ext cx="4142232" cy="3279648"/>
          </a:xfrm>
        </p:spPr>
        <p:txBody>
          <a:bodyPr/>
          <a:lstStyle>
            <a:lvl1pPr>
              <a:defRPr sz="2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6094675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19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p:cNvSpPr>
            <a:spLocks noGrp="1"/>
          </p:cNvSpPr>
          <p:nvPr>
            <p:ph type="tbl" sz="quarter" idx="13"/>
          </p:nvPr>
        </p:nvSpPr>
        <p:spPr>
          <a:xfrm>
            <a:off x="2505457" y="201168"/>
            <a:ext cx="6409876" cy="4294632"/>
          </a:xfrm>
        </p:spPr>
        <p:txBody>
          <a:bodyPr lIns="0" tIns="0" rIns="91440" bIns="91440"/>
          <a:lstStyle>
            <a:lvl1pPr>
              <a:defRPr>
                <a:solidFill>
                  <a:schemeClr val="tx1"/>
                </a:solidFill>
              </a:defRPr>
            </a:lvl1pPr>
          </a:lstStyle>
          <a:p>
            <a:r>
              <a:rPr lang="en-US"/>
              <a:t>Click icon to add table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1107208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369024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91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61872"/>
            <a:ext cx="4123944" cy="1309878"/>
          </a:xfrm>
        </p:spPr>
        <p:txBody>
          <a:bodyPr/>
          <a:lstStyle>
            <a:lvl1pPr>
              <a:spcBef>
                <a:spcPts val="0"/>
              </a:spcBef>
              <a:defRPr sz="1000">
                <a:solidFill>
                  <a:schemeClr val="tx1"/>
                </a:solidFill>
              </a:defRPr>
            </a:lvl1pPr>
            <a:lvl2pPr marL="0" indent="0">
              <a:spcBef>
                <a:spcPts val="0"/>
              </a:spcBef>
              <a:buNone/>
              <a:defRPr/>
            </a:lvl2pPr>
            <a:lvl3pPr marL="201615" indent="0">
              <a:buNone/>
              <a:defRPr/>
            </a:lvl3pPr>
            <a:lvl4pPr marL="434981" indent="0">
              <a:buNone/>
              <a:defRPr/>
            </a:lvl4pPr>
            <a:lvl5pPr marL="63183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19456" y="3209544"/>
            <a:ext cx="6409944" cy="1307592"/>
          </a:xfrm>
        </p:spPr>
        <p:txBody>
          <a:bodyPr anchor="b"/>
          <a:lstStyle>
            <a:lvl1pPr>
              <a:spcBef>
                <a:spcPts val="300"/>
              </a:spcBef>
              <a:defRPr sz="600">
                <a:solidFill>
                  <a:schemeClr val="tx1"/>
                </a:solidFill>
              </a:defRPr>
            </a:lvl1pPr>
            <a:lvl2pPr>
              <a:defRPr sz="600"/>
            </a:lvl2pPr>
            <a:lvl3pPr>
              <a:defRPr sz="600"/>
            </a:lvl3pPr>
            <a:lvl4pPr>
              <a:defRPr sz="600"/>
            </a:lvl4pPr>
            <a:lvl5pPr>
              <a:defRPr sz="600"/>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844821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imated Rebus sign-off (red4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30253-DA74-3E44-9BC6-8B5C1DD668E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639723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nimated Rebus sign-off (yellow2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EEBA7C-F498-524A-9427-6358C4846A4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8637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nimated Rebus sign-off (red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F54E53-3A23-9A4B-B6FC-E1BD369164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9391213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nimated Rebus sign-off (teal4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727A0-1A17-074E-8354-E327AC2DBC6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095178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nimated Rebus sign-off (grey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835D96-8926-B845-B252-0835183F218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368959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ic Rebus sign-off (red40)">
    <p:bg>
      <p:bgPr>
        <a:solidFill>
          <a:srgbClr val="FF838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183733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ic Rebus sign-off (yellow20)">
    <p:bg>
      <p:bgPr>
        <a:solidFill>
          <a:srgbClr val="FDDC6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8939513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ic Rebus sign-off (red20)">
    <p:bg>
      <p:bgPr>
        <a:solidFill>
          <a:srgbClr val="FFD7D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35315984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ic Rebus sign-off (teal40)">
    <p:bg>
      <p:bgPr>
        <a:solidFill>
          <a:srgbClr val="08BDBA"/>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238985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934B3B19-0C45-9541-83FA-EE9B1AA972B5}"/>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3566619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bm sign-off (blue80)">
    <p:bg>
      <p:bgPr>
        <a:solidFill>
          <a:srgbClr val="BAE6FF"/>
        </a:solidFill>
        <a:effectLst/>
      </p:bgPr>
    </p:bg>
    <p:spTree>
      <p:nvGrpSpPr>
        <p:cNvPr id="1" name=""/>
        <p:cNvGrpSpPr/>
        <p:nvPr/>
      </p:nvGrpSpPr>
      <p:grpSpPr>
        <a:xfrm>
          <a:off x="0" y="0"/>
          <a:ext cx="0" cy="0"/>
          <a:chOff x="0" y="0"/>
          <a:chExt cx="0" cy="0"/>
        </a:xfrm>
      </p:grpSpPr>
      <p:pic>
        <p:nvPicPr>
          <p:cNvPr id="3" name="Picture">
            <a:extLst>
              <a:ext uri="{FF2B5EF4-FFF2-40B4-BE49-F238E27FC236}">
                <a16:creationId xmlns:a16="http://schemas.microsoft.com/office/drawing/2014/main" id="{4A23D73C-34B1-FF44-9B5A-0AD4D78DA0C8}"/>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4554014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923197" y="2312884"/>
            <a:ext cx="1297606" cy="517732"/>
          </a:xfrm>
          <a:prstGeom prst="rect">
            <a:avLst/>
          </a:prstGeom>
        </p:spPr>
      </p:pic>
    </p:spTree>
    <p:extLst>
      <p:ext uri="{BB962C8B-B14F-4D97-AF65-F5344CB8AC3E}">
        <p14:creationId xmlns:p14="http://schemas.microsoft.com/office/powerpoint/2010/main" val="1218931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tatic Rebus sign-off (grey20)">
    <p:bg>
      <p:bgPr>
        <a:solidFill>
          <a:srgbClr val="E0E0E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698032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10312" y="201168"/>
            <a:ext cx="4142232" cy="4294632"/>
          </a:xfrm>
          <a:prstGeom prst="rect">
            <a:avLst/>
          </a:prstGeom>
        </p:spPr>
        <p:txBody>
          <a:bodyPr vert="horz" lIns="0" tIns="0" rIns="0" bIns="0" rtlCol="0" anchor="t">
            <a:noAutofit/>
          </a:bodyPr>
          <a:lstStyle/>
          <a:p>
            <a:r>
              <a:rPr lang="en-US"/>
              <a:t>Click to edit Master title style</a:t>
            </a:r>
            <a:endParaRPr lang="en-US" dirty="0"/>
          </a:p>
        </p:txBody>
      </p:sp>
      <p:sp>
        <p:nvSpPr>
          <p:cNvPr id="5" name="Text Placeholder"/>
          <p:cNvSpPr>
            <a:spLocks noGrp="1"/>
          </p:cNvSpPr>
          <p:nvPr>
            <p:ph type="body" idx="1"/>
          </p:nvPr>
        </p:nvSpPr>
        <p:spPr>
          <a:xfrm>
            <a:off x="4791456" y="201168"/>
            <a:ext cx="4123944" cy="429463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p:cNvSpPr>
            <a:spLocks noGrp="1"/>
          </p:cNvSpPr>
          <p:nvPr>
            <p:ph type="ftr" sz="quarter" idx="3"/>
          </p:nvPr>
        </p:nvSpPr>
        <p:spPr>
          <a:xfrm>
            <a:off x="228666" y="4800600"/>
            <a:ext cx="4114735" cy="166687"/>
          </a:xfrm>
          <a:prstGeom prst="rect">
            <a:avLst/>
          </a:prstGeom>
        </p:spPr>
        <p:txBody>
          <a:bodyPr vert="horz" lIns="0" tIns="0" rIns="0" bIns="0" rtlCol="0" anchor="ctr"/>
          <a:lstStyle>
            <a:lvl1pPr marL="0" marR="0" indent="0" algn="l" defTabSz="685992" rtl="0" eaLnBrk="1" fontAlgn="auto" latinLnBrk="0" hangingPunct="1">
              <a:lnSpc>
                <a:spcPct val="100000"/>
              </a:lnSpc>
              <a:spcBef>
                <a:spcPts val="0"/>
              </a:spcBef>
              <a:spcAft>
                <a:spcPts val="0"/>
              </a:spcAft>
              <a:buClrTx/>
              <a:buSzTx/>
              <a:buFontTx/>
              <a:buNone/>
              <a:tabLst/>
              <a:defRPr sz="600" b="0" i="0">
                <a:solidFill>
                  <a:schemeClr val="tx1"/>
                </a:solidFill>
                <a:latin typeface="Arial" panose="020B0604020202020204" pitchFamily="34" charset="0"/>
              </a:defRPr>
            </a:lvl1pPr>
          </a:lstStyle>
          <a:p>
            <a:r>
              <a:rPr lang="en-US"/>
              <a:t>IBM Consulting / DOC ID / Month XX, 2022 / © 2022 IBM Corporation</a:t>
            </a:r>
            <a:endParaRPr lang="en-US" dirty="0"/>
          </a:p>
        </p:txBody>
      </p:sp>
      <p:sp>
        <p:nvSpPr>
          <p:cNvPr id="8" name="Slide Number Placeholder"/>
          <p:cNvSpPr>
            <a:spLocks noGrp="1"/>
          </p:cNvSpPr>
          <p:nvPr>
            <p:ph type="sldNum" sz="quarter" idx="4"/>
          </p:nvPr>
        </p:nvSpPr>
        <p:spPr>
          <a:xfrm>
            <a:off x="7086601" y="4800600"/>
            <a:ext cx="1828732" cy="166687"/>
          </a:xfrm>
          <a:prstGeom prst="rect">
            <a:avLst/>
          </a:prstGeom>
        </p:spPr>
        <p:txBody>
          <a:bodyPr vert="horz" lIns="0" tIns="0" rIns="0" bIns="0" rtlCol="0" anchor="ctr"/>
          <a:lstStyle>
            <a:lvl1pPr algn="r">
              <a:defRPr sz="600" b="0" i="0">
                <a:solidFill>
                  <a:schemeClr val="tx1"/>
                </a:solidFill>
                <a:latin typeface="Arial" panose="020B0604020202020204"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09730" y="-110490"/>
            <a:ext cx="9364220" cy="536448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40078074"/>
      </p:ext>
    </p:extLst>
  </p:cSld>
  <p:clrMap bg1="dk1" tx1="lt1" bg2="dk2" tx2="lt2" accent1="accent1" accent2="accent2" accent3="accent3" accent4="accent4" accent5="accent5" accent6="accent6" hlink="hlink" folHlink="folHlink"/>
  <p:sldLayoutIdLst>
    <p:sldLayoutId id="2147483892" r:id="rId1"/>
    <p:sldLayoutId id="2147483926" r:id="rId2"/>
    <p:sldLayoutId id="2147483935" r:id="rId3"/>
    <p:sldLayoutId id="2147483938" r:id="rId4"/>
    <p:sldLayoutId id="2147483939"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2" r:id="rId35"/>
    <p:sldLayoutId id="2147483941" r:id="rId36"/>
    <p:sldLayoutId id="2147483942" r:id="rId37"/>
    <p:sldLayoutId id="2147483943" r:id="rId38"/>
    <p:sldLayoutId id="2147483944" r:id="rId39"/>
    <p:sldLayoutId id="2147483945" r:id="rId40"/>
    <p:sldLayoutId id="2147483946" r:id="rId41"/>
    <p:sldLayoutId id="2147483947" r:id="rId42"/>
    <p:sldLayoutId id="2147483948" r:id="rId43"/>
    <p:sldLayoutId id="2147483949" r:id="rId44"/>
    <p:sldLayoutId id="2147483933" r:id="rId45"/>
    <p:sldLayoutId id="2147483934" r:id="rId46"/>
    <p:sldLayoutId id="2147483923" r:id="rId47"/>
    <p:sldLayoutId id="2147483950" r:id="rId48"/>
  </p:sldLayoutIdLst>
  <p:hf hdr="0" dt="0"/>
  <p:txStyles>
    <p:titleStyle>
      <a:lvl1pPr algn="l" rtl="0" eaLnBrk="1" fontAlgn="base" hangingPunct="1">
        <a:lnSpc>
          <a:spcPct val="90000"/>
        </a:lnSpc>
        <a:spcBef>
          <a:spcPct val="0"/>
        </a:spcBef>
        <a:spcAft>
          <a:spcPct val="0"/>
        </a:spcAft>
        <a:defRPr sz="2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p:titleStyle>
    <p:body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Arial" panose="020B0604020202020204" pitchFamily="34" charset="0"/>
          <a:ea typeface="Arial" panose="020B0604020202020204" pitchFamily="34" charset="0"/>
          <a:cs typeface="Arial" panose="020B0604020202020204"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p:bodyStyle>
    <p:otherStyle>
      <a:defPPr>
        <a:defRPr lang="en-US"/>
      </a:defPPr>
      <a:lvl1pPr marL="0" algn="l" defTabSz="725139" rtl="0" eaLnBrk="1" latinLnBrk="0" hangingPunct="1">
        <a:defRPr sz="1428" kern="1200">
          <a:solidFill>
            <a:schemeClr val="tx1"/>
          </a:solidFill>
          <a:latin typeface="+mn-lt"/>
          <a:ea typeface="+mn-ea"/>
          <a:cs typeface="+mn-cs"/>
        </a:defRPr>
      </a:lvl1pPr>
      <a:lvl2pPr marL="362568" algn="l" defTabSz="725139" rtl="0" eaLnBrk="1" latinLnBrk="0" hangingPunct="1">
        <a:defRPr sz="1428" kern="1200">
          <a:solidFill>
            <a:schemeClr val="tx1"/>
          </a:solidFill>
          <a:latin typeface="+mn-lt"/>
          <a:ea typeface="+mn-ea"/>
          <a:cs typeface="+mn-cs"/>
        </a:defRPr>
      </a:lvl2pPr>
      <a:lvl3pPr marL="725139" algn="l" defTabSz="725139" rtl="0" eaLnBrk="1" latinLnBrk="0" hangingPunct="1">
        <a:defRPr sz="1428" kern="1200">
          <a:solidFill>
            <a:schemeClr val="tx1"/>
          </a:solidFill>
          <a:latin typeface="+mn-lt"/>
          <a:ea typeface="+mn-ea"/>
          <a:cs typeface="+mn-cs"/>
        </a:defRPr>
      </a:lvl3pPr>
      <a:lvl4pPr marL="1087707" algn="l" defTabSz="725139" rtl="0" eaLnBrk="1" latinLnBrk="0" hangingPunct="1">
        <a:defRPr sz="1428" kern="1200">
          <a:solidFill>
            <a:schemeClr val="tx1"/>
          </a:solidFill>
          <a:latin typeface="+mn-lt"/>
          <a:ea typeface="+mn-ea"/>
          <a:cs typeface="+mn-cs"/>
        </a:defRPr>
      </a:lvl4pPr>
      <a:lvl5pPr marL="1450276" algn="l" defTabSz="725139" rtl="0" eaLnBrk="1" latinLnBrk="0" hangingPunct="1">
        <a:defRPr sz="1428" kern="1200">
          <a:solidFill>
            <a:schemeClr val="tx1"/>
          </a:solidFill>
          <a:latin typeface="+mn-lt"/>
          <a:ea typeface="+mn-ea"/>
          <a:cs typeface="+mn-cs"/>
        </a:defRPr>
      </a:lvl5pPr>
      <a:lvl6pPr marL="1812846" algn="l" defTabSz="725139" rtl="0" eaLnBrk="1" latinLnBrk="0" hangingPunct="1">
        <a:defRPr sz="1428" kern="1200">
          <a:solidFill>
            <a:schemeClr val="tx1"/>
          </a:solidFill>
          <a:latin typeface="+mn-lt"/>
          <a:ea typeface="+mn-ea"/>
          <a:cs typeface="+mn-cs"/>
        </a:defRPr>
      </a:lvl6pPr>
      <a:lvl7pPr marL="2175414" algn="l" defTabSz="725139" rtl="0" eaLnBrk="1" latinLnBrk="0" hangingPunct="1">
        <a:defRPr sz="1428" kern="1200">
          <a:solidFill>
            <a:schemeClr val="tx1"/>
          </a:solidFill>
          <a:latin typeface="+mn-lt"/>
          <a:ea typeface="+mn-ea"/>
          <a:cs typeface="+mn-cs"/>
        </a:defRPr>
      </a:lvl7pPr>
      <a:lvl8pPr marL="2537983" algn="l" defTabSz="725139" rtl="0" eaLnBrk="1" latinLnBrk="0" hangingPunct="1">
        <a:defRPr sz="1428" kern="1200">
          <a:solidFill>
            <a:schemeClr val="tx1"/>
          </a:solidFill>
          <a:latin typeface="+mn-lt"/>
          <a:ea typeface="+mn-ea"/>
          <a:cs typeface="+mn-cs"/>
        </a:defRPr>
      </a:lvl8pPr>
      <a:lvl9pPr marL="2900552" algn="l" defTabSz="725139" rtl="0" eaLnBrk="1" latinLnBrk="0" hangingPunct="1">
        <a:defRPr sz="142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pos="144" userDrawn="1">
          <p15:clr>
            <a:srgbClr val="F26B43"/>
          </p15:clr>
        </p15:guide>
        <p15:guide id="3" pos="5616" userDrawn="1">
          <p15:clr>
            <a:srgbClr val="F26B43"/>
          </p15:clr>
        </p15:guide>
        <p15:guide id="4" orient="horz" pos="2832" userDrawn="1">
          <p15:clr>
            <a:srgbClr val="F26B43"/>
          </p15:clr>
        </p15:guide>
        <p15:guide id="5" orient="horz" pos="3094" userDrawn="1">
          <p15:clr>
            <a:srgbClr val="F26B43"/>
          </p15:clr>
        </p15:guide>
        <p15:guide id="6" pos="2880" userDrawn="1">
          <p15:clr>
            <a:srgbClr val="F26B43"/>
          </p15:clr>
        </p15:guide>
        <p15:guide id="7" pos="2736" userDrawn="1">
          <p15:clr>
            <a:srgbClr val="F26B43"/>
          </p15:clr>
        </p15:guide>
        <p15:guide id="8" pos="1440" userDrawn="1">
          <p15:clr>
            <a:srgbClr val="F26B43"/>
          </p15:clr>
        </p15:guide>
        <p15:guide id="9" pos="3024" userDrawn="1">
          <p15:clr>
            <a:srgbClr val="F26B43"/>
          </p15:clr>
        </p15:guide>
        <p15:guide id="10" pos="1296" userDrawn="1">
          <p15:clr>
            <a:srgbClr val="F26B43"/>
          </p15:clr>
        </p15:guide>
        <p15:guide id="11" pos="1584" userDrawn="1">
          <p15:clr>
            <a:srgbClr val="F26B43"/>
          </p15:clr>
        </p15:guide>
        <p15:guide id="12" pos="4320" userDrawn="1">
          <p15:clr>
            <a:srgbClr val="F26B43"/>
          </p15:clr>
        </p15:guide>
        <p15:guide id="13" pos="4176" userDrawn="1">
          <p15:clr>
            <a:srgbClr val="F26B43"/>
          </p15:clr>
        </p15:guide>
        <p15:guide id="14" pos="4464" userDrawn="1">
          <p15:clr>
            <a:srgbClr val="F26B43"/>
          </p15:clr>
        </p15:guide>
        <p15:guide id="15" orient="horz" pos="412" userDrawn="1">
          <p15:clr>
            <a:srgbClr val="F26B43"/>
          </p15:clr>
        </p15:guide>
        <p15:guide id="17" orient="horz" pos="812" userDrawn="1">
          <p15:clr>
            <a:srgbClr val="F26B43"/>
          </p15:clr>
        </p15:guide>
        <p15:guide id="18" orient="horz" pos="1620" userDrawn="1">
          <p15:clr>
            <a:srgbClr val="F26B43"/>
          </p15:clr>
        </p15:guide>
        <p15:guide id="19" orient="horz" pos="1216" userDrawn="1">
          <p15:clr>
            <a:srgbClr val="F26B43"/>
          </p15:clr>
        </p15:guide>
        <p15:guide id="20" orient="horz" pos="2022" userDrawn="1">
          <p15:clr>
            <a:srgbClr val="F26B43"/>
          </p15:clr>
        </p15:guide>
        <p15:guide id="21" orient="horz" pos="24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DDaT Framework — Initial Proposal</a:t>
            </a:r>
          </a:p>
          <a:p>
            <a:r>
              <a:t>IBM Consulting &amp; Stable — Joint Response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2" sz="quarter"/>
          </p:nvPr>
        </p:nvSpPr>
        <p:spPr/>
        <p:txBody>
          <a:bodyPr/>
          <a:lstStyle/>
          <a:p>
            <a:pPr>
              <a:spcBef>
                <a:spcPts val="400"/>
              </a:spcBef>
              <a:buChar char="•"/>
            </a:pPr>
            <a:r>
              <a:rPr>
                <a:latin typeface="Arial"/>
              </a:rPr>
              <a:t>1. IBM &amp; Stable Joint Proposition</a:t>
            </a:r>
          </a:p>
          <a:p>
            <a:pPr>
              <a:spcBef>
                <a:spcPts val="400"/>
              </a:spcBef>
              <a:buChar char="•"/>
            </a:pPr>
            <a:r>
              <a:rPr>
                <a:latin typeface="Arial"/>
              </a:rPr>
              <a:t>2. Scenarios 1 &amp; 2</a:t>
            </a:r>
          </a:p>
          <a:p>
            <a:pPr>
              <a:spcBef>
                <a:spcPts val="400"/>
              </a:spcBef>
              <a:buChar char="•"/>
            </a:pPr>
            <a:r>
              <a:rPr>
                <a:latin typeface="Arial"/>
              </a:rPr>
              <a:t>3. Commercial Overview</a:t>
            </a:r>
          </a:p>
          <a:p>
            <a:pPr>
              <a:spcBef>
                <a:spcPts val="400"/>
              </a:spcBef>
              <a:buChar char="•"/>
            </a:pPr>
            <a:r>
              <a:rPr>
                <a:latin typeface="Arial"/>
              </a:rPr>
              <a:t>4. Sustainability &amp; Social Value</a:t>
            </a:r>
          </a:p>
          <a:p>
            <a:pPr>
              <a:spcBef>
                <a:spcPts val="400"/>
              </a:spcBef>
              <a:buChar char="•"/>
            </a:pPr>
            <a:r>
              <a:rPr>
                <a:latin typeface="Arial"/>
              </a:rPr>
              <a:t>5. Close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1: IBM &amp; Stable Joint Proposition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&amp; Stable: Transformation at scale with local impact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pillars of our joint proposition</a:t>
            </a:r>
          </a:p>
        </p:txBody>
      </p:sp>
      <p:sp>
        <p:nvSpPr>
          <p:cNvPr id="3" name="Content Placeholder 2"/>
          <p:cNvSpPr>
            <a:spLocks noGrp="1"/>
          </p:cNvSpPr>
          <p:nvPr>
            <p:ph idx="17" sz="quarter"/>
          </p:nvPr>
        </p:nvSpPr>
        <p:spPr/>
        <p:txBody>
          <a:bodyPr/>
          <a:lstStyle/>
          <a:p>
            <a:pPr>
              <a:spcBef>
                <a:spcPts val="400"/>
              </a:spcBef>
            </a:pPr>
            <a:r>
              <a:rPr>
                <a:latin typeface="Arial"/>
              </a:rPr>
              <a:t>End-to-End Capability</a:t>
            </a:r>
            <a:br/>
            <a:r>
              <a:rPr>
                <a:latin typeface="Arial"/>
              </a:rPr>
              <a:t>['Full lifecycle: discovery to live service', 'Structured engineering and product delivery', 'Proven in complex, regulated environments']</a:t>
            </a:r>
          </a:p>
        </p:txBody>
      </p:sp>
      <p:sp>
        <p:nvSpPr>
          <p:cNvPr id="4" name="Content Placeholder 3"/>
          <p:cNvSpPr>
            <a:spLocks noGrp="1"/>
          </p:cNvSpPr>
          <p:nvPr>
            <p:ph idx="18" sz="quarter"/>
          </p:nvPr>
        </p:nvSpPr>
        <p:spPr/>
        <p:txBody>
          <a:bodyPr/>
          <a:lstStyle/>
          <a:p>
            <a:pPr>
              <a:spcBef>
                <a:spcPts val="400"/>
              </a:spcBef>
            </a:pPr>
            <a:r>
              <a:rPr>
                <a:latin typeface="Arial"/>
              </a:rPr>
              <a:t>Local Welsh Delivery</a:t>
            </a:r>
            <a:br/>
            <a:r>
              <a:rPr>
                <a:latin typeface="Arial"/>
              </a:rPr>
              <a:t>['Stable’s Cardiff-based team', 'Bilingual and culturally aligned', 'Deep ties to Welsh public sector']</a:t>
            </a:r>
          </a:p>
        </p:txBody>
      </p:sp>
      <p:sp>
        <p:nvSpPr>
          <p:cNvPr id="5" name="Content Placeholder 4"/>
          <p:cNvSpPr>
            <a:spLocks noGrp="1"/>
          </p:cNvSpPr>
          <p:nvPr>
            <p:ph idx="20" sz="quarter"/>
          </p:nvPr>
        </p:nvSpPr>
        <p:spPr/>
        <p:txBody>
          <a:bodyPr/>
          <a:lstStyle/>
          <a:p>
            <a:pPr>
              <a:spcBef>
                <a:spcPts val="400"/>
              </a:spcBef>
            </a:pPr>
            <a:r>
              <a:rPr>
                <a:latin typeface="Arial"/>
              </a:rPr>
              <a:t>Sustainable Transformation</a:t>
            </a:r>
            <a:br/>
            <a:r>
              <a:rPr>
                <a:latin typeface="Arial"/>
              </a:rPr>
              <a:t>['Knowledge transfer, not dependency', 'Embedded capability uplift', 'Long-term client ownership focus']</a:t>
            </a:r>
          </a:p>
        </p:txBody>
      </p:sp>
      <p:sp>
        <p:nvSpPr>
          <p:cNvPr id="6" name="Content Placeholder 5"/>
          <p:cNvSpPr>
            <a:spLocks noGrp="1"/>
          </p:cNvSpPr>
          <p:nvPr>
            <p:ph idx="19" sz="quarter"/>
          </p:nvPr>
        </p:nvSpPr>
        <p:spPr/>
        <p:txBody>
          <a:bodyPr/>
          <a:lstStyle/>
          <a:p>
            <a:pPr>
              <a:spcBef>
                <a:spcPts val="400"/>
              </a:spcBef>
            </a:pPr>
            <a:r>
              <a:rPr>
                <a:latin typeface="Arial"/>
              </a:rPr>
              <a:t>Integrated Approach</a:t>
            </a:r>
            <a:br/>
            <a:r>
              <a:rPr>
                <a:latin typeface="Arial"/>
              </a:rPr>
              <a:t>['Strategy, design, engineering, operations', 'Blended teams with shared accountability', 'Agile, product-led delivery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blended IBM and Stable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Joint teams embedded with NRW stakeholders</a:t>
            </a:r>
          </a:p>
          <a:p>
            <a:pPr>
              <a:spcBef>
                <a:spcPts val="400"/>
              </a:spcBef>
              <a:buChar char="•"/>
            </a:pPr>
            <a:r>
              <a:rPr>
                <a:latin typeface="Arial"/>
              </a:rPr>
              <a:t>Stable provides local, bilingual expertise</a:t>
            </a:r>
          </a:p>
          <a:p>
            <a:pPr>
              <a:spcBef>
                <a:spcPts val="400"/>
              </a:spcBef>
              <a:buChar char="•"/>
            </a:pPr>
            <a:r>
              <a:rPr>
                <a:latin typeface="Arial"/>
              </a:rPr>
              <a:t>IBM brings global methods and accelerators</a:t>
            </a:r>
          </a:p>
          <a:p>
            <a:pPr>
              <a:spcBef>
                <a:spcPts val="400"/>
              </a:spcBef>
              <a:buChar char="•"/>
            </a:pPr>
            <a:r>
              <a:rPr>
                <a:latin typeface="Arial"/>
              </a:rPr>
              <a:t>Continuous knowledge transfer to NRW</a:t>
            </a:r>
          </a:p>
          <a:p>
            <a:pPr>
              <a:spcBef>
                <a:spcPts val="400"/>
              </a:spcBef>
              <a:buChar char="•"/>
            </a:pPr>
            <a:r>
              <a:rPr>
                <a:latin typeface="Arial"/>
              </a:rPr>
              <a:t>Cultural alignment with Welsh public sector</a:t>
            </a:r>
          </a:p>
          <a:p>
            <a:pPr>
              <a:spcBef>
                <a:spcPts val="400"/>
              </a:spcBef>
              <a:buChar char="•"/>
            </a:pPr>
            <a:r>
              <a:rPr>
                <a:latin typeface="Arial"/>
              </a:rPr>
              <a:t>Structured onboarding and mobilisation</a:t>
            </a:r>
          </a:p>
          <a:p>
            <a:pPr>
              <a:spcBef>
                <a:spcPts val="400"/>
              </a:spcBef>
              <a:buChar char="•"/>
            </a:pPr>
            <a:r>
              <a:rPr>
                <a:latin typeface="Arial"/>
              </a:rPr>
              <a:t>Direct access to Microsoft and AI specialists</a:t>
            </a:r>
          </a:p>
        </p:txBody>
      </p:sp>
      <p:sp>
        <p:nvSpPr>
          <p:cNvPr id="4" name="Text Placeholder 3"/>
          <p:cNvSpPr>
            <a:spLocks noGrp="1"/>
          </p:cNvSpPr>
          <p:nvPr>
            <p:ph type="body" idx="12" sz="quarter"/>
          </p:nvPr>
        </p:nvSpPr>
        <p:spPr/>
        <p:txBody>
          <a:bodyPr/>
          <a:lstStyle/>
          <a:p>
            <a:pPr>
              <a:spcBef>
                <a:spcPts val="400"/>
              </a:spcBef>
              <a:buChar char="•"/>
            </a:pPr>
            <a:r>
              <a:rPr>
                <a:latin typeface="Arial"/>
              </a:rPr>
              <a:t>Single-team accountability for outcomes</a:t>
            </a:r>
          </a:p>
          <a:p>
            <a:pPr>
              <a:spcBef>
                <a:spcPts val="400"/>
              </a:spcBef>
              <a:buChar char="•"/>
            </a:pPr>
            <a:r>
              <a:rPr>
                <a:latin typeface="Arial"/>
              </a:rPr>
              <a:t>Shared governance and transparent reporting</a:t>
            </a:r>
          </a:p>
          <a:p>
            <a:pPr>
              <a:spcBef>
                <a:spcPts val="400"/>
              </a:spcBef>
              <a:buChar char="•"/>
            </a:pPr>
            <a:r>
              <a:rPr>
                <a:latin typeface="Arial"/>
              </a:rPr>
              <a:t>Flexible scaling to match demand</a:t>
            </a:r>
          </a:p>
          <a:p>
            <a:pPr>
              <a:spcBef>
                <a:spcPts val="400"/>
              </a:spcBef>
              <a:buChar char="•"/>
            </a:pPr>
            <a:r>
              <a:rPr>
                <a:latin typeface="Arial"/>
              </a:rPr>
              <a:t>Seamless integration of local and global skills</a:t>
            </a:r>
          </a:p>
          <a:p>
            <a:pPr>
              <a:spcBef>
                <a:spcPts val="400"/>
              </a:spcBef>
              <a:buChar char="•"/>
            </a:pPr>
            <a:r>
              <a:rPr>
                <a:latin typeface="Arial"/>
              </a:rPr>
              <a:t>Proven in multi-supplier environments</a:t>
            </a:r>
          </a:p>
          <a:p>
            <a:pPr>
              <a:spcBef>
                <a:spcPts val="400"/>
              </a:spcBef>
              <a:buChar char="•"/>
            </a:pPr>
            <a:r>
              <a:rPr>
                <a:latin typeface="Arial"/>
              </a:rPr>
              <a:t>Focus on operational resilience and compliance</a:t>
            </a:r>
          </a:p>
          <a:p>
            <a:pPr>
              <a:spcBef>
                <a:spcPts val="400"/>
              </a:spcBef>
              <a:buChar char="•"/>
            </a:pPr>
            <a:r>
              <a:rPr>
                <a:latin typeface="Arial"/>
              </a:rPr>
              <a:t>Accelerated delivery through reusable assets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IBM &amp; Stable are the right fit for NRW</a:t>
            </a:r>
          </a:p>
        </p:txBody>
      </p:sp>
      <p:sp>
        <p:nvSpPr>
          <p:cNvPr id="3" name="Text Placeholder 2"/>
          <p:cNvSpPr>
            <a:spLocks noGrp="1"/>
          </p:cNvSpPr>
          <p:nvPr>
            <p:ph type="body" idx="13" sz="quarter"/>
          </p:nvPr>
        </p:nvSpPr>
        <p:spPr/>
        <p:txBody>
          <a:bodyPr/>
          <a:lstStyle/>
          <a:p>
            <a:pPr>
              <a:spcBef>
                <a:spcPts val="400"/>
              </a:spcBef>
              <a:buChar char="•"/>
            </a:pPr>
            <a:r>
              <a:rPr>
                <a:latin typeface="Arial"/>
              </a:rPr>
              <a:t>Experience in large-scale, regulated transformation</a:t>
            </a:r>
          </a:p>
          <a:p>
            <a:pPr>
              <a:spcBef>
                <a:spcPts val="400"/>
              </a:spcBef>
              <a:buChar char="•"/>
            </a:pPr>
            <a:r>
              <a:rPr>
                <a:latin typeface="Arial"/>
              </a:rPr>
              <a:t>Microsoft ecosystem and Azure specialism</a:t>
            </a:r>
          </a:p>
          <a:p>
            <a:pPr>
              <a:spcBef>
                <a:spcPts val="400"/>
              </a:spcBef>
              <a:buChar char="•"/>
            </a:pPr>
            <a:r>
              <a:rPr>
                <a:latin typeface="Arial"/>
              </a:rPr>
              <a:t>Deep public sector delivery track record</a:t>
            </a:r>
          </a:p>
          <a:p>
            <a:pPr>
              <a:spcBef>
                <a:spcPts val="400"/>
              </a:spcBef>
              <a:buChar char="•"/>
            </a:pPr>
            <a:r>
              <a:rPr>
                <a:latin typeface="Arial"/>
              </a:rPr>
              <a:t>Agile, product-led delivery aligned to GDS</a:t>
            </a:r>
          </a:p>
          <a:p>
            <a:pPr>
              <a:spcBef>
                <a:spcPts val="400"/>
              </a:spcBef>
              <a:buChar char="•"/>
            </a:pPr>
            <a:r>
              <a:rPr>
                <a:latin typeface="Arial"/>
              </a:rPr>
              <a:t>Structured methods for governance and assurance</a:t>
            </a:r>
          </a:p>
          <a:p>
            <a:pPr>
              <a:spcBef>
                <a:spcPts val="400"/>
              </a:spcBef>
              <a:buChar char="•"/>
            </a:pPr>
            <a:r>
              <a:rPr>
                <a:latin typeface="Arial"/>
              </a:rPr>
              <a:t>Proven knowledge transfer and capability uplift</a:t>
            </a:r>
          </a:p>
          <a:p>
            <a:pPr>
              <a:spcBef>
                <a:spcPts val="400"/>
              </a:spcBef>
              <a:buChar char="•"/>
            </a:pPr>
            <a:r>
              <a:rPr>
                <a:latin typeface="Arial"/>
              </a:rPr>
              <a:t>Strong partnership with Welsh-based Stable</a:t>
            </a:r>
          </a:p>
        </p:txBody>
      </p:sp>
      <p:sp>
        <p:nvSpPr>
          <p:cNvPr id="4" name="Text Placeholder 3"/>
          <p:cNvSpPr>
            <a:spLocks noGrp="1"/>
          </p:cNvSpPr>
          <p:nvPr>
            <p:ph type="body" idx="12" sz="quarter"/>
          </p:nvPr>
        </p:nvSpPr>
        <p:spPr/>
        <p:txBody>
          <a:bodyPr/>
          <a:lstStyle/>
          <a:p>
            <a:pPr>
              <a:spcBef>
                <a:spcPts val="400"/>
              </a:spcBef>
              <a:buChar char="•"/>
            </a:pPr>
            <a:r>
              <a:rPr>
                <a:latin typeface="Arial"/>
              </a:rPr>
              <a:t>Local presence and bilingual delivery</a:t>
            </a:r>
          </a:p>
          <a:p>
            <a:pPr>
              <a:spcBef>
                <a:spcPts val="400"/>
              </a:spcBef>
              <a:buChar char="•"/>
            </a:pPr>
            <a:r>
              <a:rPr>
                <a:latin typeface="Arial"/>
              </a:rPr>
              <a:t>Understanding of NRW's operational context</a:t>
            </a:r>
          </a:p>
          <a:p>
            <a:pPr>
              <a:spcBef>
                <a:spcPts val="400"/>
              </a:spcBef>
              <a:buChar char="•"/>
            </a:pPr>
            <a:r>
              <a:rPr>
                <a:latin typeface="Arial"/>
              </a:rPr>
              <a:t>Integrated approach, not just resource supply</a:t>
            </a:r>
          </a:p>
          <a:p>
            <a:pPr>
              <a:spcBef>
                <a:spcPts val="400"/>
              </a:spcBef>
              <a:buChar char="•"/>
            </a:pPr>
            <a:r>
              <a:rPr>
                <a:latin typeface="Arial"/>
              </a:rPr>
              <a:t>Sustainable, client-owned outcomes</a:t>
            </a:r>
          </a:p>
          <a:p>
            <a:pPr>
              <a:spcBef>
                <a:spcPts val="400"/>
              </a:spcBef>
              <a:buChar char="•"/>
            </a:pPr>
            <a:r>
              <a:rPr>
                <a:latin typeface="Arial"/>
              </a:rPr>
              <a:t>Track record in complex, multi-stakeholder settings</a:t>
            </a:r>
          </a:p>
          <a:p>
            <a:pPr>
              <a:spcBef>
                <a:spcPts val="400"/>
              </a:spcBef>
              <a:buChar char="•"/>
            </a:pPr>
            <a:r>
              <a:rPr>
                <a:latin typeface="Arial"/>
              </a:rPr>
              <a:t>Ability to scale and flex team composition</a:t>
            </a:r>
          </a:p>
          <a:p>
            <a:pPr>
              <a:spcBef>
                <a:spcPts val="400"/>
              </a:spcBef>
              <a:buChar char="•"/>
            </a:pPr>
            <a:r>
              <a:rPr>
                <a:latin typeface="Arial"/>
              </a:rPr>
              <a:t>Commitment to social value and sustainability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Proven delivery in complex public sector environments</a:t>
            </a:r>
          </a:p>
        </p:txBody>
      </p:sp>
      <p:sp>
        <p:nvSpPr>
          <p:cNvPr id="3" name="Text Placeholder 2"/>
          <p:cNvSpPr>
            <a:spLocks noGrp="1"/>
          </p:cNvSpPr>
          <p:nvPr>
            <p:ph type="body" idx="12" sz="quarter"/>
          </p:nvPr>
        </p:nvSpPr>
        <p:spPr/>
        <p:txBody>
          <a:bodyPr/>
          <a:lstStyle/>
          <a:p>
            <a:pPr>
              <a:spcBef>
                <a:spcPts val="400"/>
              </a:spcBef>
              <a:buChar char="•"/>
            </a:pPr>
            <a:r>
              <a:rPr>
                <a:latin typeface="Arial"/>
              </a:rPr>
              <a:t>IBM and Stable have delivered transformation for UK and Welsh public sector organisations.</a:t>
            </a:r>
          </a:p>
          <a:p>
            <a:pPr>
              <a:spcBef>
                <a:spcPts val="400"/>
              </a:spcBef>
              <a:buChar char="•"/>
            </a:pPr>
            <a:r>
              <a:rPr>
                <a:latin typeface="Arial"/>
              </a:rPr>
              <a:t>Environment Agency: unified data platform in 9 months</a:t>
            </a:r>
          </a:p>
          <a:p>
            <a:pPr>
              <a:spcBef>
                <a:spcPts val="400"/>
              </a:spcBef>
              <a:buChar char="•"/>
            </a:pPr>
            <a:r>
              <a:rPr>
                <a:latin typeface="Arial"/>
              </a:rPr>
              <a:t>DVLA: 30% faster data processing, improved compliance</a:t>
            </a:r>
          </a:p>
          <a:p>
            <a:pPr>
              <a:spcBef>
                <a:spcPts val="400"/>
              </a:spcBef>
              <a:buChar char="•"/>
            </a:pPr>
            <a:r>
              <a:rPr>
                <a:latin typeface="Arial"/>
              </a:rPr>
              <a:t>Welsh charities: digital services for Tŷ Hafan, Llamau</a:t>
            </a:r>
          </a:p>
          <a:p>
            <a:pPr>
              <a:spcBef>
                <a:spcPts val="400"/>
              </a:spcBef>
              <a:buChar char="•"/>
            </a:pPr>
            <a:r>
              <a:rPr>
                <a:latin typeface="Arial"/>
              </a:rPr>
              <a:t>NHS Digital: 18-month integration programme</a:t>
            </a:r>
          </a:p>
          <a:p>
            <a:pPr>
              <a:spcBef>
                <a:spcPts val="400"/>
              </a:spcBef>
              <a:buChar char="•"/>
            </a:pPr>
            <a:r>
              <a:rPr>
                <a:latin typeface="Arial"/>
              </a:rPr>
              <a:t>HMRC: 40% reduction in reporting effort</a:t>
            </a:r>
          </a:p>
          <a:p>
            <a:pPr>
              <a:spcBef>
                <a:spcPts val="400"/>
              </a:spcBef>
              <a:buChar char="•"/>
            </a:pPr>
            <a:r>
              <a:rPr>
                <a:latin typeface="Arial"/>
              </a:rPr>
              <a:t>Stable: local delivery for Welsh public sector</a:t>
            </a:r>
          </a:p>
          <a:p>
            <a:pPr>
              <a:spcBef>
                <a:spcPts val="400"/>
              </a:spcBef>
              <a:buChar char="•"/>
            </a:pPr>
            <a:r>
              <a:rPr>
                <a:latin typeface="Arial"/>
              </a:rPr>
              <a:t>Joint teams: successful knowledge transfer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principal areas of specialism</a:t>
            </a:r>
          </a:p>
        </p:txBody>
      </p:sp>
      <p:sp>
        <p:nvSpPr>
          <p:cNvPr id="3" name="Content Placeholder 2"/>
          <p:cNvSpPr>
            <a:spLocks noGrp="1"/>
          </p:cNvSpPr>
          <p:nvPr>
            <p:ph idx="17" sz="quarter"/>
          </p:nvPr>
        </p:nvSpPr>
        <p:spPr/>
        <p:txBody>
          <a:bodyPr/>
          <a:lstStyle/>
          <a:p>
            <a:pPr>
              <a:spcBef>
                <a:spcPts val="400"/>
              </a:spcBef>
            </a:pPr>
            <a:r>
              <a:rPr>
                <a:latin typeface="Arial"/>
              </a:rPr>
              <a:t>Digital Service Design</a:t>
            </a:r>
            <a:br/>
            <a:r>
              <a:rPr>
                <a:latin typeface="Arial"/>
              </a:rPr>
              <a:t>['User-centred, inclusive and outcome-driven', 'GDS-aligned, accessible, bilingual', 'Research, journey mapping, prototyping']</a:t>
            </a:r>
          </a:p>
        </p:txBody>
      </p:sp>
      <p:sp>
        <p:nvSpPr>
          <p:cNvPr id="4" name="Content Placeholder 3"/>
          <p:cNvSpPr>
            <a:spLocks noGrp="1"/>
          </p:cNvSpPr>
          <p:nvPr>
            <p:ph idx="18" sz="quarter"/>
          </p:nvPr>
        </p:nvSpPr>
        <p:spPr/>
        <p:txBody>
          <a:bodyPr/>
          <a:lstStyle/>
          <a:p>
            <a:pPr>
              <a:spcBef>
                <a:spcPts val="400"/>
              </a:spcBef>
            </a:pPr>
            <a:r>
              <a:rPr>
                <a:latin typeface="Arial"/>
              </a:rPr>
              <a:t>Data, Analytics &amp; AI</a:t>
            </a:r>
            <a:br/>
            <a:r>
              <a:rPr>
                <a:latin typeface="Arial"/>
              </a:rPr>
              <a:t>['Azure and Microsoft Fabric platforms', 'Governed, trusted data for analytics', 'Progression to predictive, AI-enabled decisions']</a:t>
            </a:r>
          </a:p>
        </p:txBody>
      </p:sp>
      <p:sp>
        <p:nvSpPr>
          <p:cNvPr id="5" name="Content Placeholder 4"/>
          <p:cNvSpPr>
            <a:spLocks noGrp="1"/>
          </p:cNvSpPr>
          <p:nvPr>
            <p:ph idx="20" sz="quarter"/>
          </p:nvPr>
        </p:nvSpPr>
        <p:spPr/>
        <p:txBody>
          <a:bodyPr/>
          <a:lstStyle/>
          <a:p>
            <a:pPr>
              <a:spcBef>
                <a:spcPts val="400"/>
              </a:spcBef>
            </a:pPr>
            <a:r>
              <a:rPr>
                <a:latin typeface="Arial"/>
              </a:rPr>
              <a:t>Platforms &amp; Integration</a:t>
            </a:r>
            <a:br/>
            <a:r>
              <a:rPr>
                <a:latin typeface="Arial"/>
              </a:rPr>
              <a:t>['API-led, modular architectures', 'Microservices for maintainability', 'Incremental modernisation across estates']</a:t>
            </a:r>
          </a:p>
        </p:txBody>
      </p:sp>
      <p:sp>
        <p:nvSpPr>
          <p:cNvPr id="6" name="Content Placeholder 5"/>
          <p:cNvSpPr>
            <a:spLocks noGrp="1"/>
          </p:cNvSpPr>
          <p:nvPr>
            <p:ph idx="19" sz="quarter"/>
          </p:nvPr>
        </p:nvSpPr>
        <p:spPr/>
        <p:txBody>
          <a:bodyPr/>
          <a:lstStyle/>
          <a:p>
            <a:pPr>
              <a:spcBef>
                <a:spcPts val="400"/>
              </a:spcBef>
            </a:pPr>
            <a:r>
              <a:rPr>
                <a:latin typeface="Arial"/>
              </a:rPr>
              <a:t>Cloud &amp; DevOps</a:t>
            </a:r>
            <a:br/>
            <a:r>
              <a:rPr>
                <a:latin typeface="Arial"/>
              </a:rPr>
              <a:t>['Hybrid cloud, DevSecOps, containerisation', 'Observability and resilience', 'FinOps for cost and compliance']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our teams work with NRW</a:t>
            </a:r>
          </a:p>
        </p:txBody>
      </p:sp>
      <p:sp>
        <p:nvSpPr>
          <p:cNvPr id="3" name="Text Placeholder 2"/>
          <p:cNvSpPr>
            <a:spLocks noGrp="1"/>
          </p:cNvSpPr>
          <p:nvPr>
            <p:ph type="body" idx="12" sz="quarter"/>
          </p:nvPr>
        </p:nvSpPr>
        <p:spPr/>
        <p:txBody>
          <a:bodyPr/>
          <a:lstStyle/>
          <a:p>
            <a:pPr>
              <a:spcBef>
                <a:spcPts val="400"/>
              </a:spcBef>
            </a:pPr>
            <a:r>
              <a:rPr>
                <a:latin typeface="Arial"/>
              </a:rPr>
              <a:t>Blended teams: IBM, Stable and NRW staff</a:t>
            </a:r>
          </a:p>
        </p:txBody>
      </p:sp>
      <p:sp>
        <p:nvSpPr>
          <p:cNvPr id="4" name="Text Placeholder 3"/>
          <p:cNvSpPr>
            <a:spLocks noGrp="1"/>
          </p:cNvSpPr>
          <p:nvPr>
            <p:ph type="body" idx="13" sz="quarter"/>
          </p:nvPr>
        </p:nvSpPr>
        <p:spPr/>
        <p:txBody>
          <a:bodyPr/>
          <a:lstStyle/>
          <a:p>
            <a:pPr>
              <a:spcBef>
                <a:spcPts val="400"/>
              </a:spcBef>
            </a:pPr>
            <a:r>
              <a:rPr>
                <a:latin typeface="Arial"/>
              </a:rPr>
              <a:t>Agile delivery: two-week sprints, show-and-tells</a:t>
            </a:r>
          </a:p>
        </p:txBody>
      </p:sp>
      <p:sp>
        <p:nvSpPr>
          <p:cNvPr id="5" name="Text Placeholder 4"/>
          <p:cNvSpPr>
            <a:spLocks noGrp="1"/>
          </p:cNvSpPr>
          <p:nvPr>
            <p:ph type="body" idx="14" sz="quarter"/>
          </p:nvPr>
        </p:nvSpPr>
        <p:spPr/>
        <p:txBody>
          <a:bodyPr/>
          <a:lstStyle/>
          <a:p>
            <a:pPr>
              <a:spcBef>
                <a:spcPts val="400"/>
              </a:spcBef>
            </a:pPr>
            <a:r>
              <a:rPr>
                <a:latin typeface="Arial"/>
              </a:rPr>
              <a:t>Continuous knowledge transfer and coaching</a:t>
            </a:r>
          </a:p>
        </p:txBody>
      </p:sp>
      <p:sp>
        <p:nvSpPr>
          <p:cNvPr id="6" name="Text Placeholder 5"/>
          <p:cNvSpPr>
            <a:spLocks noGrp="1"/>
          </p:cNvSpPr>
          <p:nvPr>
            <p:ph type="body" idx="15" sz="quarter"/>
          </p:nvPr>
        </p:nvSpPr>
        <p:spPr/>
        <p:txBody>
          <a:bodyPr/>
          <a:lstStyle/>
          <a:p>
            <a:pPr>
              <a:spcBef>
                <a:spcPts val="400"/>
              </a:spcBef>
            </a:pPr>
            <a:r>
              <a:rPr>
                <a:latin typeface="Arial"/>
              </a:rPr>
              <a:t>Local presence: on-site and remote collaboration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 — Welsh public sector impact</a:t>
            </a:r>
          </a:p>
        </p:txBody>
      </p:sp>
      <p:sp>
        <p:nvSpPr>
          <p:cNvPr id="3" name="Text Placeholder 2"/>
          <p:cNvSpPr>
            <a:spLocks noGrp="1"/>
          </p:cNvSpPr>
          <p:nvPr>
            <p:ph type="body" idx="13" sz="quarter"/>
          </p:nvPr>
        </p:nvSpPr>
        <p:spPr/>
        <p:txBody>
          <a:bodyPr/>
          <a:lstStyle/>
          <a:p>
            <a:pPr>
              <a:spcBef>
                <a:spcPts val="400"/>
              </a:spcBef>
              <a:buChar char="•"/>
            </a:pPr>
            <a:r>
              <a:rPr>
                <a:latin typeface="Arial"/>
              </a:rPr>
              <a:t>Local delivery for charities and public sector</a:t>
            </a:r>
          </a:p>
          <a:p>
            <a:pPr>
              <a:spcBef>
                <a:spcPts val="400"/>
              </a:spcBef>
              <a:buChar char="•"/>
            </a:pPr>
            <a:r>
              <a:rPr>
                <a:latin typeface="Arial"/>
              </a:rPr>
              <a:t>Bilingual digital services for Tŷ Hafan, Llamau</a:t>
            </a:r>
          </a:p>
          <a:p>
            <a:pPr>
              <a:spcBef>
                <a:spcPts val="400"/>
              </a:spcBef>
              <a:buChar char="•"/>
            </a:pPr>
            <a:r>
              <a:rPr>
                <a:latin typeface="Arial"/>
              </a:rPr>
              <a:t>Internship pathways with Welsh universities</a:t>
            </a:r>
          </a:p>
          <a:p>
            <a:pPr>
              <a:spcBef>
                <a:spcPts val="400"/>
              </a:spcBef>
              <a:buChar char="•"/>
            </a:pPr>
            <a:r>
              <a:rPr>
                <a:latin typeface="Arial"/>
              </a:rPr>
              <a:t>Community engagement and youth skills</a:t>
            </a:r>
          </a:p>
          <a:p>
            <a:pPr>
              <a:spcBef>
                <a:spcPts val="400"/>
              </a:spcBef>
              <a:buChar char="•"/>
            </a:pPr>
            <a:r>
              <a:rPr>
                <a:latin typeface="Arial"/>
              </a:rPr>
              <a:t>Support for Welsh SMEs and social enterprises</a:t>
            </a:r>
          </a:p>
        </p:txBody>
      </p:sp>
      <p:sp>
        <p:nvSpPr>
          <p:cNvPr id="4" name="Text Placeholder 3"/>
          <p:cNvSpPr>
            <a:spLocks noGrp="1"/>
          </p:cNvSpPr>
          <p:nvPr>
            <p:ph type="body" idx="15" sz="quarter"/>
          </p:nvPr>
        </p:nvSpPr>
        <p:spPr/>
        <p:txBody>
          <a:bodyPr/>
          <a:lstStyle/>
          <a:p>
            <a:pPr>
              <a:spcBef>
                <a:spcPts val="400"/>
              </a:spcBef>
              <a:buChar char="•"/>
            </a:pPr>
            <a:r>
              <a:rPr>
                <a:latin typeface="Arial"/>
              </a:rPr>
              <a:t>Cardiff-based team, Welsh-speaking leadership</a:t>
            </a:r>
          </a:p>
          <a:p>
            <a:pPr>
              <a:spcBef>
                <a:spcPts val="400"/>
              </a:spcBef>
              <a:buChar char="•"/>
            </a:pPr>
            <a:r>
              <a:rPr>
                <a:latin typeface="Arial"/>
              </a:rPr>
              <a:t>Deep ties to local communities</a:t>
            </a:r>
          </a:p>
          <a:p>
            <a:pPr>
              <a:spcBef>
                <a:spcPts val="400"/>
              </a:spcBef>
              <a:buChar char="•"/>
            </a:pPr>
            <a:r>
              <a:rPr>
                <a:latin typeface="Arial"/>
              </a:rPr>
              <a:t>Active in DigiGirlz and school partnerships</a:t>
            </a:r>
          </a:p>
          <a:p>
            <a:pPr>
              <a:spcBef>
                <a:spcPts val="400"/>
              </a:spcBef>
              <a:buChar char="•"/>
            </a:pPr>
            <a:r>
              <a:rPr>
                <a:latin typeface="Arial"/>
              </a:rPr>
              <a:t>Proven digital skills development</a:t>
            </a:r>
          </a:p>
          <a:p>
            <a:pPr>
              <a:spcBef>
                <a:spcPts val="400"/>
              </a:spcBef>
              <a:buChar char="•"/>
            </a:pPr>
            <a:r>
              <a:rPr>
                <a:latin typeface="Arial"/>
              </a:rPr>
              <a:t>Track record in sustainable delivery</a:t>
            </a:r>
          </a:p>
        </p:txBody>
      </p:sp>
      <p:sp>
        <p:nvSpPr>
          <p:cNvPr id="5" name="Picture Placeholder 4"/>
          <p:cNvSpPr>
            <a:spLocks noGrp="1"/>
          </p:cNvSpPr>
          <p:nvPr>
            <p:ph type="pic" idx="14" sz="quarter"/>
          </p:nvPr>
        </p:nvSpPr>
        <p:spPr/>
        <p:txBody>
          <a:body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delivery performance — headline metrics</a:t>
            </a:r>
          </a:p>
        </p:txBody>
      </p:sp>
      <p:sp>
        <p:nvSpPr>
          <p:cNvPr id="3" name="Text Placeholder 2"/>
          <p:cNvSpPr>
            <a:spLocks noGrp="1"/>
          </p:cNvSpPr>
          <p:nvPr>
            <p:ph type="body" idx="12" sz="quarter"/>
          </p:nvPr>
        </p:nvSpPr>
        <p:spPr/>
        <p:txBody>
          <a:bodyPr/>
          <a:lstStyle/>
          <a:p>
            <a:pPr>
              <a:spcBef>
                <a:spcPts val="400"/>
              </a:spcBef>
              <a:buChar char="•"/>
            </a:pPr>
            <a:r>
              <a:rPr>
                <a:latin typeface="Arial"/>
              </a:rPr>
              <a:t>93% of sprint goals delivered on time</a:t>
            </a:r>
          </a:p>
          <a:p>
            <a:pPr>
              <a:spcBef>
                <a:spcPts val="400"/>
              </a:spcBef>
              <a:buChar char="•"/>
            </a:pPr>
            <a:r>
              <a:rPr>
                <a:latin typeface="Arial"/>
              </a:rPr>
              <a:t>Zero critical defects at Beta launch</a:t>
            </a:r>
          </a:p>
          <a:p>
            <a:pPr>
              <a:spcBef>
                <a:spcPts val="400"/>
              </a:spcBef>
              <a:buChar char="•"/>
            </a:pPr>
            <a:r>
              <a:rPr>
                <a:latin typeface="Arial"/>
              </a:rPr>
              <a:t>30% faster data processing for DVLA</a:t>
            </a:r>
          </a:p>
          <a:p>
            <a:pPr>
              <a:spcBef>
                <a:spcPts val="400"/>
              </a:spcBef>
              <a:buChar char="•"/>
            </a:pPr>
            <a:r>
              <a:rPr>
                <a:latin typeface="Arial"/>
              </a:rPr>
              <a:t>18-month delivery for NHS Digital integration</a:t>
            </a:r>
          </a:p>
          <a:p>
            <a:pPr>
              <a:spcBef>
                <a:spcPts val="400"/>
              </a:spcBef>
              <a:buChar char="•"/>
            </a:pPr>
            <a:r>
              <a:rPr>
                <a:latin typeface="Arial"/>
              </a:rPr>
              <a:t>40% reporting effort reduction at HMRC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 Scenarios 1 &amp;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structured, evidence-led approach for both scenarios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1: Discovery and shaping approach</a:t>
            </a:r>
          </a:p>
        </p:txBody>
      </p:sp>
      <p:sp>
        <p:nvSpPr>
          <p:cNvPr id="3" name="Text Placeholder 2"/>
          <p:cNvSpPr>
            <a:spLocks noGrp="1"/>
          </p:cNvSpPr>
          <p:nvPr>
            <p:ph type="body" idx="12" sz="quarter"/>
          </p:nvPr>
        </p:nvSpPr>
        <p:spPr/>
        <p:txBody>
          <a:bodyPr/>
          <a:lstStyle/>
          <a:p>
            <a:pPr>
              <a:spcBef>
                <a:spcPts val="400"/>
              </a:spcBef>
            </a:pPr>
            <a:r>
              <a:rPr>
                <a:latin typeface="Arial"/>
              </a:rPr>
              <a:t>User &amp; stakeholder discovery — identify pain points</a:t>
            </a:r>
          </a:p>
        </p:txBody>
      </p:sp>
      <p:sp>
        <p:nvSpPr>
          <p:cNvPr id="4" name="Text Placeholder 3"/>
          <p:cNvSpPr>
            <a:spLocks noGrp="1"/>
          </p:cNvSpPr>
          <p:nvPr>
            <p:ph type="body" idx="13" sz="quarter"/>
          </p:nvPr>
        </p:nvSpPr>
        <p:spPr/>
        <p:txBody>
          <a:bodyPr/>
          <a:lstStyle/>
          <a:p>
            <a:pPr>
              <a:spcBef>
                <a:spcPts val="400"/>
              </a:spcBef>
            </a:pPr>
            <a:r>
              <a:rPr>
                <a:latin typeface="Arial"/>
              </a:rPr>
              <a:t>Technical &amp; architectural assessment — baseline and constraints</a:t>
            </a:r>
          </a:p>
        </p:txBody>
      </p:sp>
      <p:sp>
        <p:nvSpPr>
          <p:cNvPr id="5" name="Text Placeholder 4"/>
          <p:cNvSpPr>
            <a:spLocks noGrp="1"/>
          </p:cNvSpPr>
          <p:nvPr>
            <p:ph type="body" idx="14" sz="quarter"/>
          </p:nvPr>
        </p:nvSpPr>
        <p:spPr/>
        <p:txBody>
          <a:bodyPr/>
          <a:lstStyle/>
          <a:p>
            <a:pPr>
              <a:spcBef>
                <a:spcPts val="400"/>
              </a:spcBef>
            </a:pPr>
            <a:r>
              <a:rPr>
                <a:latin typeface="Arial"/>
              </a:rPr>
              <a:t>Commercial &amp; delivery assessment — phase and sequence</a:t>
            </a:r>
          </a:p>
        </p:txBody>
      </p:sp>
      <p:sp>
        <p:nvSpPr>
          <p:cNvPr id="6" name="Text Placeholder 5"/>
          <p:cNvSpPr>
            <a:spLocks noGrp="1"/>
          </p:cNvSpPr>
          <p:nvPr>
            <p:ph type="body" idx="15" sz="quarter"/>
          </p:nvPr>
        </p:nvSpPr>
        <p:spPr/>
        <p:txBody>
          <a:bodyPr/>
          <a:lstStyle/>
          <a:p>
            <a:pPr>
              <a:spcBef>
                <a:spcPts val="400"/>
              </a:spcBef>
            </a:pPr>
            <a:r>
              <a:rPr>
                <a:latin typeface="Arial"/>
              </a:rPr>
              <a:t>Evidence-based roadmap — inform investment decisions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phase: how we deliver</a:t>
            </a:r>
          </a:p>
        </p:txBody>
      </p:sp>
      <p:sp>
        <p:nvSpPr>
          <p:cNvPr id="3" name="Text Placeholder 2"/>
          <p:cNvSpPr>
            <a:spLocks noGrp="1"/>
          </p:cNvSpPr>
          <p:nvPr>
            <p:ph type="body" idx="13" sz="quarter"/>
          </p:nvPr>
        </p:nvSpPr>
        <p:spPr/>
        <p:txBody>
          <a:bodyPr/>
          <a:lstStyle/>
          <a:p>
            <a:pPr>
              <a:spcBef>
                <a:spcPts val="400"/>
              </a:spcBef>
              <a:buChar char="•"/>
            </a:pPr>
            <a:r>
              <a:rPr>
                <a:latin typeface="Arial"/>
              </a:rPr>
              <a:t>Blended IBM and Stable team with NRW engagement</a:t>
            </a:r>
          </a:p>
          <a:p>
            <a:pPr>
              <a:spcBef>
                <a:spcPts val="400"/>
              </a:spcBef>
              <a:buChar char="•"/>
            </a:pPr>
            <a:r>
              <a:rPr>
                <a:latin typeface="Arial"/>
              </a:rPr>
              <a:t>Co-design workshops and user research</a:t>
            </a:r>
          </a:p>
          <a:p>
            <a:pPr>
              <a:spcBef>
                <a:spcPts val="400"/>
              </a:spcBef>
              <a:buChar char="•"/>
            </a:pPr>
            <a:r>
              <a:rPr>
                <a:latin typeface="Arial"/>
              </a:rPr>
              <a:t>Iterative analysis and rapid prototyping</a:t>
            </a:r>
          </a:p>
          <a:p>
            <a:pPr>
              <a:spcBef>
                <a:spcPts val="400"/>
              </a:spcBef>
              <a:buChar char="•"/>
            </a:pPr>
            <a:r>
              <a:rPr>
                <a:latin typeface="Arial"/>
              </a:rPr>
              <a:t>Continuous validation of assumptions</a:t>
            </a:r>
          </a:p>
          <a:p>
            <a:pPr>
              <a:spcBef>
                <a:spcPts val="400"/>
              </a:spcBef>
              <a:buChar char="•"/>
            </a:pPr>
            <a:r>
              <a:rPr>
                <a:latin typeface="Arial"/>
              </a:rPr>
              <a:t>Agile sprints and show-and-tells</a:t>
            </a:r>
          </a:p>
          <a:p>
            <a:pPr>
              <a:spcBef>
                <a:spcPts val="400"/>
              </a:spcBef>
              <a:buChar char="•"/>
            </a:pPr>
            <a:r>
              <a:rPr>
                <a:latin typeface="Arial"/>
              </a:rPr>
              <a:t>Early mobilisation of delivery readiness</a:t>
            </a:r>
          </a:p>
          <a:p>
            <a:pPr>
              <a:spcBef>
                <a:spcPts val="400"/>
              </a:spcBef>
              <a:buChar char="•"/>
            </a:pPr>
            <a:r>
              <a:rPr>
                <a:latin typeface="Arial"/>
              </a:rPr>
              <a:t>Structured knowledge management</a:t>
            </a:r>
          </a:p>
        </p:txBody>
      </p:sp>
      <p:sp>
        <p:nvSpPr>
          <p:cNvPr id="4" name="Text Placeholder 3"/>
          <p:cNvSpPr>
            <a:spLocks noGrp="1"/>
          </p:cNvSpPr>
          <p:nvPr>
            <p:ph type="body" idx="12" sz="quarter"/>
          </p:nvPr>
        </p:nvSpPr>
        <p:spPr/>
        <p:txBody>
          <a:bodyPr/>
          <a:lstStyle/>
          <a:p>
            <a:pPr>
              <a:spcBef>
                <a:spcPts val="400"/>
              </a:spcBef>
              <a:buChar char="•"/>
            </a:pPr>
            <a:r>
              <a:rPr>
                <a:latin typeface="Arial"/>
              </a:rPr>
              <a:t>Prioritised 18–24 month roadmap</a:t>
            </a:r>
          </a:p>
          <a:p>
            <a:pPr>
              <a:spcBef>
                <a:spcPts val="400"/>
              </a:spcBef>
              <a:buChar char="•"/>
            </a:pPr>
            <a:r>
              <a:rPr>
                <a:latin typeface="Arial"/>
              </a:rPr>
              <a:t>Baseline architecture and technical constraints</a:t>
            </a:r>
          </a:p>
          <a:p>
            <a:pPr>
              <a:spcBef>
                <a:spcPts val="400"/>
              </a:spcBef>
              <a:buChar char="•"/>
            </a:pPr>
            <a:r>
              <a:rPr>
                <a:latin typeface="Arial"/>
              </a:rPr>
              <a:t>Sequenced delivery plan for business case</a:t>
            </a:r>
          </a:p>
          <a:p>
            <a:pPr>
              <a:spcBef>
                <a:spcPts val="400"/>
              </a:spcBef>
              <a:buChar char="•"/>
            </a:pPr>
            <a:r>
              <a:rPr>
                <a:latin typeface="Arial"/>
              </a:rPr>
              <a:t>Traceability from user need to investment</a:t>
            </a:r>
          </a:p>
          <a:p>
            <a:pPr>
              <a:spcBef>
                <a:spcPts val="400"/>
              </a:spcBef>
              <a:buChar char="•"/>
            </a:pPr>
            <a:r>
              <a:rPr>
                <a:latin typeface="Arial"/>
              </a:rPr>
              <a:t>Clear governance and team mobilisation</a:t>
            </a:r>
          </a:p>
          <a:p>
            <a:pPr>
              <a:spcBef>
                <a:spcPts val="400"/>
              </a:spcBef>
              <a:buChar char="•"/>
            </a:pPr>
            <a:r>
              <a:rPr>
                <a:latin typeface="Arial"/>
              </a:rPr>
              <a:t>Outcome-based prioritisation frameworks</a:t>
            </a:r>
          </a:p>
          <a:p>
            <a:pPr>
              <a:spcBef>
                <a:spcPts val="400"/>
              </a:spcBef>
              <a:buChar char="•"/>
            </a:pPr>
            <a:r>
              <a:rPr>
                <a:latin typeface="Arial"/>
              </a:rPr>
              <a:t>Evidence for future platform evolution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state: fragmented customer data and journeys</a:t>
            </a:r>
          </a:p>
        </p:txBody>
      </p:sp>
      <p:sp>
        <p:nvSpPr>
          <p:cNvPr id="3" name="Text Placeholder 2"/>
          <p:cNvSpPr>
            <a:spLocks noGrp="1"/>
          </p:cNvSpPr>
          <p:nvPr>
            <p:ph type="body" idx="12" sz="quarter"/>
          </p:nvPr>
        </p:nvSpPr>
        <p:spPr/>
        <p:txBody>
          <a:bodyPr/>
          <a:lstStyle/>
          <a:p>
            <a:pPr>
              <a:spcBef>
                <a:spcPts val="400"/>
              </a:spcBef>
              <a:buChar char="•"/>
            </a:pPr>
            <a:r>
              <a:rPr>
                <a:latin typeface="Arial"/>
              </a:rPr>
              <a:t>Inconsistent customer records across systems</a:t>
            </a:r>
          </a:p>
          <a:p>
            <a:pPr>
              <a:spcBef>
                <a:spcPts val="400"/>
              </a:spcBef>
              <a:buChar char="•"/>
            </a:pPr>
            <a:r>
              <a:rPr>
                <a:latin typeface="Arial"/>
              </a:rPr>
              <a:t>Disconnected data flows between platforms</a:t>
            </a:r>
          </a:p>
          <a:p>
            <a:pPr>
              <a:spcBef>
                <a:spcPts val="400"/>
              </a:spcBef>
              <a:buChar char="•"/>
            </a:pPr>
            <a:r>
              <a:rPr>
                <a:latin typeface="Arial"/>
              </a:rPr>
              <a:t>Fragmented user journeys, no real-time view</a:t>
            </a:r>
          </a:p>
          <a:p>
            <a:pPr>
              <a:spcBef>
                <a:spcPts val="400"/>
              </a:spcBef>
              <a:buChar char="•"/>
            </a:pPr>
            <a:r>
              <a:rPr>
                <a:latin typeface="Arial"/>
              </a:rPr>
              <a:t>Limited integration with live data sources</a:t>
            </a:r>
          </a:p>
          <a:p>
            <a:pPr>
              <a:spcBef>
                <a:spcPts val="400"/>
              </a:spcBef>
              <a:buChar char="•"/>
            </a:pPr>
            <a:r>
              <a:rPr>
                <a:latin typeface="Arial"/>
              </a:rPr>
              <a:t>Manual reconciliation and duplication</a:t>
            </a:r>
          </a:p>
          <a:p>
            <a:pPr>
              <a:spcBef>
                <a:spcPts val="400"/>
              </a:spcBef>
              <a:buChar char="•"/>
            </a:pPr>
            <a:r>
              <a:rPr>
                <a:latin typeface="Arial"/>
              </a:rPr>
              <a:t>Siloed legacy and modern systems</a:t>
            </a:r>
          </a:p>
          <a:p>
            <a:pPr>
              <a:spcBef>
                <a:spcPts val="400"/>
              </a:spcBef>
              <a:buChar char="•"/>
            </a:pPr>
            <a:r>
              <a:rPr>
                <a:latin typeface="Arial"/>
              </a:rPr>
              <a:t>Barriers to analytics and insight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Target architecture: Microsoft-aligned, layered platform</a:t>
            </a:r>
          </a:p>
        </p:txBody>
      </p:sp>
      <p:sp>
        <p:nvSpPr>
          <p:cNvPr id="3" name="Text Placeholder 2"/>
          <p:cNvSpPr>
            <a:spLocks noGrp="1"/>
          </p:cNvSpPr>
          <p:nvPr>
            <p:ph type="body" idx="12" sz="quarter"/>
          </p:nvPr>
        </p:nvSpPr>
        <p:spPr/>
        <p:txBody>
          <a:bodyPr/>
          <a:lstStyle/>
          <a:p>
            <a:pPr>
              <a:spcBef>
                <a:spcPts val="400"/>
              </a:spcBef>
              <a:buChar char="•"/>
            </a:pPr>
            <a:r>
              <a:rPr>
                <a:latin typeface="Arial"/>
              </a:rPr>
              <a:t>Customer Engagement Layer: portals, web, content</a:t>
            </a:r>
          </a:p>
          <a:p>
            <a:pPr>
              <a:spcBef>
                <a:spcPts val="400"/>
              </a:spcBef>
              <a:buChar char="•"/>
            </a:pPr>
            <a:r>
              <a:rPr>
                <a:latin typeface="Arial"/>
              </a:rPr>
              <a:t>Service Management Layer: Dynamics 365 as system of record</a:t>
            </a:r>
          </a:p>
          <a:p>
            <a:pPr>
              <a:spcBef>
                <a:spcPts val="400"/>
              </a:spcBef>
              <a:buChar char="•"/>
            </a:pPr>
            <a:r>
              <a:rPr>
                <a:latin typeface="Arial"/>
              </a:rPr>
              <a:t>Integration Layer: Azure services, API-first, event-driven</a:t>
            </a:r>
          </a:p>
          <a:p>
            <a:pPr>
              <a:spcBef>
                <a:spcPts val="400"/>
              </a:spcBef>
              <a:buChar char="•"/>
            </a:pPr>
            <a:r>
              <a:rPr>
                <a:latin typeface="Arial"/>
              </a:rPr>
              <a:t>Data &amp; Insights Layer: governed, trusted data on Azure</a:t>
            </a:r>
          </a:p>
          <a:p>
            <a:pPr>
              <a:spcBef>
                <a:spcPts val="400"/>
              </a:spcBef>
              <a:buChar char="•"/>
            </a:pPr>
            <a:r>
              <a:rPr>
                <a:latin typeface="Arial"/>
              </a:rPr>
              <a:t>Separation of concerns for maintainability</a:t>
            </a:r>
          </a:p>
          <a:p>
            <a:pPr>
              <a:spcBef>
                <a:spcPts val="400"/>
              </a:spcBef>
              <a:buChar char="•"/>
            </a:pPr>
            <a:r>
              <a:rPr>
                <a:latin typeface="Arial"/>
              </a:rPr>
              <a:t>Modular, loosely coupled components</a:t>
            </a:r>
          </a:p>
          <a:p>
            <a:pPr>
              <a:spcBef>
                <a:spcPts val="400"/>
              </a:spcBef>
              <a:buChar char="•"/>
            </a:pPr>
            <a:r>
              <a:rPr>
                <a:latin typeface="Arial"/>
              </a:rPr>
              <a:t>Security, privacy, and resilience by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architectural principles</a:t>
            </a:r>
          </a:p>
        </p:txBody>
      </p:sp>
      <p:sp>
        <p:nvSpPr>
          <p:cNvPr id="3" name="Content Placeholder 2"/>
          <p:cNvSpPr>
            <a:spLocks noGrp="1"/>
          </p:cNvSpPr>
          <p:nvPr>
            <p:ph idx="17" sz="quarter"/>
          </p:nvPr>
        </p:nvSpPr>
        <p:spPr/>
        <p:txBody>
          <a:bodyPr/>
          <a:lstStyle/>
          <a:p>
            <a:pPr>
              <a:spcBef>
                <a:spcPts val="400"/>
              </a:spcBef>
            </a:pPr>
            <a:r>
              <a:rPr>
                <a:latin typeface="Arial"/>
              </a:rPr>
              <a:t>Cloud-First, SaaS-Preferred</a:t>
            </a:r>
            <a:br/>
            <a:r>
              <a:rPr>
                <a:latin typeface="Arial"/>
              </a:rPr>
              <a:t>['Maximise managed Microsoft services', 'Limit bespoke infrastructure', 'Default to scalable, secure cloud']</a:t>
            </a:r>
          </a:p>
        </p:txBody>
      </p:sp>
      <p:sp>
        <p:nvSpPr>
          <p:cNvPr id="4" name="Content Placeholder 3"/>
          <p:cNvSpPr>
            <a:spLocks noGrp="1"/>
          </p:cNvSpPr>
          <p:nvPr>
            <p:ph idx="18" sz="quarter"/>
          </p:nvPr>
        </p:nvSpPr>
        <p:spPr/>
        <p:txBody>
          <a:bodyPr/>
          <a:lstStyle/>
          <a:p>
            <a:pPr>
              <a:spcBef>
                <a:spcPts val="400"/>
              </a:spcBef>
            </a:pPr>
            <a:r>
              <a:rPr>
                <a:latin typeface="Arial"/>
              </a:rPr>
              <a:t>Modularity &amp; Loose Coupling</a:t>
            </a:r>
            <a:br/>
            <a:r>
              <a:rPr>
                <a:latin typeface="Arial"/>
              </a:rPr>
              <a:t>['Separate experience, logic, integration', 'API-first, event-driven design', 'Avoid point-to-point integration']</a:t>
            </a:r>
          </a:p>
        </p:txBody>
      </p:sp>
      <p:sp>
        <p:nvSpPr>
          <p:cNvPr id="5" name="Content Placeholder 4"/>
          <p:cNvSpPr>
            <a:spLocks noGrp="1"/>
          </p:cNvSpPr>
          <p:nvPr>
            <p:ph idx="20" sz="quarter"/>
          </p:nvPr>
        </p:nvSpPr>
        <p:spPr/>
        <p:txBody>
          <a:bodyPr/>
          <a:lstStyle/>
          <a:p>
            <a:pPr>
              <a:spcBef>
                <a:spcPts val="400"/>
              </a:spcBef>
            </a:pPr>
            <a:r>
              <a:rPr>
                <a:latin typeface="Arial"/>
              </a:rPr>
              <a:t>Data as a Governed Asset</a:t>
            </a:r>
            <a:br/>
            <a:r>
              <a:rPr>
                <a:latin typeface="Arial"/>
              </a:rPr>
              <a:t>['Clear ownership and lineage', 'Trusted, reusable data products', 'Interoperability with data platform']</a:t>
            </a:r>
          </a:p>
        </p:txBody>
      </p:sp>
      <p:sp>
        <p:nvSpPr>
          <p:cNvPr id="6" name="Content Placeholder 5"/>
          <p:cNvSpPr>
            <a:spLocks noGrp="1"/>
          </p:cNvSpPr>
          <p:nvPr>
            <p:ph idx="19" sz="quarter"/>
          </p:nvPr>
        </p:nvSpPr>
        <p:spPr/>
        <p:txBody>
          <a:bodyPr/>
          <a:lstStyle/>
          <a:p>
            <a:pPr>
              <a:spcBef>
                <a:spcPts val="400"/>
              </a:spcBef>
            </a:pPr>
            <a:r>
              <a:rPr>
                <a:latin typeface="Arial"/>
              </a:rPr>
              <a:t>Security &amp; Operability</a:t>
            </a:r>
            <a:br/>
            <a:r>
              <a:rPr>
                <a:latin typeface="Arial"/>
              </a:rPr>
              <a:t>['Zero trust, identity-led design', 'Observability and resilience built in', 'Continuous compliance monitoring']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addressing fragmentation</a:t>
            </a:r>
          </a:p>
        </p:txBody>
      </p:sp>
      <p:sp>
        <p:nvSpPr>
          <p:cNvPr id="3" name="Text Placeholder 2"/>
          <p:cNvSpPr>
            <a:spLocks noGrp="1"/>
          </p:cNvSpPr>
          <p:nvPr>
            <p:ph type="body" idx="13" sz="quarter"/>
          </p:nvPr>
        </p:nvSpPr>
        <p:spPr/>
        <p:txBody>
          <a:bodyPr/>
          <a:lstStyle/>
          <a:p>
            <a:pPr>
              <a:spcBef>
                <a:spcPts val="400"/>
              </a:spcBef>
              <a:buChar char="•"/>
            </a:pPr>
            <a:r>
              <a:rPr>
                <a:latin typeface="Arial"/>
              </a:rPr>
              <a:t>Inconsistent customer records across platforms</a:t>
            </a:r>
          </a:p>
          <a:p>
            <a:pPr>
              <a:spcBef>
                <a:spcPts val="400"/>
              </a:spcBef>
              <a:buChar char="•"/>
            </a:pPr>
            <a:r>
              <a:rPr>
                <a:latin typeface="Arial"/>
              </a:rPr>
              <a:t>Disconnected data flows and ownership gaps</a:t>
            </a:r>
          </a:p>
          <a:p>
            <a:pPr>
              <a:spcBef>
                <a:spcPts val="400"/>
              </a:spcBef>
              <a:buChar char="•"/>
            </a:pPr>
            <a:r>
              <a:rPr>
                <a:latin typeface="Arial"/>
              </a:rPr>
              <a:t>Fragmented user journeys and service views</a:t>
            </a:r>
          </a:p>
          <a:p>
            <a:pPr>
              <a:spcBef>
                <a:spcPts val="400"/>
              </a:spcBef>
              <a:buChar char="•"/>
            </a:pPr>
            <a:r>
              <a:rPr>
                <a:latin typeface="Arial"/>
              </a:rPr>
              <a:t>Legacy system dependencies</a:t>
            </a:r>
          </a:p>
          <a:p>
            <a:pPr>
              <a:spcBef>
                <a:spcPts val="400"/>
              </a:spcBef>
              <a:buChar char="•"/>
            </a:pPr>
            <a:r>
              <a:rPr>
                <a:latin typeface="Arial"/>
              </a:rPr>
              <a:t>Duplication and poor data quality</a:t>
            </a:r>
          </a:p>
          <a:p>
            <a:pPr>
              <a:spcBef>
                <a:spcPts val="400"/>
              </a:spcBef>
              <a:buChar char="•"/>
            </a:pPr>
            <a:r>
              <a:rPr>
                <a:latin typeface="Arial"/>
              </a:rPr>
              <a:t>No single customer identity</a:t>
            </a:r>
          </a:p>
          <a:p>
            <a:pPr>
              <a:spcBef>
                <a:spcPts val="400"/>
              </a:spcBef>
              <a:buChar char="•"/>
            </a:pPr>
            <a:r>
              <a:rPr>
                <a:latin typeface="Arial"/>
              </a:rPr>
              <a:t>Barriers to real-time analytics</a:t>
            </a:r>
          </a:p>
        </p:txBody>
      </p:sp>
      <p:sp>
        <p:nvSpPr>
          <p:cNvPr id="4" name="Text Placeholder 3"/>
          <p:cNvSpPr>
            <a:spLocks noGrp="1"/>
          </p:cNvSpPr>
          <p:nvPr>
            <p:ph type="body" idx="12" sz="quarter"/>
          </p:nvPr>
        </p:nvSpPr>
        <p:spPr/>
        <p:txBody>
          <a:bodyPr/>
          <a:lstStyle/>
          <a:p>
            <a:pPr>
              <a:spcBef>
                <a:spcPts val="400"/>
              </a:spcBef>
              <a:buChar char="•"/>
            </a:pPr>
            <a:r>
              <a:rPr>
                <a:latin typeface="Arial"/>
              </a:rPr>
              <a:t>Map data across CRM, CMS, GIS, legacy</a:t>
            </a:r>
          </a:p>
          <a:p>
            <a:pPr>
              <a:spcBef>
                <a:spcPts val="400"/>
              </a:spcBef>
              <a:buChar char="•"/>
            </a:pPr>
            <a:r>
              <a:rPr>
                <a:latin typeface="Arial"/>
              </a:rPr>
              <a:t>Introduce shared customer identifier</a:t>
            </a:r>
          </a:p>
          <a:p>
            <a:pPr>
              <a:spcBef>
                <a:spcPts val="400"/>
              </a:spcBef>
              <a:buChar char="•"/>
            </a:pPr>
            <a:r>
              <a:rPr>
                <a:latin typeface="Arial"/>
              </a:rPr>
              <a:t>Dynamics 365 as authoritative domain</a:t>
            </a:r>
          </a:p>
          <a:p>
            <a:pPr>
              <a:spcBef>
                <a:spcPts val="400"/>
              </a:spcBef>
              <a:buChar char="•"/>
            </a:pPr>
            <a:r>
              <a:rPr>
                <a:latin typeface="Arial"/>
              </a:rPr>
              <a:t>API-based integration for consistency</a:t>
            </a:r>
          </a:p>
          <a:p>
            <a:pPr>
              <a:spcBef>
                <a:spcPts val="400"/>
              </a:spcBef>
              <a:buChar char="•"/>
            </a:pPr>
            <a:r>
              <a:rPr>
                <a:latin typeface="Arial"/>
              </a:rPr>
              <a:t>Event-driven updates across systems</a:t>
            </a:r>
          </a:p>
          <a:p>
            <a:pPr>
              <a:spcBef>
                <a:spcPts val="400"/>
              </a:spcBef>
              <a:buChar char="•"/>
            </a:pPr>
            <a:r>
              <a:rPr>
                <a:latin typeface="Arial"/>
              </a:rPr>
              <a:t>Progressive data consolidation</a:t>
            </a:r>
          </a:p>
          <a:p>
            <a:pPr>
              <a:spcBef>
                <a:spcPts val="400"/>
              </a:spcBef>
              <a:buChar char="•"/>
            </a:pPr>
            <a:r>
              <a:rPr>
                <a:latin typeface="Arial"/>
              </a:rPr>
              <a:t>Governed data platform for analytics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hypotheses and success criteria</a:t>
            </a:r>
          </a:p>
        </p:txBody>
      </p:sp>
      <p:sp>
        <p:nvSpPr>
          <p:cNvPr id="3" name="Text Placeholder 2"/>
          <p:cNvSpPr>
            <a:spLocks noGrp="1"/>
          </p:cNvSpPr>
          <p:nvPr>
            <p:ph type="body" idx="13" sz="quarter"/>
          </p:nvPr>
        </p:nvSpPr>
        <p:spPr/>
        <p:txBody>
          <a:bodyPr/>
          <a:lstStyle/>
          <a:p>
            <a:pPr>
              <a:spcBef>
                <a:spcPts val="400"/>
              </a:spcBef>
              <a:buChar char="•"/>
            </a:pPr>
            <a:r>
              <a:rPr>
                <a:latin typeface="Arial"/>
              </a:rPr>
              <a:t>A unified platform will reduce operational friction</a:t>
            </a:r>
          </a:p>
          <a:p>
            <a:pPr>
              <a:spcBef>
                <a:spcPts val="400"/>
              </a:spcBef>
              <a:buChar char="•"/>
            </a:pPr>
            <a:r>
              <a:rPr>
                <a:latin typeface="Arial"/>
              </a:rPr>
              <a:t>API-first integration will improve data consistency</a:t>
            </a:r>
          </a:p>
          <a:p>
            <a:pPr>
              <a:spcBef>
                <a:spcPts val="400"/>
              </a:spcBef>
              <a:buChar char="•"/>
            </a:pPr>
            <a:r>
              <a:rPr>
                <a:latin typeface="Arial"/>
              </a:rPr>
              <a:t>Governed data will support analytics and AI</a:t>
            </a:r>
          </a:p>
          <a:p>
            <a:pPr>
              <a:spcBef>
                <a:spcPts val="400"/>
              </a:spcBef>
              <a:buChar char="•"/>
            </a:pPr>
            <a:r>
              <a:rPr>
                <a:latin typeface="Arial"/>
              </a:rPr>
              <a:t>Modular architecture enables phased delivery</a:t>
            </a:r>
          </a:p>
          <a:p>
            <a:pPr>
              <a:spcBef>
                <a:spcPts val="400"/>
              </a:spcBef>
              <a:buChar char="•"/>
            </a:pPr>
            <a:r>
              <a:rPr>
                <a:latin typeface="Arial"/>
              </a:rPr>
              <a:t>Knowledge transfer will reduce client dependency</a:t>
            </a:r>
          </a:p>
          <a:p>
            <a:pPr>
              <a:spcBef>
                <a:spcPts val="400"/>
              </a:spcBef>
              <a:buChar char="•"/>
            </a:pPr>
            <a:r>
              <a:rPr>
                <a:latin typeface="Arial"/>
              </a:rPr>
              <a:t>Security by design will ensure compliance</a:t>
            </a:r>
          </a:p>
          <a:p>
            <a:pPr>
              <a:spcBef>
                <a:spcPts val="400"/>
              </a:spcBef>
              <a:buChar char="•"/>
            </a:pPr>
            <a:r>
              <a:rPr>
                <a:latin typeface="Arial"/>
              </a:rPr>
              <a:t>Blended teams accelerate capability uplift</a:t>
            </a:r>
          </a:p>
        </p:txBody>
      </p:sp>
      <p:sp>
        <p:nvSpPr>
          <p:cNvPr id="4" name="Text Placeholder 3"/>
          <p:cNvSpPr>
            <a:spLocks noGrp="1"/>
          </p:cNvSpPr>
          <p:nvPr>
            <p:ph type="body" idx="12" sz="quarter"/>
          </p:nvPr>
        </p:nvSpPr>
        <p:spPr/>
        <p:txBody>
          <a:bodyPr/>
          <a:lstStyle/>
          <a:p>
            <a:pPr>
              <a:spcBef>
                <a:spcPts val="400"/>
              </a:spcBef>
              <a:buChar char="•"/>
            </a:pPr>
            <a:r>
              <a:rPr>
                <a:latin typeface="Arial"/>
              </a:rPr>
              <a:t>Reduction in duplicated customer records</a:t>
            </a:r>
          </a:p>
          <a:p>
            <a:pPr>
              <a:spcBef>
                <a:spcPts val="400"/>
              </a:spcBef>
              <a:buChar char="•"/>
            </a:pPr>
            <a:r>
              <a:rPr>
                <a:latin typeface="Arial"/>
              </a:rPr>
              <a:t>All key systems integrated via APIs</a:t>
            </a:r>
          </a:p>
          <a:p>
            <a:pPr>
              <a:spcBef>
                <a:spcPts val="400"/>
              </a:spcBef>
              <a:buChar char="•"/>
            </a:pPr>
            <a:r>
              <a:rPr>
                <a:latin typeface="Arial"/>
              </a:rPr>
              <a:t>Trusted data products available for reporting</a:t>
            </a:r>
          </a:p>
          <a:p>
            <a:pPr>
              <a:spcBef>
                <a:spcPts val="400"/>
              </a:spcBef>
              <a:buChar char="•"/>
            </a:pPr>
            <a:r>
              <a:rPr>
                <a:latin typeface="Arial"/>
              </a:rPr>
              <a:t>Incremental delivery of new features</a:t>
            </a:r>
          </a:p>
          <a:p>
            <a:pPr>
              <a:spcBef>
                <a:spcPts val="400"/>
              </a:spcBef>
              <a:buChar char="•"/>
            </a:pPr>
            <a:r>
              <a:rPr>
                <a:latin typeface="Arial"/>
              </a:rPr>
              <a:t>NRW staff leading product teams by end of Alpha</a:t>
            </a:r>
          </a:p>
          <a:p>
            <a:pPr>
              <a:spcBef>
                <a:spcPts val="400"/>
              </a:spcBef>
              <a:buChar char="•"/>
            </a:pPr>
            <a:r>
              <a:rPr>
                <a:latin typeface="Arial"/>
              </a:rPr>
              <a:t>Zero critical security findings at go-live</a:t>
            </a:r>
          </a:p>
          <a:p>
            <a:pPr>
              <a:spcBef>
                <a:spcPts val="400"/>
              </a:spcBef>
              <a:buChar char="•"/>
            </a:pPr>
            <a:r>
              <a:rPr>
                <a:latin typeface="Arial"/>
              </a:rPr>
              <a:t>Sustained team performance post-handover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Four-phase delivery roadmap for NRW</a:t>
            </a:r>
          </a:p>
        </p:txBody>
      </p:sp>
      <p:sp>
        <p:nvSpPr>
          <p:cNvPr id="3" name="Content Placeholder 2"/>
          <p:cNvSpPr>
            <a:spLocks noGrp="1"/>
          </p:cNvSpPr>
          <p:nvPr>
            <p:ph idx="17" sz="quarter"/>
          </p:nvPr>
        </p:nvSpPr>
        <p:spPr/>
        <p:txBody>
          <a:bodyPr/>
          <a:lstStyle/>
          <a:p>
            <a:pPr>
              <a:spcBef>
                <a:spcPts val="400"/>
              </a:spcBef>
            </a:pPr>
            <a:r>
              <a:rPr>
                <a:latin typeface="Arial"/>
              </a:rPr>
              <a:t>Discovery</a:t>
            </a:r>
            <a:br/>
            <a:r>
              <a:rPr>
                <a:latin typeface="Arial"/>
              </a:rPr>
              <a:t>6 weeks: map systems, research, prioritise; define hypotheses</a:t>
            </a:r>
          </a:p>
        </p:txBody>
      </p:sp>
      <p:sp>
        <p:nvSpPr>
          <p:cNvPr id="4" name="Content Placeholder 3"/>
          <p:cNvSpPr>
            <a:spLocks noGrp="1"/>
          </p:cNvSpPr>
          <p:nvPr>
            <p:ph idx="18" sz="quarter"/>
          </p:nvPr>
        </p:nvSpPr>
        <p:spPr/>
        <p:txBody>
          <a:bodyPr/>
          <a:lstStyle/>
          <a:p>
            <a:pPr>
              <a:spcBef>
                <a:spcPts val="400"/>
              </a:spcBef>
            </a:pPr>
            <a:r>
              <a:rPr>
                <a:latin typeface="Arial"/>
              </a:rPr>
              <a:t>Alpha</a:t>
            </a:r>
            <a:br/>
            <a:r>
              <a:rPr>
                <a:latin typeface="Arial"/>
              </a:rPr>
              <a:t>Mobilise blended teams; validate technical baseline; sequenced plan</a:t>
            </a:r>
          </a:p>
        </p:txBody>
      </p:sp>
      <p:sp>
        <p:nvSpPr>
          <p:cNvPr id="5" name="Content Placeholder 4"/>
          <p:cNvSpPr>
            <a:spLocks noGrp="1"/>
          </p:cNvSpPr>
          <p:nvPr>
            <p:ph idx="20" sz="quarter"/>
          </p:nvPr>
        </p:nvSpPr>
        <p:spPr/>
        <p:txBody>
          <a:bodyPr/>
          <a:lstStyle/>
          <a:p>
            <a:pPr>
              <a:spcBef>
                <a:spcPts val="400"/>
              </a:spcBef>
            </a:pPr>
            <a:r>
              <a:rPr>
                <a:latin typeface="Arial"/>
              </a:rPr>
              <a:t>Beta</a:t>
            </a:r>
            <a:br/>
            <a:r>
              <a:rPr>
                <a:latin typeface="Arial"/>
              </a:rPr>
              <a:t>Pilot teams for value streams; prototype, test, integrate data</a:t>
            </a:r>
          </a:p>
        </p:txBody>
      </p:sp>
      <p:sp>
        <p:nvSpPr>
          <p:cNvPr id="6" name="Content Placeholder 5"/>
          <p:cNvSpPr>
            <a:spLocks noGrp="1"/>
          </p:cNvSpPr>
          <p:nvPr>
            <p:ph idx="19" sz="quarter"/>
          </p:nvPr>
        </p:nvSpPr>
        <p:spPr/>
        <p:txBody>
          <a:bodyPr/>
          <a:lstStyle/>
          <a:p>
            <a:pPr>
              <a:spcBef>
                <a:spcPts val="400"/>
              </a:spcBef>
            </a:pPr>
            <a:r>
              <a:rPr>
                <a:latin typeface="Arial"/>
              </a:rPr>
              <a:t>Live</a:t>
            </a:r>
            <a:br/>
            <a:r>
              <a:rPr>
                <a:latin typeface="Arial"/>
              </a:rPr>
              <a:t>Embed KT/coaching; transition to sustainable ops; planned handover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Governance model: aligned strategy, delivery, technical control</a:t>
            </a:r>
          </a:p>
        </p:txBody>
      </p:sp>
      <p:sp>
        <p:nvSpPr>
          <p:cNvPr id="3" name="Content Placeholder 2"/>
          <p:cNvSpPr>
            <a:spLocks noGrp="1"/>
          </p:cNvSpPr>
          <p:nvPr>
            <p:ph idx="17" sz="quarter"/>
          </p:nvPr>
        </p:nvSpPr>
        <p:spPr/>
        <p:txBody>
          <a:bodyPr/>
          <a:lstStyle/>
          <a:p>
            <a:pPr>
              <a:spcBef>
                <a:spcPts val="400"/>
              </a:spcBef>
            </a:pPr>
            <a:r>
              <a:rPr>
                <a:latin typeface="Arial"/>
              </a:rPr>
              <a:t>Strategic governance</a:t>
            </a:r>
            <a:br/>
            <a:r>
              <a:rPr>
                <a:latin typeface="Arial"/>
              </a:rPr>
              <a:t>Monthly executive steering: set direction, outcomes, and alignment.</a:t>
            </a:r>
          </a:p>
        </p:txBody>
      </p:sp>
      <p:sp>
        <p:nvSpPr>
          <p:cNvPr id="4" name="Content Placeholder 3"/>
          <p:cNvSpPr>
            <a:spLocks noGrp="1"/>
          </p:cNvSpPr>
          <p:nvPr>
            <p:ph idx="18" sz="quarter"/>
          </p:nvPr>
        </p:nvSpPr>
        <p:spPr/>
        <p:txBody>
          <a:bodyPr/>
          <a:lstStyle/>
          <a:p>
            <a:pPr>
              <a:spcBef>
                <a:spcPts val="400"/>
              </a:spcBef>
            </a:pPr>
            <a:r>
              <a:rPr>
                <a:latin typeface="Arial"/>
              </a:rPr>
              <a:t>Programme governance</a:t>
            </a:r>
            <a:br/>
            <a:r>
              <a:rPr>
                <a:latin typeface="Arial"/>
              </a:rPr>
              <a:t>Fortnightly programme board: milestones, finances, risks, dependencies.</a:t>
            </a:r>
          </a:p>
        </p:txBody>
      </p:sp>
      <p:sp>
        <p:nvSpPr>
          <p:cNvPr id="5" name="Content Placeholder 4"/>
          <p:cNvSpPr>
            <a:spLocks noGrp="1"/>
          </p:cNvSpPr>
          <p:nvPr>
            <p:ph idx="20" sz="quarter"/>
          </p:nvPr>
        </p:nvSpPr>
        <p:spPr/>
        <p:txBody>
          <a:bodyPr/>
          <a:lstStyle/>
          <a:p>
            <a:pPr>
              <a:spcBef>
                <a:spcPts val="400"/>
              </a:spcBef>
            </a:pPr>
            <a:r>
              <a:rPr>
                <a:latin typeface="Arial"/>
              </a:rPr>
              <a:t>Technical governance</a:t>
            </a:r>
            <a:br/>
            <a:r>
              <a:rPr>
                <a:latin typeface="Arial"/>
              </a:rPr>
              <a:t>Weekly architecture review: technical consistency, security, compliance.</a:t>
            </a:r>
          </a:p>
        </p:txBody>
      </p:sp>
      <p:sp>
        <p:nvSpPr>
          <p:cNvPr id="6" name="Content Placeholder 5"/>
          <p:cNvSpPr>
            <a:spLocks noGrp="1"/>
          </p:cNvSpPr>
          <p:nvPr>
            <p:ph idx="19" sz="quarter"/>
          </p:nvPr>
        </p:nvSpPr>
        <p:spPr/>
        <p:txBody>
          <a:bodyPr/>
          <a:lstStyle/>
          <a:p>
            <a:pPr>
              <a:spcBef>
                <a:spcPts val="400"/>
              </a:spcBef>
            </a:pPr>
            <a:r>
              <a:rPr>
                <a:latin typeface="Arial"/>
              </a:rPr>
              <a:t>Risk management</a:t>
            </a:r>
            <a:br/>
            <a:r>
              <a:rPr>
                <a:latin typeface="Arial"/>
              </a:rPr>
              <a:t>Live risk registers, threat testing, and contingency/rollback plans.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and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 data quality affecting matching accuracy</a:t>
            </a:r>
          </a:p>
          <a:p>
            <a:pPr>
              <a:spcBef>
                <a:spcPts val="400"/>
              </a:spcBef>
              <a:buChar char="•"/>
            </a:pPr>
            <a:r>
              <a:rPr>
                <a:latin typeface="Arial"/>
              </a:rPr>
              <a:t>Hidden dependencies in legacy systems</a:t>
            </a:r>
          </a:p>
          <a:p>
            <a:pPr>
              <a:spcBef>
                <a:spcPts val="400"/>
              </a:spcBef>
              <a:buChar char="•"/>
            </a:pPr>
            <a:r>
              <a:rPr>
                <a:latin typeface="Arial"/>
              </a:rPr>
              <a:t>Integration performance constraints</a:t>
            </a:r>
          </a:p>
          <a:p>
            <a:pPr>
              <a:spcBef>
                <a:spcPts val="400"/>
              </a:spcBef>
              <a:buChar char="•"/>
            </a:pPr>
            <a:r>
              <a:rPr>
                <a:latin typeface="Arial"/>
              </a:rPr>
              <a:t>Security and privacy compliance gaps</a:t>
            </a:r>
          </a:p>
          <a:p>
            <a:pPr>
              <a:spcBef>
                <a:spcPts val="400"/>
              </a:spcBef>
              <a:buChar char="•"/>
            </a:pPr>
            <a:r>
              <a:rPr>
                <a:latin typeface="Arial"/>
              </a:rPr>
              <a:t>Inconsistent ownership of customer data</a:t>
            </a:r>
          </a:p>
          <a:p>
            <a:pPr>
              <a:spcBef>
                <a:spcPts val="400"/>
              </a:spcBef>
              <a:buChar char="•"/>
            </a:pPr>
            <a:r>
              <a:rPr>
                <a:latin typeface="Arial"/>
              </a:rPr>
              <a:t>Limited organisational readiness for change</a:t>
            </a:r>
          </a:p>
          <a:p>
            <a:pPr>
              <a:spcBef>
                <a:spcPts val="400"/>
              </a:spcBef>
              <a:buChar char="•"/>
            </a:pPr>
            <a:r>
              <a:rPr>
                <a:latin typeface="Arial"/>
              </a:rPr>
              <a:t>Service disruption during migration</a:t>
            </a:r>
          </a:p>
        </p:txBody>
      </p:sp>
      <p:sp>
        <p:nvSpPr>
          <p:cNvPr id="4" name="Text Placeholder 3"/>
          <p:cNvSpPr>
            <a:spLocks noGrp="1"/>
          </p:cNvSpPr>
          <p:nvPr>
            <p:ph type="body" idx="12" sz="quarter"/>
          </p:nvPr>
        </p:nvSpPr>
        <p:spPr/>
        <p:txBody>
          <a:bodyPr/>
          <a:lstStyle/>
          <a:p>
            <a:pPr>
              <a:spcBef>
                <a:spcPts val="400"/>
              </a:spcBef>
              <a:buChar char="•"/>
            </a:pPr>
            <a:r>
              <a:rPr>
                <a:latin typeface="Arial"/>
              </a:rPr>
              <a:t>Structured data profiling and validation</a:t>
            </a:r>
          </a:p>
          <a:p>
            <a:pPr>
              <a:spcBef>
                <a:spcPts val="400"/>
              </a:spcBef>
              <a:buChar char="•"/>
            </a:pPr>
            <a:r>
              <a:rPr>
                <a:latin typeface="Arial"/>
              </a:rPr>
              <a:t>Dependency mapping and phased migration</a:t>
            </a:r>
          </a:p>
          <a:p>
            <a:pPr>
              <a:spcBef>
                <a:spcPts val="400"/>
              </a:spcBef>
              <a:buChar char="•"/>
            </a:pPr>
            <a:r>
              <a:rPr>
                <a:latin typeface="Arial"/>
              </a:rPr>
              <a:t>Performance testing and monitoring</a:t>
            </a:r>
          </a:p>
          <a:p>
            <a:pPr>
              <a:spcBef>
                <a:spcPts val="400"/>
              </a:spcBef>
              <a:buChar char="•"/>
            </a:pPr>
            <a:r>
              <a:rPr>
                <a:latin typeface="Arial"/>
              </a:rPr>
              <a:t>Zero trust, identity-led security design</a:t>
            </a:r>
          </a:p>
          <a:p>
            <a:pPr>
              <a:spcBef>
                <a:spcPts val="400"/>
              </a:spcBef>
              <a:buChar char="•"/>
            </a:pPr>
            <a:r>
              <a:rPr>
                <a:latin typeface="Arial"/>
              </a:rPr>
              <a:t>Clear data stewardship roles</a:t>
            </a:r>
          </a:p>
          <a:p>
            <a:pPr>
              <a:spcBef>
                <a:spcPts val="400"/>
              </a:spcBef>
              <a:buChar char="•"/>
            </a:pPr>
            <a:r>
              <a:rPr>
                <a:latin typeface="Arial"/>
              </a:rPr>
              <a:t>Change management and coaching</a:t>
            </a:r>
          </a:p>
          <a:p>
            <a:pPr>
              <a:spcBef>
                <a:spcPts val="400"/>
              </a:spcBef>
              <a:buChar char="•"/>
            </a:pPr>
            <a:r>
              <a:rPr>
                <a:latin typeface="Arial"/>
              </a:rPr>
              <a:t>Contingency and rollback planning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2: Website innovation — technical context</a:t>
            </a:r>
          </a:p>
        </p:txBody>
      </p:sp>
      <p:sp>
        <p:nvSpPr>
          <p:cNvPr id="3" name="Text Placeholder 2"/>
          <p:cNvSpPr>
            <a:spLocks noGrp="1"/>
          </p:cNvSpPr>
          <p:nvPr>
            <p:ph type="body" idx="12" sz="quarter"/>
          </p:nvPr>
        </p:nvSpPr>
        <p:spPr/>
        <p:txBody>
          <a:bodyPr/>
          <a:lstStyle/>
          <a:p>
            <a:pPr>
              <a:spcBef>
                <a:spcPts val="400"/>
              </a:spcBef>
              <a:buChar char="•"/>
            </a:pPr>
            <a:r>
              <a:rPr>
                <a:latin typeface="Arial"/>
              </a:rPr>
              <a:t>Umbraco CMS, Microsoft 365 workflows</a:t>
            </a:r>
          </a:p>
          <a:p>
            <a:pPr>
              <a:spcBef>
                <a:spcPts val="400"/>
              </a:spcBef>
              <a:buChar char="•"/>
            </a:pPr>
            <a:r>
              <a:rPr>
                <a:latin typeface="Arial"/>
              </a:rPr>
              <a:t>Azure-hosted services and APIs</a:t>
            </a:r>
          </a:p>
          <a:p>
            <a:pPr>
              <a:spcBef>
                <a:spcPts val="400"/>
              </a:spcBef>
              <a:buChar char="•"/>
            </a:pPr>
            <a:r>
              <a:rPr>
                <a:latin typeface="Arial"/>
              </a:rPr>
              <a:t>Identity via Entra ID and Azure AD B2C</a:t>
            </a:r>
          </a:p>
          <a:p>
            <a:pPr>
              <a:spcBef>
                <a:spcPts val="400"/>
              </a:spcBef>
              <a:buChar char="•"/>
            </a:pPr>
            <a:r>
              <a:rPr>
                <a:latin typeface="Arial"/>
              </a:rPr>
              <a:t>Bilingual content and accessibility requirements</a:t>
            </a:r>
          </a:p>
          <a:p>
            <a:pPr>
              <a:spcBef>
                <a:spcPts val="400"/>
              </a:spcBef>
              <a:buChar char="•"/>
            </a:pPr>
            <a:r>
              <a:rPr>
                <a:latin typeface="Arial"/>
              </a:rPr>
              <a:t>Integration with live and location-based data</a:t>
            </a:r>
          </a:p>
          <a:p>
            <a:pPr>
              <a:spcBef>
                <a:spcPts val="400"/>
              </a:spcBef>
              <a:buChar char="•"/>
            </a:pPr>
            <a:r>
              <a:rPr>
                <a:latin typeface="Arial"/>
              </a:rPr>
              <a:t>Constraints of current estate</a:t>
            </a:r>
          </a:p>
          <a:p>
            <a:pPr>
              <a:spcBef>
                <a:spcPts val="400"/>
              </a:spcBef>
              <a:buChar char="•"/>
            </a:pPr>
            <a:r>
              <a:rPr>
                <a:latin typeface="Arial"/>
              </a:rPr>
              <a:t>Focus on rapid, low-risk experimentation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2: Four-phase innovation plan</a:t>
            </a:r>
          </a:p>
        </p:txBody>
      </p:sp>
      <p:sp>
        <p:nvSpPr>
          <p:cNvPr id="3" name="Text Placeholder 2"/>
          <p:cNvSpPr>
            <a:spLocks noGrp="1"/>
          </p:cNvSpPr>
          <p:nvPr>
            <p:ph type="body" idx="12" sz="quarter"/>
          </p:nvPr>
        </p:nvSpPr>
        <p:spPr/>
        <p:txBody>
          <a:bodyPr/>
          <a:lstStyle/>
          <a:p>
            <a:pPr>
              <a:spcBef>
                <a:spcPts val="400"/>
              </a:spcBef>
            </a:pPr>
            <a:r>
              <a:rPr>
                <a:latin typeface="Arial"/>
              </a:rPr>
              <a:t>Explore &amp; Discover: define hypotheses, analyse journeys</a:t>
            </a:r>
          </a:p>
        </p:txBody>
      </p:sp>
      <p:sp>
        <p:nvSpPr>
          <p:cNvPr id="4" name="Text Placeholder 3"/>
          <p:cNvSpPr>
            <a:spLocks noGrp="1"/>
          </p:cNvSpPr>
          <p:nvPr>
            <p:ph type="body" idx="13" sz="quarter"/>
          </p:nvPr>
        </p:nvSpPr>
        <p:spPr/>
        <p:txBody>
          <a:bodyPr/>
          <a:lstStyle/>
          <a:p>
            <a:pPr>
              <a:spcBef>
                <a:spcPts val="400"/>
              </a:spcBef>
            </a:pPr>
            <a:r>
              <a:rPr>
                <a:latin typeface="Arial"/>
              </a:rPr>
              <a:t>Ideate/Co-create: low-cost experiments, prototypes</a:t>
            </a:r>
          </a:p>
        </p:txBody>
      </p:sp>
      <p:sp>
        <p:nvSpPr>
          <p:cNvPr id="5" name="Text Placeholder 4"/>
          <p:cNvSpPr>
            <a:spLocks noGrp="1"/>
          </p:cNvSpPr>
          <p:nvPr>
            <p:ph type="body" idx="14" sz="quarter"/>
          </p:nvPr>
        </p:nvSpPr>
        <p:spPr/>
        <p:txBody>
          <a:bodyPr/>
          <a:lstStyle/>
          <a:p>
            <a:pPr>
              <a:spcBef>
                <a:spcPts val="400"/>
              </a:spcBef>
            </a:pPr>
            <a:r>
              <a:rPr>
                <a:latin typeface="Arial"/>
              </a:rPr>
              <a:t>Design &amp; Build: deepen strongest candidates</a:t>
            </a:r>
          </a:p>
        </p:txBody>
      </p:sp>
      <p:sp>
        <p:nvSpPr>
          <p:cNvPr id="6" name="Text Placeholder 5"/>
          <p:cNvSpPr>
            <a:spLocks noGrp="1"/>
          </p:cNvSpPr>
          <p:nvPr>
            <p:ph type="body" idx="15" sz="quarter"/>
          </p:nvPr>
        </p:nvSpPr>
        <p:spPr/>
        <p:txBody>
          <a:bodyPr/>
          <a:lstStyle/>
          <a:p>
            <a:pPr>
              <a:spcBef>
                <a:spcPts val="400"/>
              </a:spcBef>
            </a:pPr>
            <a:r>
              <a:rPr>
                <a:latin typeface="Arial"/>
              </a:rPr>
              <a:t>Scale/Co-operate: consolidate evidence, inform decisions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Hypothesis-led innovation — our approach</a:t>
            </a:r>
          </a:p>
        </p:txBody>
      </p:sp>
      <p:sp>
        <p:nvSpPr>
          <p:cNvPr id="3" name="Text Placeholder 2"/>
          <p:cNvSpPr>
            <a:spLocks noGrp="1"/>
          </p:cNvSpPr>
          <p:nvPr>
            <p:ph type="body" idx="13" sz="quarter"/>
          </p:nvPr>
        </p:nvSpPr>
        <p:spPr/>
        <p:txBody>
          <a:bodyPr/>
          <a:lstStyle/>
          <a:p>
            <a:pPr>
              <a:spcBef>
                <a:spcPts val="400"/>
              </a:spcBef>
              <a:buChar char="•"/>
            </a:pPr>
            <a:r>
              <a:rPr>
                <a:latin typeface="Arial"/>
              </a:rPr>
              <a:t>Jointly define testable hypotheses with NRW</a:t>
            </a:r>
          </a:p>
          <a:p>
            <a:pPr>
              <a:spcBef>
                <a:spcPts val="400"/>
              </a:spcBef>
              <a:buChar char="•"/>
            </a:pPr>
            <a:r>
              <a:rPr>
                <a:latin typeface="Arial"/>
              </a:rPr>
              <a:t>Focus on measurable user and organisational problems</a:t>
            </a:r>
          </a:p>
          <a:p>
            <a:pPr>
              <a:spcBef>
                <a:spcPts val="400"/>
              </a:spcBef>
              <a:buChar char="•"/>
            </a:pPr>
            <a:r>
              <a:rPr>
                <a:latin typeface="Arial"/>
              </a:rPr>
              <a:t>Design lightweight experiments, not just ideas</a:t>
            </a:r>
          </a:p>
          <a:p>
            <a:pPr>
              <a:spcBef>
                <a:spcPts val="400"/>
              </a:spcBef>
              <a:buChar char="•"/>
            </a:pPr>
            <a:r>
              <a:rPr>
                <a:latin typeface="Arial"/>
              </a:rPr>
              <a:t>Embed user-centred, bilingual design</a:t>
            </a:r>
          </a:p>
          <a:p>
            <a:pPr>
              <a:spcBef>
                <a:spcPts val="400"/>
              </a:spcBef>
              <a:buChar char="•"/>
            </a:pPr>
            <a:r>
              <a:rPr>
                <a:latin typeface="Arial"/>
              </a:rPr>
              <a:t>Continuous stakeholder engagement</a:t>
            </a:r>
          </a:p>
          <a:p>
            <a:pPr>
              <a:spcBef>
                <a:spcPts val="400"/>
              </a:spcBef>
              <a:buChar char="•"/>
            </a:pPr>
            <a:r>
              <a:rPr>
                <a:latin typeface="Arial"/>
              </a:rPr>
              <a:t>Evidence-based decision making</a:t>
            </a:r>
          </a:p>
          <a:p>
            <a:pPr>
              <a:spcBef>
                <a:spcPts val="400"/>
              </a:spcBef>
              <a:buChar char="•"/>
            </a:pPr>
            <a:r>
              <a:rPr>
                <a:latin typeface="Arial"/>
              </a:rPr>
              <a:t>Rapid disposal of weak ideas</a:t>
            </a:r>
          </a:p>
        </p:txBody>
      </p:sp>
      <p:sp>
        <p:nvSpPr>
          <p:cNvPr id="4" name="Text Placeholder 3"/>
          <p:cNvSpPr>
            <a:spLocks noGrp="1"/>
          </p:cNvSpPr>
          <p:nvPr>
            <p:ph type="body" idx="12" sz="quarter"/>
          </p:nvPr>
        </p:nvSpPr>
        <p:spPr/>
        <p:txBody>
          <a:bodyPr/>
          <a:lstStyle/>
          <a:p>
            <a:pPr>
              <a:spcBef>
                <a:spcPts val="400"/>
              </a:spcBef>
              <a:buChar char="•"/>
            </a:pPr>
            <a:r>
              <a:rPr>
                <a:latin typeface="Arial"/>
              </a:rPr>
              <a:t>Prototypes for navigation, search, content</a:t>
            </a:r>
          </a:p>
          <a:p>
            <a:pPr>
              <a:spcBef>
                <a:spcPts val="400"/>
              </a:spcBef>
              <a:buChar char="•"/>
            </a:pPr>
            <a:r>
              <a:rPr>
                <a:latin typeface="Arial"/>
              </a:rPr>
              <a:t>Accessibility and bilingual testing</a:t>
            </a:r>
          </a:p>
          <a:p>
            <a:pPr>
              <a:spcBef>
                <a:spcPts val="400"/>
              </a:spcBef>
              <a:buChar char="•"/>
            </a:pPr>
            <a:r>
              <a:rPr>
                <a:latin typeface="Arial"/>
              </a:rPr>
              <a:t>Live or near-live data integration</a:t>
            </a:r>
          </a:p>
          <a:p>
            <a:pPr>
              <a:spcBef>
                <a:spcPts val="400"/>
              </a:spcBef>
              <a:buChar char="•"/>
            </a:pPr>
            <a:r>
              <a:rPr>
                <a:latin typeface="Arial"/>
              </a:rPr>
              <a:t>Prioritised improvement backlog</a:t>
            </a:r>
          </a:p>
          <a:p>
            <a:pPr>
              <a:spcBef>
                <a:spcPts val="400"/>
              </a:spcBef>
              <a:buChar char="•"/>
            </a:pPr>
            <a:r>
              <a:rPr>
                <a:latin typeface="Arial"/>
              </a:rPr>
              <a:t>Measurement framework for outcomes</a:t>
            </a:r>
          </a:p>
          <a:p>
            <a:pPr>
              <a:spcBef>
                <a:spcPts val="400"/>
              </a:spcBef>
              <a:buChar char="•"/>
            </a:pPr>
            <a:r>
              <a:rPr>
                <a:latin typeface="Arial"/>
              </a:rPr>
              <a:t>Technical feasibility proven early</a:t>
            </a:r>
          </a:p>
          <a:p>
            <a:pPr>
              <a:spcBef>
                <a:spcPts val="400"/>
              </a:spcBef>
              <a:buChar char="•"/>
            </a:pPr>
            <a:r>
              <a:rPr>
                <a:latin typeface="Arial"/>
              </a:rPr>
              <a:t>Clear recommendations for next steps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hypotheses and success criteria</a:t>
            </a:r>
          </a:p>
        </p:txBody>
      </p:sp>
      <p:sp>
        <p:nvSpPr>
          <p:cNvPr id="3" name="Text Placeholder 2"/>
          <p:cNvSpPr>
            <a:spLocks noGrp="1"/>
          </p:cNvSpPr>
          <p:nvPr>
            <p:ph type="body" idx="13" sz="quarter"/>
          </p:nvPr>
        </p:nvSpPr>
        <p:spPr/>
        <p:txBody>
          <a:bodyPr/>
          <a:lstStyle/>
          <a:p>
            <a:pPr>
              <a:spcBef>
                <a:spcPts val="400"/>
              </a:spcBef>
              <a:buChar char="•"/>
            </a:pPr>
            <a:r>
              <a:rPr>
                <a:latin typeface="Arial"/>
              </a:rPr>
              <a:t>Improved navigation reduces user friction</a:t>
            </a:r>
          </a:p>
          <a:p>
            <a:pPr>
              <a:spcBef>
                <a:spcPts val="400"/>
              </a:spcBef>
              <a:buChar char="•"/>
            </a:pPr>
            <a:r>
              <a:rPr>
                <a:latin typeface="Arial"/>
              </a:rPr>
              <a:t>Search relevance increases task completion</a:t>
            </a:r>
          </a:p>
          <a:p>
            <a:pPr>
              <a:spcBef>
                <a:spcPts val="400"/>
              </a:spcBef>
              <a:buChar char="•"/>
            </a:pPr>
            <a:r>
              <a:rPr>
                <a:latin typeface="Arial"/>
              </a:rPr>
              <a:t>Bilingual content parity enhances accessibility</a:t>
            </a:r>
          </a:p>
          <a:p>
            <a:pPr>
              <a:spcBef>
                <a:spcPts val="400"/>
              </a:spcBef>
              <a:buChar char="•"/>
            </a:pPr>
            <a:r>
              <a:rPr>
                <a:latin typeface="Arial"/>
              </a:rPr>
              <a:t>Live data integration supports real-time info</a:t>
            </a:r>
          </a:p>
          <a:p>
            <a:pPr>
              <a:spcBef>
                <a:spcPts val="400"/>
              </a:spcBef>
              <a:buChar char="•"/>
            </a:pPr>
            <a:r>
              <a:rPr>
                <a:latin typeface="Arial"/>
              </a:rPr>
              <a:t>Content structure improves findability</a:t>
            </a:r>
          </a:p>
          <a:p>
            <a:pPr>
              <a:spcBef>
                <a:spcPts val="400"/>
              </a:spcBef>
              <a:buChar char="•"/>
            </a:pPr>
            <a:r>
              <a:rPr>
                <a:latin typeface="Arial"/>
              </a:rPr>
              <a:t>Prototypes align to WCAG 2.2 AA</a:t>
            </a:r>
          </a:p>
          <a:p>
            <a:pPr>
              <a:spcBef>
                <a:spcPts val="400"/>
              </a:spcBef>
              <a:buChar char="•"/>
            </a:pPr>
            <a:r>
              <a:rPr>
                <a:latin typeface="Arial"/>
              </a:rPr>
              <a:t>Stakeholder engagement accelerates decisions</a:t>
            </a:r>
          </a:p>
        </p:txBody>
      </p:sp>
      <p:sp>
        <p:nvSpPr>
          <p:cNvPr id="4" name="Text Placeholder 3"/>
          <p:cNvSpPr>
            <a:spLocks noGrp="1"/>
          </p:cNvSpPr>
          <p:nvPr>
            <p:ph type="body" idx="12" sz="quarter"/>
          </p:nvPr>
        </p:nvSpPr>
        <p:spPr/>
        <p:txBody>
          <a:bodyPr/>
          <a:lstStyle/>
          <a:p>
            <a:pPr>
              <a:spcBef>
                <a:spcPts val="400"/>
              </a:spcBef>
              <a:buChar char="•"/>
            </a:pPr>
            <a:r>
              <a:rPr>
                <a:latin typeface="Arial"/>
              </a:rPr>
              <a:t>Measured reduction in failed user journeys</a:t>
            </a:r>
          </a:p>
          <a:p>
            <a:pPr>
              <a:spcBef>
                <a:spcPts val="400"/>
              </a:spcBef>
              <a:buChar char="•"/>
            </a:pPr>
            <a:r>
              <a:rPr>
                <a:latin typeface="Arial"/>
              </a:rPr>
              <a:t>Increased search effectiveness scores</a:t>
            </a:r>
          </a:p>
          <a:p>
            <a:pPr>
              <a:spcBef>
                <a:spcPts val="400"/>
              </a:spcBef>
              <a:buChar char="•"/>
            </a:pPr>
            <a:r>
              <a:rPr>
                <a:latin typeface="Arial"/>
              </a:rPr>
              <a:t>Accessibility compliance verified</a:t>
            </a:r>
          </a:p>
          <a:p>
            <a:pPr>
              <a:spcBef>
                <a:spcPts val="400"/>
              </a:spcBef>
              <a:buChar char="•"/>
            </a:pPr>
            <a:r>
              <a:rPr>
                <a:latin typeface="Arial"/>
              </a:rPr>
              <a:t>Live data displayed in MVP prototypes</a:t>
            </a:r>
          </a:p>
          <a:p>
            <a:pPr>
              <a:spcBef>
                <a:spcPts val="400"/>
              </a:spcBef>
              <a:buChar char="•"/>
            </a:pPr>
            <a:r>
              <a:rPr>
                <a:latin typeface="Arial"/>
              </a:rPr>
              <a:t>Content patterns reused across site</a:t>
            </a:r>
          </a:p>
          <a:p>
            <a:pPr>
              <a:spcBef>
                <a:spcPts val="400"/>
              </a:spcBef>
              <a:buChar char="•"/>
            </a:pPr>
            <a:r>
              <a:rPr>
                <a:latin typeface="Arial"/>
              </a:rPr>
              <a:t>Positive user feedback on bilingual features</a:t>
            </a:r>
          </a:p>
          <a:p>
            <a:pPr>
              <a:spcBef>
                <a:spcPts val="400"/>
              </a:spcBef>
              <a:buChar char="•"/>
            </a:pPr>
            <a:r>
              <a:rPr>
                <a:latin typeface="Arial"/>
              </a:rPr>
              <a:t>Clear evidence for scale or stop decisions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team roles for rapid, practical delivery</a:t>
            </a:r>
          </a:p>
        </p:txBody>
      </p:sp>
      <p:sp>
        <p:nvSpPr>
          <p:cNvPr id="3" name="Content Placeholder 2"/>
          <p:cNvSpPr>
            <a:spLocks noGrp="1"/>
          </p:cNvSpPr>
          <p:nvPr>
            <p:ph idx="17" sz="quarter"/>
          </p:nvPr>
        </p:nvSpPr>
        <p:spPr/>
        <p:txBody>
          <a:bodyPr/>
          <a:lstStyle/>
          <a:p>
            <a:pPr>
              <a:spcBef>
                <a:spcPts val="400"/>
              </a:spcBef>
            </a:pPr>
            <a:r>
              <a:rPr>
                <a:latin typeface="Arial"/>
              </a:rPr>
              <a:t>Product &amp; Delivery Leadership</a:t>
            </a:r>
            <a:br/>
            <a:r>
              <a:rPr>
                <a:latin typeface="Arial"/>
              </a:rPr>
              <a:t>IBM/Stable leads; align to objectives; coordinate delivery &amp; reporting</a:t>
            </a:r>
          </a:p>
        </p:txBody>
      </p:sp>
      <p:sp>
        <p:nvSpPr>
          <p:cNvPr id="4" name="Content Placeholder 3"/>
          <p:cNvSpPr>
            <a:spLocks noGrp="1"/>
          </p:cNvSpPr>
          <p:nvPr>
            <p:ph idx="18" sz="quarter"/>
          </p:nvPr>
        </p:nvSpPr>
        <p:spPr/>
        <p:txBody>
          <a:bodyPr/>
          <a:lstStyle/>
          <a:p>
            <a:pPr>
              <a:spcBef>
                <a:spcPts val="400"/>
              </a:spcBef>
            </a:pPr>
            <a:r>
              <a:rPr>
                <a:latin typeface="Arial"/>
              </a:rPr>
              <a:t>UX &amp; Content Design</a:t>
            </a:r>
            <a:br/>
            <a:r>
              <a:rPr>
                <a:latin typeface="Arial"/>
              </a:rPr>
              <a:t>Research/prototype; bilingual &amp; accessibility; define content patterns</a:t>
            </a:r>
          </a:p>
        </p:txBody>
      </p:sp>
      <p:sp>
        <p:nvSpPr>
          <p:cNvPr id="5" name="Content Placeholder 4"/>
          <p:cNvSpPr>
            <a:spLocks noGrp="1"/>
          </p:cNvSpPr>
          <p:nvPr>
            <p:ph idx="20" sz="quarter"/>
          </p:nvPr>
        </p:nvSpPr>
        <p:spPr/>
        <p:txBody>
          <a:bodyPr/>
          <a:lstStyle/>
          <a:p>
            <a:pPr>
              <a:spcBef>
                <a:spcPts val="400"/>
              </a:spcBef>
            </a:pPr>
            <a:r>
              <a:rPr>
                <a:latin typeface="Arial"/>
              </a:rPr>
              <a:t>Engineering &amp; Data</a:t>
            </a:r>
            <a:br/>
            <a:r>
              <a:rPr>
                <a:latin typeface="Arial"/>
              </a:rPr>
              <a:t>Assess feasibility; integrate systems; enable data/AI for experiments</a:t>
            </a:r>
          </a:p>
        </p:txBody>
      </p:sp>
      <p:sp>
        <p:nvSpPr>
          <p:cNvPr id="6" name="Content Placeholder 5"/>
          <p:cNvSpPr>
            <a:spLocks noGrp="1"/>
          </p:cNvSpPr>
          <p:nvPr>
            <p:ph idx="19" sz="quarter"/>
          </p:nvPr>
        </p:nvSpPr>
        <p:spPr/>
        <p:txBody>
          <a:bodyPr/>
          <a:lstStyle/>
          <a:p>
            <a:pPr>
              <a:spcBef>
                <a:spcPts val="400"/>
              </a:spcBef>
            </a:pPr>
            <a:r>
              <a:rPr>
                <a:latin typeface="Arial"/>
              </a:rPr>
              <a:t>NRW Stakeholder Roles</a:t>
            </a:r>
            <a:br/>
            <a:r>
              <a:rPr>
                <a:latin typeface="Arial"/>
              </a:rPr>
              <a:t>Sponsors/SMEs; content owners &amp; user access; participate in reviews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risks and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Poorly defined objectives</a:t>
            </a:r>
          </a:p>
          <a:p>
            <a:pPr>
              <a:spcBef>
                <a:spcPts val="400"/>
              </a:spcBef>
              <a:buChar char="•"/>
            </a:pPr>
            <a:r>
              <a:rPr>
                <a:latin typeface="Arial"/>
              </a:rPr>
              <a:t>Limited user access for testing</a:t>
            </a:r>
          </a:p>
          <a:p>
            <a:pPr>
              <a:spcBef>
                <a:spcPts val="400"/>
              </a:spcBef>
              <a:buChar char="•"/>
            </a:pPr>
            <a:r>
              <a:rPr>
                <a:latin typeface="Arial"/>
              </a:rPr>
              <a:t>Technical constraints of current estate</a:t>
            </a:r>
          </a:p>
          <a:p>
            <a:pPr>
              <a:spcBef>
                <a:spcPts val="400"/>
              </a:spcBef>
              <a:buChar char="•"/>
            </a:pPr>
            <a:r>
              <a:rPr>
                <a:latin typeface="Arial"/>
              </a:rPr>
              <a:t>Content model inconsistencies</a:t>
            </a:r>
          </a:p>
          <a:p>
            <a:pPr>
              <a:spcBef>
                <a:spcPts val="400"/>
              </a:spcBef>
              <a:buChar char="•"/>
            </a:pPr>
            <a:r>
              <a:rPr>
                <a:latin typeface="Arial"/>
              </a:rPr>
              <a:t>Accessibility and bilingual gaps</a:t>
            </a:r>
          </a:p>
          <a:p>
            <a:pPr>
              <a:spcBef>
                <a:spcPts val="400"/>
              </a:spcBef>
              <a:buChar char="•"/>
            </a:pPr>
            <a:r>
              <a:rPr>
                <a:latin typeface="Arial"/>
              </a:rPr>
              <a:t>Time pressure for evidence generation</a:t>
            </a:r>
          </a:p>
          <a:p>
            <a:pPr>
              <a:spcBef>
                <a:spcPts val="400"/>
              </a:spcBef>
              <a:buChar char="•"/>
            </a:pPr>
            <a:r>
              <a:rPr>
                <a:latin typeface="Arial"/>
              </a:rPr>
              <a:t>Stakeholder decision delays</a:t>
            </a:r>
          </a:p>
        </p:txBody>
      </p:sp>
      <p:sp>
        <p:nvSpPr>
          <p:cNvPr id="4" name="Text Placeholder 3"/>
          <p:cNvSpPr>
            <a:spLocks noGrp="1"/>
          </p:cNvSpPr>
          <p:nvPr>
            <p:ph type="body" idx="12" sz="quarter"/>
          </p:nvPr>
        </p:nvSpPr>
        <p:spPr/>
        <p:txBody>
          <a:bodyPr/>
          <a:lstStyle/>
          <a:p>
            <a:pPr>
              <a:spcBef>
                <a:spcPts val="400"/>
              </a:spcBef>
              <a:buChar char="•"/>
            </a:pPr>
            <a:r>
              <a:rPr>
                <a:latin typeface="Arial"/>
              </a:rPr>
              <a:t>Early hypothesis definition</a:t>
            </a:r>
          </a:p>
          <a:p>
            <a:pPr>
              <a:spcBef>
                <a:spcPts val="400"/>
              </a:spcBef>
              <a:buChar char="•"/>
            </a:pPr>
            <a:r>
              <a:rPr>
                <a:latin typeface="Arial"/>
              </a:rPr>
              <a:t>Secure user and stakeholder engagement upfront</a:t>
            </a:r>
          </a:p>
          <a:p>
            <a:pPr>
              <a:spcBef>
                <a:spcPts val="400"/>
              </a:spcBef>
              <a:buChar char="•"/>
            </a:pPr>
            <a:r>
              <a:rPr>
                <a:latin typeface="Arial"/>
              </a:rPr>
              <a:t>Feasibility testing in initial phase</a:t>
            </a:r>
          </a:p>
          <a:p>
            <a:pPr>
              <a:spcBef>
                <a:spcPts val="400"/>
              </a:spcBef>
              <a:buChar char="•"/>
            </a:pPr>
            <a:r>
              <a:rPr>
                <a:latin typeface="Arial"/>
              </a:rPr>
              <a:t>Structured content and authoring approach</a:t>
            </a:r>
          </a:p>
          <a:p>
            <a:pPr>
              <a:spcBef>
                <a:spcPts val="400"/>
              </a:spcBef>
              <a:buChar char="•"/>
            </a:pPr>
            <a:r>
              <a:rPr>
                <a:latin typeface="Arial"/>
              </a:rPr>
              <a:t>Accessibility and bilingual testing embedded</a:t>
            </a:r>
          </a:p>
          <a:p>
            <a:pPr>
              <a:spcBef>
                <a:spcPts val="400"/>
              </a:spcBef>
              <a:buChar char="•"/>
            </a:pPr>
            <a:r>
              <a:rPr>
                <a:latin typeface="Arial"/>
              </a:rPr>
              <a:t>Disciplined prioritisation of experiments</a:t>
            </a:r>
          </a:p>
          <a:p>
            <a:pPr>
              <a:spcBef>
                <a:spcPts val="400"/>
              </a:spcBef>
              <a:buChar char="•"/>
            </a:pPr>
            <a:r>
              <a:rPr>
                <a:latin typeface="Arial"/>
              </a:rPr>
              <a:t>Regular decision points with NRW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outputs: evidence, prototypes, and a scaling path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3: Commercial Overview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transparent commercial model for NRW</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commercial models by delivery stage</a:t>
            </a:r>
          </a:p>
        </p:txBody>
      </p:sp>
      <p:sp>
        <p:nvSpPr>
          <p:cNvPr id="3" name="Text Placeholder 2"/>
          <p:cNvSpPr>
            <a:spLocks noGrp="1"/>
          </p:cNvSpPr>
          <p:nvPr>
            <p:ph type="body" idx="13" sz="quarter"/>
          </p:nvPr>
        </p:nvSpPr>
        <p:spPr/>
        <p:txBody>
          <a:bodyPr/>
          <a:lstStyle/>
          <a:p>
            <a:pPr>
              <a:spcBef>
                <a:spcPts val="400"/>
              </a:spcBef>
              <a:buChar char="•"/>
            </a:pPr>
            <a:r>
              <a:rPr>
                <a:latin typeface="Arial"/>
              </a:rPr>
              <a:t>Time &amp; Materials: discovery, evolving requirements</a:t>
            </a:r>
          </a:p>
          <a:p>
            <a:pPr>
              <a:spcBef>
                <a:spcPts val="400"/>
              </a:spcBef>
              <a:buChar char="•"/>
            </a:pPr>
            <a:r>
              <a:rPr>
                <a:latin typeface="Arial"/>
              </a:rPr>
              <a:t>Fixed Price: defined scope and outcomes</a:t>
            </a:r>
          </a:p>
          <a:p>
            <a:pPr>
              <a:spcBef>
                <a:spcPts val="400"/>
              </a:spcBef>
              <a:buChar char="•"/>
            </a:pPr>
            <a:r>
              <a:rPr>
                <a:latin typeface="Arial"/>
              </a:rPr>
              <a:t>Fixed Capacity: stable teams, controlled budget</a:t>
            </a:r>
          </a:p>
        </p:txBody>
      </p:sp>
      <p:sp>
        <p:nvSpPr>
          <p:cNvPr id="4" name="Text Placeholder 3"/>
          <p:cNvSpPr>
            <a:spLocks noGrp="1"/>
          </p:cNvSpPr>
          <p:nvPr>
            <p:ph type="body" idx="12" sz="quarter"/>
          </p:nvPr>
        </p:nvSpPr>
        <p:spPr/>
        <p:txBody>
          <a:bodyPr/>
          <a:lstStyle/>
          <a:p>
            <a:pPr>
              <a:spcBef>
                <a:spcPts val="400"/>
              </a:spcBef>
              <a:buChar char="•"/>
            </a:pPr>
            <a:r>
              <a:rPr>
                <a:latin typeface="Arial"/>
              </a:rPr>
              <a:t>Supplier-led: managed services and support</a:t>
            </a:r>
          </a:p>
          <a:p>
            <a:pPr>
              <a:spcBef>
                <a:spcPts val="400"/>
              </a:spcBef>
              <a:buChar char="•"/>
            </a:pPr>
            <a:r>
              <a:rPr>
                <a:latin typeface="Arial"/>
              </a:rPr>
              <a:t>Stage-fit pricing reduces risk and improves predictability</a:t>
            </a:r>
          </a:p>
          <a:p>
            <a:pPr>
              <a:spcBef>
                <a:spcPts val="400"/>
              </a:spcBef>
              <a:buChar char="•"/>
            </a:pPr>
            <a:r>
              <a:rPr>
                <a:latin typeface="Arial"/>
              </a:rPr>
              <a:t>We align commercials to delivery approach and governance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commercial assumptions and terms</a:t>
            </a:r>
          </a:p>
        </p:txBody>
      </p:sp>
      <p:sp>
        <p:nvSpPr>
          <p:cNvPr id="3" name="Text Placeholder 2"/>
          <p:cNvSpPr>
            <a:spLocks noGrp="1"/>
          </p:cNvSpPr>
          <p:nvPr>
            <p:ph type="body" idx="13" sz="quarter"/>
          </p:nvPr>
        </p:nvSpPr>
        <p:spPr/>
        <p:txBody>
          <a:bodyPr/>
          <a:lstStyle/>
          <a:p>
            <a:pPr>
              <a:spcBef>
                <a:spcPts val="400"/>
              </a:spcBef>
              <a:buChar char="•"/>
            </a:pPr>
            <a:r>
              <a:rPr>
                <a:latin typeface="Arial"/>
              </a:rPr>
              <a:t>Standard role definitions per framework</a:t>
            </a:r>
          </a:p>
          <a:p>
            <a:pPr>
              <a:spcBef>
                <a:spcPts val="400"/>
              </a:spcBef>
              <a:buChar char="•"/>
            </a:pPr>
            <a:r>
              <a:rPr>
                <a:latin typeface="Arial"/>
              </a:rPr>
              <a:t>Inclusive of all delivery costs</a:t>
            </a:r>
          </a:p>
          <a:p>
            <a:pPr>
              <a:spcBef>
                <a:spcPts val="400"/>
              </a:spcBef>
              <a:buChar char="•"/>
            </a:pPr>
            <a:r>
              <a:rPr>
                <a:latin typeface="Arial"/>
              </a:rPr>
              <a:t>8-hour working day</a:t>
            </a:r>
          </a:p>
          <a:p>
            <a:pPr>
              <a:spcBef>
                <a:spcPts val="400"/>
              </a:spcBef>
              <a:buChar char="•"/>
            </a:pPr>
            <a:r>
              <a:rPr>
                <a:latin typeface="Arial"/>
              </a:rPr>
              <a:t>Normal delivery environments</a:t>
            </a:r>
          </a:p>
          <a:p>
            <a:pPr>
              <a:spcBef>
                <a:spcPts val="400"/>
              </a:spcBef>
              <a:buChar char="•"/>
            </a:pPr>
            <a:r>
              <a:rPr>
                <a:latin typeface="Arial"/>
              </a:rPr>
              <a:t>Innovation fund contribution included</a:t>
            </a:r>
          </a:p>
          <a:p>
            <a:pPr>
              <a:spcBef>
                <a:spcPts val="400"/>
              </a:spcBef>
              <a:buChar char="•"/>
            </a:pPr>
            <a:r>
              <a:rPr>
                <a:latin typeface="Arial"/>
              </a:rPr>
              <a:t>Transparent reporting and invoicing</a:t>
            </a:r>
          </a:p>
          <a:p>
            <a:pPr>
              <a:spcBef>
                <a:spcPts val="400"/>
              </a:spcBef>
              <a:buChar char="•"/>
            </a:pPr>
            <a:r>
              <a:rPr>
                <a:latin typeface="Arial"/>
              </a:rPr>
              <a:t>Volume discounts for sustained delivery</a:t>
            </a:r>
          </a:p>
        </p:txBody>
      </p:sp>
      <p:sp>
        <p:nvSpPr>
          <p:cNvPr id="4" name="Text Placeholder 3"/>
          <p:cNvSpPr>
            <a:spLocks noGrp="1"/>
          </p:cNvSpPr>
          <p:nvPr>
            <p:ph type="body" idx="12" sz="quarter"/>
          </p:nvPr>
        </p:nvSpPr>
        <p:spPr/>
        <p:txBody>
          <a:bodyPr/>
          <a:lstStyle/>
          <a:p>
            <a:pPr>
              <a:spcBef>
                <a:spcPts val="400"/>
              </a:spcBef>
              <a:buChar char="•"/>
            </a:pPr>
            <a:r>
              <a:rPr>
                <a:latin typeface="Arial"/>
              </a:rPr>
              <a:t>Specialist assurance may adjust rates</a:t>
            </a:r>
          </a:p>
          <a:p>
            <a:pPr>
              <a:spcBef>
                <a:spcPts val="400"/>
              </a:spcBef>
              <a:buChar char="•"/>
            </a:pPr>
            <a:r>
              <a:rPr>
                <a:latin typeface="Arial"/>
              </a:rPr>
              <a:t>Mobilisation requirements may affect cost</a:t>
            </a:r>
          </a:p>
          <a:p>
            <a:pPr>
              <a:spcBef>
                <a:spcPts val="400"/>
              </a:spcBef>
              <a:buChar char="•"/>
            </a:pPr>
            <a:r>
              <a:rPr>
                <a:latin typeface="Arial"/>
              </a:rPr>
              <a:t>Rates refined at call-off if needed</a:t>
            </a:r>
          </a:p>
          <a:p>
            <a:pPr>
              <a:spcBef>
                <a:spcPts val="400"/>
              </a:spcBef>
              <a:buChar char="•"/>
            </a:pPr>
            <a:r>
              <a:rPr>
                <a:latin typeface="Arial"/>
              </a:rPr>
              <a:t>Discounts for longer-term engagements</a:t>
            </a:r>
          </a:p>
          <a:p>
            <a:pPr>
              <a:spcBef>
                <a:spcPts val="400"/>
              </a:spcBef>
              <a:buChar char="•"/>
            </a:pPr>
            <a:r>
              <a:rPr>
                <a:latin typeface="Arial"/>
              </a:rPr>
              <a:t>KPIs and milestones for payment</a:t>
            </a:r>
          </a:p>
          <a:p>
            <a:pPr>
              <a:spcBef>
                <a:spcPts val="400"/>
              </a:spcBef>
              <a:buChar char="•"/>
            </a:pPr>
            <a:r>
              <a:rPr>
                <a:latin typeface="Arial"/>
              </a:rPr>
              <a:t>Call-off process for bespoke needs</a:t>
            </a:r>
          </a:p>
          <a:p>
            <a:pPr>
              <a:spcBef>
                <a:spcPts val="400"/>
              </a:spcBef>
              <a:buChar char="•"/>
            </a:pPr>
            <a:r>
              <a:rPr>
                <a:latin typeface="Arial"/>
              </a:rPr>
              <a:t>Aligned to ISIP Pricing Template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Indicative pricing structure</a:t>
            </a:r>
          </a:p>
        </p:txBody>
      </p:sp>
      <p:sp>
        <p:nvSpPr>
          <p:cNvPr id="3" name="Text Placeholder 2"/>
          <p:cNvSpPr>
            <a:spLocks noGrp="1"/>
          </p:cNvSpPr>
          <p:nvPr>
            <p:ph type="body" idx="12" sz="quarter"/>
          </p:nvPr>
        </p:nvSpPr>
        <p:spPr/>
        <p:txBody>
          <a:bodyPr/>
          <a:lstStyle/>
          <a:p>
            <a:pPr>
              <a:spcBef>
                <a:spcPts val="400"/>
              </a:spcBef>
              <a:buChar char="•"/>
            </a:pPr>
            <a:r>
              <a:rPr>
                <a:latin typeface="Arial"/>
              </a:rPr>
              <a:t>Discovery (Scenario 1): T&amp;M, blended day rates by role</a:t>
            </a:r>
          </a:p>
          <a:p>
            <a:pPr>
              <a:spcBef>
                <a:spcPts val="400"/>
              </a:spcBef>
              <a:buChar char="•"/>
            </a:pPr>
            <a:r>
              <a:rPr>
                <a:latin typeface="Arial"/>
              </a:rPr>
              <a:t>Innovation Window (Scenario 2): fixed capacity team for 12 weeks</a:t>
            </a:r>
          </a:p>
          <a:p>
            <a:pPr>
              <a:spcBef>
                <a:spcPts val="400"/>
              </a:spcBef>
              <a:buChar char="•"/>
            </a:pPr>
            <a:r>
              <a:rPr>
                <a:latin typeface="Arial"/>
              </a:rPr>
              <a:t>Team composition flexes by phase and complexity</a:t>
            </a:r>
          </a:p>
          <a:p>
            <a:pPr>
              <a:spcBef>
                <a:spcPts val="400"/>
              </a:spcBef>
              <a:buChar char="•"/>
            </a:pPr>
            <a:r>
              <a:rPr>
                <a:latin typeface="Arial"/>
              </a:rPr>
              <a:t>Estimated total provided in ISIP Pricing Template</a:t>
            </a:r>
          </a:p>
          <a:p>
            <a:pPr>
              <a:spcBef>
                <a:spcPts val="400"/>
              </a:spcBef>
              <a:buChar char="•"/>
            </a:pPr>
            <a:r>
              <a:rPr>
                <a:latin typeface="Arial"/>
              </a:rPr>
              <a:t>Payment milestones linked to agreed deliverables</a:t>
            </a:r>
          </a:p>
          <a:p>
            <a:pPr>
              <a:spcBef>
                <a:spcPts val="400"/>
              </a:spcBef>
              <a:buChar char="•"/>
            </a:pPr>
            <a:r>
              <a:rPr>
                <a:latin typeface="Arial"/>
              </a:rPr>
              <a:t>All rates and assumptions detailed in submission</a:t>
            </a:r>
          </a:p>
          <a:p>
            <a:pPr>
              <a:spcBef>
                <a:spcPts val="400"/>
              </a:spcBef>
              <a:buChar char="•"/>
            </a:pPr>
            <a:r>
              <a:rPr>
                <a:latin typeface="Arial"/>
              </a:rPr>
              <a:t>Volume discounts applied for sustained delivery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and isn't included</a:t>
            </a:r>
          </a:p>
        </p:txBody>
      </p:sp>
      <p:sp>
        <p:nvSpPr>
          <p:cNvPr id="3" name="Text Placeholder 2"/>
          <p:cNvSpPr>
            <a:spLocks noGrp="1"/>
          </p:cNvSpPr>
          <p:nvPr>
            <p:ph type="body" idx="13" sz="quarter"/>
          </p:nvPr>
        </p:nvSpPr>
        <p:spPr/>
        <p:txBody>
          <a:bodyPr/>
          <a:lstStyle/>
          <a:p>
            <a:pPr>
              <a:spcBef>
                <a:spcPts val="400"/>
              </a:spcBef>
              <a:buChar char="•"/>
            </a:pPr>
            <a:r>
              <a:rPr>
                <a:latin typeface="Arial"/>
              </a:rPr>
              <a:t>All standard delivery costs</a:t>
            </a:r>
          </a:p>
          <a:p>
            <a:pPr>
              <a:spcBef>
                <a:spcPts val="400"/>
              </a:spcBef>
              <a:buChar char="•"/>
            </a:pPr>
            <a:r>
              <a:rPr>
                <a:latin typeface="Arial"/>
              </a:rPr>
              <a:t>Knowledge transfer and documentation</a:t>
            </a:r>
          </a:p>
          <a:p>
            <a:pPr>
              <a:spcBef>
                <a:spcPts val="400"/>
              </a:spcBef>
              <a:buChar char="•"/>
            </a:pPr>
            <a:r>
              <a:rPr>
                <a:latin typeface="Arial"/>
              </a:rPr>
              <a:t>On-site and remote delivery as required</a:t>
            </a:r>
          </a:p>
          <a:p>
            <a:pPr>
              <a:spcBef>
                <a:spcPts val="400"/>
              </a:spcBef>
              <a:buChar char="•"/>
            </a:pPr>
            <a:r>
              <a:rPr>
                <a:latin typeface="Arial"/>
              </a:rPr>
              <a:t>Access to IBM and Stable accelerators</a:t>
            </a:r>
          </a:p>
          <a:p>
            <a:pPr>
              <a:spcBef>
                <a:spcPts val="400"/>
              </a:spcBef>
              <a:buChar char="•"/>
            </a:pPr>
            <a:r>
              <a:rPr>
                <a:latin typeface="Arial"/>
              </a:rPr>
              <a:t>Continuous reporting and governance</a:t>
            </a:r>
          </a:p>
          <a:p>
            <a:pPr>
              <a:spcBef>
                <a:spcPts val="400"/>
              </a:spcBef>
              <a:buChar char="•"/>
            </a:pPr>
            <a:r>
              <a:rPr>
                <a:latin typeface="Arial"/>
              </a:rPr>
              <a:t>Innovation fund contribution</a:t>
            </a:r>
          </a:p>
          <a:p>
            <a:pPr>
              <a:spcBef>
                <a:spcPts val="400"/>
              </a:spcBef>
              <a:buChar char="•"/>
            </a:pPr>
            <a:r>
              <a:rPr>
                <a:latin typeface="Arial"/>
              </a:rPr>
              <a:t>Sustainability and social value commitments</a:t>
            </a:r>
          </a:p>
        </p:txBody>
      </p:sp>
      <p:sp>
        <p:nvSpPr>
          <p:cNvPr id="4" name="Text Placeholder 3"/>
          <p:cNvSpPr>
            <a:spLocks noGrp="1"/>
          </p:cNvSpPr>
          <p:nvPr>
            <p:ph type="body" idx="12" sz="quarter"/>
          </p:nvPr>
        </p:nvSpPr>
        <p:spPr/>
        <p:txBody>
          <a:bodyPr/>
          <a:lstStyle/>
          <a:p>
            <a:pPr>
              <a:spcBef>
                <a:spcPts val="400"/>
              </a:spcBef>
              <a:buChar char="•"/>
            </a:pPr>
            <a:r>
              <a:rPr>
                <a:latin typeface="Arial"/>
              </a:rPr>
              <a:t>Specialist assurance outside standard scope</a:t>
            </a:r>
          </a:p>
          <a:p>
            <a:pPr>
              <a:spcBef>
                <a:spcPts val="400"/>
              </a:spcBef>
              <a:buChar char="•"/>
            </a:pPr>
            <a:r>
              <a:rPr>
                <a:latin typeface="Arial"/>
              </a:rPr>
              <a:t>Unusual mobilisation requirements</a:t>
            </a:r>
          </a:p>
          <a:p>
            <a:pPr>
              <a:spcBef>
                <a:spcPts val="400"/>
              </a:spcBef>
              <a:buChar char="•"/>
            </a:pPr>
            <a:r>
              <a:rPr>
                <a:latin typeface="Arial"/>
              </a:rPr>
              <a:t>Sustained volume demand may adjust rates</a:t>
            </a:r>
          </a:p>
          <a:p>
            <a:pPr>
              <a:spcBef>
                <a:spcPts val="400"/>
              </a:spcBef>
              <a:buChar char="•"/>
            </a:pPr>
            <a:r>
              <a:rPr>
                <a:latin typeface="Arial"/>
              </a:rPr>
              <a:t>Bespoke integrations not in initial scope</a:t>
            </a:r>
          </a:p>
          <a:p>
            <a:pPr>
              <a:spcBef>
                <a:spcPts val="400"/>
              </a:spcBef>
              <a:buChar char="•"/>
            </a:pPr>
            <a:r>
              <a:rPr>
                <a:latin typeface="Arial"/>
              </a:rPr>
              <a:t>Third-party licensing costs</a:t>
            </a:r>
          </a:p>
          <a:p>
            <a:pPr>
              <a:spcBef>
                <a:spcPts val="400"/>
              </a:spcBef>
              <a:buChar char="•"/>
            </a:pPr>
            <a:r>
              <a:rPr>
                <a:latin typeface="Arial"/>
              </a:rPr>
              <a:t>Major changes to requirements post-mobilisation</a:t>
            </a:r>
          </a:p>
          <a:p>
            <a:pPr>
              <a:spcBef>
                <a:spcPts val="400"/>
              </a:spcBef>
              <a:buChar char="•"/>
            </a:pPr>
            <a:r>
              <a:rPr>
                <a:latin typeface="Arial"/>
              </a:rPr>
              <a:t>Additional support beyond agreed phases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Call-off mechanism and next steps</a:t>
            </a:r>
          </a:p>
        </p:txBody>
      </p:sp>
      <p:sp>
        <p:nvSpPr>
          <p:cNvPr id="3" name="Text Placeholder 2"/>
          <p:cNvSpPr>
            <a:spLocks noGrp="1"/>
          </p:cNvSpPr>
          <p:nvPr>
            <p:ph type="body" idx="13" sz="quarter"/>
          </p:nvPr>
        </p:nvSpPr>
        <p:spPr/>
        <p:txBody>
          <a:bodyPr/>
          <a:lstStyle/>
          <a:p>
            <a:pPr>
              <a:spcBef>
                <a:spcPts val="400"/>
              </a:spcBef>
              <a:buChar char="•"/>
            </a:pPr>
            <a:r>
              <a:rPr>
                <a:latin typeface="Arial"/>
              </a:rPr>
              <a:t>Framework call-off for scenario-specific engagements</a:t>
            </a:r>
          </a:p>
          <a:p>
            <a:pPr>
              <a:spcBef>
                <a:spcPts val="400"/>
              </a:spcBef>
              <a:buChar char="•"/>
            </a:pPr>
            <a:r>
              <a:rPr>
                <a:latin typeface="Arial"/>
              </a:rPr>
              <a:t>Refine scope and pricing at call-off</a:t>
            </a:r>
          </a:p>
          <a:p>
            <a:pPr>
              <a:spcBef>
                <a:spcPts val="400"/>
              </a:spcBef>
              <a:buChar char="•"/>
            </a:pPr>
            <a:r>
              <a:rPr>
                <a:latin typeface="Arial"/>
              </a:rPr>
              <a:t>Agree KPIs, milestones, and reporting</a:t>
            </a:r>
          </a:p>
          <a:p>
            <a:pPr>
              <a:spcBef>
                <a:spcPts val="400"/>
              </a:spcBef>
              <a:buChar char="•"/>
            </a:pPr>
            <a:r>
              <a:rPr>
                <a:latin typeface="Arial"/>
              </a:rPr>
              <a:t>Mobilise blended teams with NRW</a:t>
            </a:r>
          </a:p>
          <a:p>
            <a:pPr>
              <a:spcBef>
                <a:spcPts val="400"/>
              </a:spcBef>
              <a:buChar char="•"/>
            </a:pPr>
            <a:r>
              <a:rPr>
                <a:latin typeface="Arial"/>
              </a:rPr>
              <a:t>Continuous dialogue on delivery model</a:t>
            </a:r>
          </a:p>
        </p:txBody>
      </p:sp>
      <p:sp>
        <p:nvSpPr>
          <p:cNvPr id="4" name="Text Placeholder 3"/>
          <p:cNvSpPr>
            <a:spLocks noGrp="1"/>
          </p:cNvSpPr>
          <p:nvPr>
            <p:ph type="body" idx="12" sz="quarter"/>
          </p:nvPr>
        </p:nvSpPr>
        <p:spPr/>
        <p:txBody>
          <a:bodyPr/>
          <a:lstStyle/>
          <a:p>
            <a:pPr>
              <a:spcBef>
                <a:spcPts val="400"/>
              </a:spcBef>
              <a:buChar char="•"/>
            </a:pPr>
            <a:r>
              <a:rPr>
                <a:latin typeface="Arial"/>
              </a:rPr>
              <a:t>NRW: review and confirm preferred commercial model</a:t>
            </a:r>
          </a:p>
          <a:p>
            <a:pPr>
              <a:spcBef>
                <a:spcPts val="400"/>
              </a:spcBef>
              <a:buChar char="•"/>
            </a:pPr>
            <a:r>
              <a:rPr>
                <a:latin typeface="Arial"/>
              </a:rPr>
              <a:t>NRW: provide feedback on proposal</a:t>
            </a:r>
          </a:p>
          <a:p>
            <a:pPr>
              <a:spcBef>
                <a:spcPts val="400"/>
              </a:spcBef>
              <a:buChar char="•"/>
            </a:pPr>
            <a:r>
              <a:rPr>
                <a:latin typeface="Arial"/>
              </a:rPr>
              <a:t>IBM/Stable: finalise team mobilisation plan</a:t>
            </a:r>
          </a:p>
          <a:p>
            <a:pPr>
              <a:spcBef>
                <a:spcPts val="400"/>
              </a:spcBef>
              <a:buChar char="•"/>
            </a:pPr>
            <a:r>
              <a:rPr>
                <a:latin typeface="Arial"/>
              </a:rPr>
              <a:t>Jointly agree governance and reporting cadence</a:t>
            </a:r>
          </a:p>
          <a:p>
            <a:pPr>
              <a:spcBef>
                <a:spcPts val="400"/>
              </a:spcBef>
              <a:buChar char="•"/>
            </a:pPr>
            <a:r>
              <a:rPr>
                <a:latin typeface="Arial"/>
              </a:rPr>
              <a:t>Set up initial discovery or innovation window</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 Sustainability &amp; Social Value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and social value are core to our approach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sustainability and social value commitments</a:t>
            </a:r>
          </a:p>
        </p:txBody>
      </p:sp>
      <p:sp>
        <p:nvSpPr>
          <p:cNvPr id="3" name="Content Placeholder 2"/>
          <p:cNvSpPr>
            <a:spLocks noGrp="1"/>
          </p:cNvSpPr>
          <p:nvPr>
            <p:ph idx="17" sz="quarter"/>
          </p:nvPr>
        </p:nvSpPr>
        <p:spPr/>
        <p:txBody>
          <a:bodyPr/>
          <a:lstStyle/>
          <a:p>
            <a:pPr>
              <a:spcBef>
                <a:spcPts val="400"/>
              </a:spcBef>
            </a:pPr>
            <a:r>
              <a:rPr>
                <a:latin typeface="Arial"/>
              </a:rPr>
              <a:t>Net-Zero by Design</a:t>
            </a:r>
            <a:br/>
            <a:r>
              <a:rPr>
                <a:latin typeface="Arial"/>
              </a:rPr>
              <a:t>['Cloud platforms reduce carbon footprint', 'FinOps and GreenOps for cost and impact', 'Formal carbon reduction plans in place']</a:t>
            </a:r>
          </a:p>
        </p:txBody>
      </p:sp>
      <p:sp>
        <p:nvSpPr>
          <p:cNvPr id="4" name="Content Placeholder 3"/>
          <p:cNvSpPr>
            <a:spLocks noGrp="1"/>
          </p:cNvSpPr>
          <p:nvPr>
            <p:ph idx="18" sz="quarter"/>
          </p:nvPr>
        </p:nvSpPr>
        <p:spPr/>
        <p:txBody>
          <a:bodyPr/>
          <a:lstStyle/>
          <a:p>
            <a:pPr>
              <a:spcBef>
                <a:spcPts val="400"/>
              </a:spcBef>
            </a:pPr>
            <a:r>
              <a:rPr>
                <a:latin typeface="Arial"/>
              </a:rPr>
              <a:t>Welsh-Language Service</a:t>
            </a:r>
            <a:br/>
            <a:r>
              <a:rPr>
                <a:latin typeface="Arial"/>
              </a:rPr>
              <a:t>['Bilingual delivery by Stable', 'Cultural alignment with Welsh communities', 'Accessible, inclusive digital services']</a:t>
            </a:r>
          </a:p>
        </p:txBody>
      </p:sp>
      <p:sp>
        <p:nvSpPr>
          <p:cNvPr id="5" name="Content Placeholder 4"/>
          <p:cNvSpPr>
            <a:spLocks noGrp="1"/>
          </p:cNvSpPr>
          <p:nvPr>
            <p:ph idx="20" sz="quarter"/>
          </p:nvPr>
        </p:nvSpPr>
        <p:spPr/>
        <p:txBody>
          <a:bodyPr/>
          <a:lstStyle/>
          <a:p>
            <a:pPr>
              <a:spcBef>
                <a:spcPts val="400"/>
              </a:spcBef>
            </a:pPr>
            <a:r>
              <a:rPr>
                <a:latin typeface="Arial"/>
              </a:rPr>
              <a:t>Social Value in Wales</a:t>
            </a:r>
            <a:br/>
            <a:r>
              <a:rPr>
                <a:latin typeface="Arial"/>
              </a:rPr>
              <a:t>['Local employment and skills development', 'Support for Welsh SMEs and social enterprises', 'Internship pathways and youth engagement']</a:t>
            </a:r>
          </a:p>
        </p:txBody>
      </p:sp>
      <p:sp>
        <p:nvSpPr>
          <p:cNvPr id="6" name="Content Placeholder 5"/>
          <p:cNvSpPr>
            <a:spLocks noGrp="1"/>
          </p:cNvSpPr>
          <p:nvPr>
            <p:ph idx="19" sz="quarter"/>
          </p:nvPr>
        </p:nvSpPr>
        <p:spPr/>
        <p:txBody>
          <a:bodyPr/>
          <a:lstStyle/>
          <a:p>
            <a:pPr>
              <a:spcBef>
                <a:spcPts val="400"/>
              </a:spcBef>
            </a:pPr>
            <a:r>
              <a:rPr>
                <a:latin typeface="Arial"/>
              </a:rPr>
              <a:t>Community Benefit</a:t>
            </a:r>
            <a:br/>
            <a:r>
              <a:rPr>
                <a:latin typeface="Arial"/>
              </a:rPr>
              <a:t>['Charity support and volunteering', 'Active participation in digital skills initiatives', 'Transparent reporting on outcomes']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Stable’s social value delivery in Wales</a:t>
            </a:r>
          </a:p>
        </p:txBody>
      </p:sp>
      <p:sp>
        <p:nvSpPr>
          <p:cNvPr id="3" name="Content Placeholder 2"/>
          <p:cNvSpPr>
            <a:spLocks noGrp="1"/>
          </p:cNvSpPr>
          <p:nvPr>
            <p:ph idx="17" sz="quarter"/>
          </p:nvPr>
        </p:nvSpPr>
        <p:spPr/>
        <p:txBody>
          <a:bodyPr/>
          <a:lstStyle/>
          <a:p>
            <a:pPr>
              <a:spcBef>
                <a:spcPts val="400"/>
              </a:spcBef>
            </a:pPr>
            <a:r>
              <a:rPr>
                <a:latin typeface="Arial"/>
              </a:rPr>
              <a:t>Local leadership &amp; workforce</a:t>
            </a:r>
            <a:br/>
            <a:r>
              <a:rPr>
                <a:latin typeface="Arial"/>
              </a:rPr>
              <a:t>Cardiff HQ; Welsh-speaking leadership; retain Welsh-based talent</a:t>
            </a:r>
          </a:p>
        </p:txBody>
      </p:sp>
      <p:sp>
        <p:nvSpPr>
          <p:cNvPr id="4" name="Content Placeholder 3"/>
          <p:cNvSpPr>
            <a:spLocks noGrp="1"/>
          </p:cNvSpPr>
          <p:nvPr>
            <p:ph idx="18" sz="quarter"/>
          </p:nvPr>
        </p:nvSpPr>
        <p:spPr/>
        <p:txBody>
          <a:bodyPr/>
          <a:lstStyle/>
          <a:p>
            <a:pPr>
              <a:spcBef>
                <a:spcPts val="400"/>
              </a:spcBef>
            </a:pPr>
            <a:r>
              <a:rPr>
                <a:latin typeface="Arial"/>
              </a:rPr>
              <a:t>Partnering with Welsh organisations</a:t>
            </a:r>
            <a:br/>
            <a:r>
              <a:rPr>
                <a:latin typeface="Arial"/>
              </a:rPr>
              <a:t>Works with Welsh SMEs &amp; social enterprises; supports charities</a:t>
            </a:r>
          </a:p>
        </p:txBody>
      </p:sp>
      <p:sp>
        <p:nvSpPr>
          <p:cNvPr id="5" name="Content Placeholder 4"/>
          <p:cNvSpPr>
            <a:spLocks noGrp="1"/>
          </p:cNvSpPr>
          <p:nvPr>
            <p:ph idx="20" sz="quarter"/>
          </p:nvPr>
        </p:nvSpPr>
        <p:spPr/>
        <p:txBody>
          <a:bodyPr/>
          <a:lstStyle/>
          <a:p>
            <a:pPr>
              <a:spcBef>
                <a:spcPts val="400"/>
              </a:spcBef>
            </a:pPr>
            <a:r>
              <a:rPr>
                <a:latin typeface="Arial"/>
              </a:rPr>
              <a:t>Skills &amp; youth pathways</a:t>
            </a:r>
            <a:br/>
            <a:r>
              <a:rPr>
                <a:latin typeface="Arial"/>
              </a:rPr>
              <a:t>Internships with local universities; youth skills and school partnerships</a:t>
            </a:r>
          </a:p>
        </p:txBody>
      </p:sp>
      <p:sp>
        <p:nvSpPr>
          <p:cNvPr id="6" name="Content Placeholder 5"/>
          <p:cNvSpPr>
            <a:spLocks noGrp="1"/>
          </p:cNvSpPr>
          <p:nvPr>
            <p:ph idx="19" sz="quarter"/>
          </p:nvPr>
        </p:nvSpPr>
        <p:spPr/>
        <p:txBody>
          <a:bodyPr/>
          <a:lstStyle/>
          <a:p>
            <a:pPr>
              <a:spcBef>
                <a:spcPts val="400"/>
              </a:spcBef>
            </a:pPr>
            <a:r>
              <a:rPr>
                <a:latin typeface="Arial"/>
              </a:rPr>
              <a:t>Digital careers for young people</a:t>
            </a:r>
            <a:br/>
            <a:r>
              <a:rPr>
                <a:latin typeface="Arial"/>
              </a:rPr>
              <a:t>Promotes digital careers via DigiGirlz and Scouts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we measure sustainability and social value</a:t>
            </a:r>
          </a:p>
        </p:txBody>
      </p:sp>
      <p:sp>
        <p:nvSpPr>
          <p:cNvPr id="3" name="Text Placeholder 2"/>
          <p:cNvSpPr>
            <a:spLocks noGrp="1"/>
          </p:cNvSpPr>
          <p:nvPr>
            <p:ph type="body" idx="13" sz="quarter"/>
          </p:nvPr>
        </p:nvSpPr>
        <p:spPr/>
        <p:txBody>
          <a:bodyPr/>
          <a:lstStyle/>
          <a:p>
            <a:pPr>
              <a:spcBef>
                <a:spcPts val="400"/>
              </a:spcBef>
              <a:buChar char="•"/>
            </a:pPr>
            <a:r>
              <a:rPr>
                <a:latin typeface="Arial"/>
              </a:rPr>
              <a:t>Carbon impact of digital services</a:t>
            </a:r>
          </a:p>
          <a:p>
            <a:pPr>
              <a:spcBef>
                <a:spcPts val="400"/>
              </a:spcBef>
              <a:buChar char="•"/>
            </a:pPr>
            <a:r>
              <a:rPr>
                <a:latin typeface="Arial"/>
              </a:rPr>
              <a:t>Local supplier participation rates</a:t>
            </a:r>
          </a:p>
          <a:p>
            <a:pPr>
              <a:spcBef>
                <a:spcPts val="400"/>
              </a:spcBef>
              <a:buChar char="•"/>
            </a:pPr>
            <a:r>
              <a:rPr>
                <a:latin typeface="Arial"/>
              </a:rPr>
              <a:t>Skills uplift and training outcomes</a:t>
            </a:r>
          </a:p>
          <a:p>
            <a:pPr>
              <a:spcBef>
                <a:spcPts val="400"/>
              </a:spcBef>
              <a:buChar char="•"/>
            </a:pPr>
            <a:r>
              <a:rPr>
                <a:latin typeface="Arial"/>
              </a:rPr>
              <a:t>Internship and employment metrics</a:t>
            </a:r>
          </a:p>
          <a:p>
            <a:pPr>
              <a:spcBef>
                <a:spcPts val="400"/>
              </a:spcBef>
              <a:buChar char="•"/>
            </a:pPr>
            <a:r>
              <a:rPr>
                <a:latin typeface="Arial"/>
              </a:rPr>
              <a:t>Charity and community engagement hours</a:t>
            </a:r>
          </a:p>
          <a:p>
            <a:pPr>
              <a:spcBef>
                <a:spcPts val="400"/>
              </a:spcBef>
              <a:buChar char="•"/>
            </a:pPr>
            <a:r>
              <a:rPr>
                <a:latin typeface="Arial"/>
              </a:rPr>
              <a:t>Welsh-language service adoption</a:t>
            </a:r>
          </a:p>
          <a:p>
            <a:pPr>
              <a:spcBef>
                <a:spcPts val="400"/>
              </a:spcBef>
              <a:buChar char="•"/>
            </a:pPr>
            <a:r>
              <a:rPr>
                <a:latin typeface="Arial"/>
              </a:rPr>
              <a:t>Sustainability KPIs tracked at call-off</a:t>
            </a:r>
          </a:p>
        </p:txBody>
      </p:sp>
      <p:sp>
        <p:nvSpPr>
          <p:cNvPr id="4" name="Text Placeholder 3"/>
          <p:cNvSpPr>
            <a:spLocks noGrp="1"/>
          </p:cNvSpPr>
          <p:nvPr>
            <p:ph type="body" idx="12" sz="quarter"/>
          </p:nvPr>
        </p:nvSpPr>
        <p:spPr/>
        <p:txBody>
          <a:bodyPr/>
          <a:lstStyle/>
          <a:p>
            <a:pPr>
              <a:spcBef>
                <a:spcPts val="400"/>
              </a:spcBef>
              <a:buChar char="•"/>
            </a:pPr>
            <a:r>
              <a:rPr>
                <a:latin typeface="Arial"/>
              </a:rPr>
              <a:t>Service-level reporting on carbon and cost</a:t>
            </a:r>
          </a:p>
          <a:p>
            <a:pPr>
              <a:spcBef>
                <a:spcPts val="400"/>
              </a:spcBef>
              <a:buChar char="•"/>
            </a:pPr>
            <a:r>
              <a:rPr>
                <a:latin typeface="Arial"/>
              </a:rPr>
              <a:t>Transparent tracking of social value actions</a:t>
            </a:r>
          </a:p>
          <a:p>
            <a:pPr>
              <a:spcBef>
                <a:spcPts val="400"/>
              </a:spcBef>
              <a:buChar char="•"/>
            </a:pPr>
            <a:r>
              <a:rPr>
                <a:latin typeface="Arial"/>
              </a:rPr>
              <a:t>Continuous improvement and feedback loops</a:t>
            </a:r>
          </a:p>
          <a:p>
            <a:pPr>
              <a:spcBef>
                <a:spcPts val="400"/>
              </a:spcBef>
              <a:buChar char="•"/>
            </a:pPr>
            <a:r>
              <a:rPr>
                <a:latin typeface="Arial"/>
              </a:rPr>
              <a:t>Proportionate commitments by engagement size</a:t>
            </a:r>
          </a:p>
          <a:p>
            <a:pPr>
              <a:spcBef>
                <a:spcPts val="400"/>
              </a:spcBef>
              <a:buChar char="•"/>
            </a:pPr>
            <a:r>
              <a:rPr>
                <a:latin typeface="Arial"/>
              </a:rPr>
              <a:t>Formal governance for sustainability</a:t>
            </a:r>
          </a:p>
          <a:p>
            <a:pPr>
              <a:spcBef>
                <a:spcPts val="400"/>
              </a:spcBef>
              <a:buChar char="•"/>
            </a:pPr>
            <a:r>
              <a:rPr>
                <a:latin typeface="Arial"/>
              </a:rPr>
              <a:t>Alignment to framework reporting</a:t>
            </a:r>
          </a:p>
          <a:p>
            <a:pPr>
              <a:spcBef>
                <a:spcPts val="400"/>
              </a:spcBef>
              <a:buChar char="•"/>
            </a:pPr>
            <a:r>
              <a:rPr>
                <a:latin typeface="Arial"/>
              </a:rPr>
              <a:t>Evidence-based impact reviews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Digital delivery supporting NRW’s environmental mission</a:t>
            </a:r>
          </a:p>
        </p:txBody>
      </p:sp>
      <p:sp>
        <p:nvSpPr>
          <p:cNvPr id="3" name="Text Placeholder 2"/>
          <p:cNvSpPr>
            <a:spLocks noGrp="1"/>
          </p:cNvSpPr>
          <p:nvPr>
            <p:ph type="body" idx="13" sz="quarter"/>
          </p:nvPr>
        </p:nvSpPr>
        <p:spPr/>
        <p:txBody>
          <a:bodyPr/>
          <a:lstStyle/>
          <a:p>
            <a:pPr>
              <a:spcBef>
                <a:spcPts val="400"/>
              </a:spcBef>
              <a:buChar char="•"/>
            </a:pPr>
            <a:r>
              <a:rPr>
                <a:latin typeface="Arial"/>
              </a:rPr>
              <a:t>Cloud platforms consolidate infrastructure, reducing emissions</a:t>
            </a:r>
          </a:p>
          <a:p>
            <a:pPr>
              <a:spcBef>
                <a:spcPts val="400"/>
              </a:spcBef>
              <a:buChar char="•"/>
            </a:pPr>
            <a:r>
              <a:rPr>
                <a:latin typeface="Arial"/>
              </a:rPr>
              <a:t>Data platforms enable better resource management</a:t>
            </a:r>
          </a:p>
          <a:p>
            <a:pPr>
              <a:spcBef>
                <a:spcPts val="400"/>
              </a:spcBef>
              <a:buChar char="•"/>
            </a:pPr>
            <a:r>
              <a:rPr>
                <a:latin typeface="Arial"/>
              </a:rPr>
              <a:t>Operational efficiency supports sustainability goals</a:t>
            </a:r>
          </a:p>
          <a:p>
            <a:pPr>
              <a:spcBef>
                <a:spcPts val="400"/>
              </a:spcBef>
              <a:buChar char="•"/>
            </a:pPr>
            <a:r>
              <a:rPr>
                <a:latin typeface="Arial"/>
              </a:rPr>
              <a:t>GreenOps practices optimise energy use</a:t>
            </a:r>
          </a:p>
        </p:txBody>
      </p:sp>
      <p:sp>
        <p:nvSpPr>
          <p:cNvPr id="4" name="Text Placeholder 3"/>
          <p:cNvSpPr>
            <a:spLocks noGrp="1"/>
          </p:cNvSpPr>
          <p:nvPr>
            <p:ph type="body" idx="12" sz="quarter"/>
          </p:nvPr>
        </p:nvSpPr>
        <p:spPr/>
        <p:txBody>
          <a:bodyPr/>
          <a:lstStyle/>
          <a:p>
            <a:pPr>
              <a:spcBef>
                <a:spcPts val="400"/>
              </a:spcBef>
              <a:buChar char="•"/>
            </a:pPr>
            <a:r>
              <a:rPr>
                <a:latin typeface="Arial"/>
              </a:rPr>
              <a:t>Social value embedded in all delivery phases</a:t>
            </a:r>
          </a:p>
          <a:p>
            <a:pPr>
              <a:spcBef>
                <a:spcPts val="400"/>
              </a:spcBef>
              <a:buChar char="•"/>
            </a:pPr>
            <a:r>
              <a:rPr>
                <a:latin typeface="Arial"/>
              </a:rPr>
              <a:t>Local skills development strengthens Welsh economy</a:t>
            </a:r>
          </a:p>
          <a:p>
            <a:pPr>
              <a:spcBef>
                <a:spcPts val="400"/>
              </a:spcBef>
              <a:buChar char="•"/>
            </a:pPr>
            <a:r>
              <a:rPr>
                <a:latin typeface="Arial"/>
              </a:rPr>
              <a:t>Community benefit extends beyond project scope</a:t>
            </a:r>
          </a:p>
          <a:p>
            <a:pPr>
              <a:spcBef>
                <a:spcPts val="400"/>
              </a:spcBef>
              <a:buChar char="•"/>
            </a:pPr>
            <a:r>
              <a:rPr>
                <a:latin typeface="Arial"/>
              </a:rPr>
              <a:t>Digital transformation aligned to public value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and social value: risks and controls</a:t>
            </a:r>
          </a:p>
        </p:txBody>
      </p:sp>
      <p:sp>
        <p:nvSpPr>
          <p:cNvPr id="3" name="Text Placeholder 2"/>
          <p:cNvSpPr>
            <a:spLocks noGrp="1"/>
          </p:cNvSpPr>
          <p:nvPr>
            <p:ph type="body" idx="13" sz="quarter"/>
          </p:nvPr>
        </p:nvSpPr>
        <p:spPr/>
        <p:txBody>
          <a:bodyPr/>
          <a:lstStyle/>
          <a:p>
            <a:pPr>
              <a:spcBef>
                <a:spcPts val="400"/>
              </a:spcBef>
              <a:buChar char="•"/>
            </a:pPr>
            <a:r>
              <a:rPr>
                <a:latin typeface="Arial"/>
              </a:rPr>
              <a:t>Insufficient tracking of commitments</a:t>
            </a:r>
          </a:p>
          <a:p>
            <a:pPr>
              <a:spcBef>
                <a:spcPts val="400"/>
              </a:spcBef>
              <a:buChar char="•"/>
            </a:pPr>
            <a:r>
              <a:rPr>
                <a:latin typeface="Arial"/>
              </a:rPr>
              <a:t>Overly generic social value actions</a:t>
            </a:r>
          </a:p>
          <a:p>
            <a:pPr>
              <a:spcBef>
                <a:spcPts val="400"/>
              </a:spcBef>
              <a:buChar char="•"/>
            </a:pPr>
            <a:r>
              <a:rPr>
                <a:latin typeface="Arial"/>
              </a:rPr>
              <a:t>Lack of local supplier engagement</a:t>
            </a:r>
          </a:p>
          <a:p>
            <a:pPr>
              <a:spcBef>
                <a:spcPts val="400"/>
              </a:spcBef>
              <a:buChar char="•"/>
            </a:pPr>
            <a:r>
              <a:rPr>
                <a:latin typeface="Arial"/>
              </a:rPr>
              <a:t>Carbon reduction not embedded in delivery</a:t>
            </a:r>
          </a:p>
          <a:p>
            <a:pPr>
              <a:spcBef>
                <a:spcPts val="400"/>
              </a:spcBef>
              <a:buChar char="•"/>
            </a:pPr>
            <a:r>
              <a:rPr>
                <a:latin typeface="Arial"/>
              </a:rPr>
              <a:t>Limited community benefit realisation</a:t>
            </a:r>
          </a:p>
          <a:p>
            <a:pPr>
              <a:spcBef>
                <a:spcPts val="400"/>
              </a:spcBef>
              <a:buChar char="•"/>
            </a:pPr>
            <a:r>
              <a:rPr>
                <a:latin typeface="Arial"/>
              </a:rPr>
              <a:t>Inconsistent reporting across call-offs</a:t>
            </a:r>
          </a:p>
          <a:p>
            <a:pPr>
              <a:spcBef>
                <a:spcPts val="400"/>
              </a:spcBef>
              <a:buChar char="•"/>
            </a:pPr>
            <a:r>
              <a:rPr>
                <a:latin typeface="Arial"/>
              </a:rPr>
              <a:t>Difficulty scaling commitments</a:t>
            </a:r>
          </a:p>
        </p:txBody>
      </p:sp>
      <p:sp>
        <p:nvSpPr>
          <p:cNvPr id="4" name="Text Placeholder 3"/>
          <p:cNvSpPr>
            <a:spLocks noGrp="1"/>
          </p:cNvSpPr>
          <p:nvPr>
            <p:ph type="body" idx="12" sz="quarter"/>
          </p:nvPr>
        </p:nvSpPr>
        <p:spPr/>
        <p:txBody>
          <a:bodyPr/>
          <a:lstStyle/>
          <a:p>
            <a:pPr>
              <a:spcBef>
                <a:spcPts val="400"/>
              </a:spcBef>
              <a:buChar char="•"/>
            </a:pPr>
            <a:r>
              <a:rPr>
                <a:latin typeface="Arial"/>
              </a:rPr>
              <a:t>Structured reporting and KPIs</a:t>
            </a:r>
          </a:p>
          <a:p>
            <a:pPr>
              <a:spcBef>
                <a:spcPts val="400"/>
              </a:spcBef>
              <a:buChar char="•"/>
            </a:pPr>
            <a:r>
              <a:rPr>
                <a:latin typeface="Arial"/>
              </a:rPr>
              <a:t>Tailored actions for each engagement</a:t>
            </a:r>
          </a:p>
          <a:p>
            <a:pPr>
              <a:spcBef>
                <a:spcPts val="400"/>
              </a:spcBef>
              <a:buChar char="•"/>
            </a:pPr>
            <a:r>
              <a:rPr>
                <a:latin typeface="Arial"/>
              </a:rPr>
              <a:t>Prioritise Welsh-based delivery and SMEs</a:t>
            </a:r>
          </a:p>
          <a:p>
            <a:pPr>
              <a:spcBef>
                <a:spcPts val="400"/>
              </a:spcBef>
              <a:buChar char="•"/>
            </a:pPr>
            <a:r>
              <a:rPr>
                <a:latin typeface="Arial"/>
              </a:rPr>
              <a:t>GreenOps and FinOps embedded from start</a:t>
            </a:r>
          </a:p>
          <a:p>
            <a:pPr>
              <a:spcBef>
                <a:spcPts val="400"/>
              </a:spcBef>
              <a:buChar char="•"/>
            </a:pPr>
            <a:r>
              <a:rPr>
                <a:latin typeface="Arial"/>
              </a:rPr>
              <a:t>Community engagement tracked and reported</a:t>
            </a:r>
          </a:p>
          <a:p>
            <a:pPr>
              <a:spcBef>
                <a:spcPts val="400"/>
              </a:spcBef>
              <a:buChar char="•"/>
            </a:pPr>
            <a:r>
              <a:rPr>
                <a:latin typeface="Arial"/>
              </a:rPr>
              <a:t>Framework-aligned governance</a:t>
            </a:r>
          </a:p>
          <a:p>
            <a:pPr>
              <a:spcBef>
                <a:spcPts val="400"/>
              </a:spcBef>
              <a:buChar char="•"/>
            </a:pPr>
            <a:r>
              <a:rPr>
                <a:latin typeface="Arial"/>
              </a:rPr>
              <a:t>Scalable, proportionate commitments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Close: Key takeaways and next steps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and actions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Review and feedback on proposal</a:t>
            </a:r>
          </a:p>
          <a:p>
            <a:pPr>
              <a:spcBef>
                <a:spcPts val="400"/>
              </a:spcBef>
              <a:buChar char="•"/>
            </a:pPr>
            <a:r>
              <a:rPr>
                <a:latin typeface="Arial"/>
              </a:rPr>
              <a:t>Confirm preferred delivery and commercial model</a:t>
            </a:r>
          </a:p>
          <a:p>
            <a:pPr>
              <a:spcBef>
                <a:spcPts val="400"/>
              </a:spcBef>
              <a:buChar char="•"/>
            </a:pPr>
            <a:r>
              <a:rPr>
                <a:latin typeface="Arial"/>
              </a:rPr>
              <a:t>Agree call-off scope and mobilisation plan</a:t>
            </a:r>
          </a:p>
          <a:p>
            <a:pPr>
              <a:spcBef>
                <a:spcPts val="400"/>
              </a:spcBef>
              <a:buChar char="•"/>
            </a:pPr>
            <a:r>
              <a:rPr>
                <a:latin typeface="Arial"/>
              </a:rPr>
              <a:t>Set up initial governance and reporting</a:t>
            </a:r>
          </a:p>
          <a:p>
            <a:pPr>
              <a:spcBef>
                <a:spcPts val="400"/>
              </a:spcBef>
              <a:buChar char="•"/>
            </a:pPr>
            <a:r>
              <a:rPr>
                <a:latin typeface="Arial"/>
              </a:rPr>
              <a:t>Schedule discovery or innovation window start</a:t>
            </a:r>
          </a:p>
        </p:txBody>
      </p:sp>
      <p:sp>
        <p:nvSpPr>
          <p:cNvPr id="4" name="Text Placeholder 3"/>
          <p:cNvSpPr>
            <a:spLocks noGrp="1"/>
          </p:cNvSpPr>
          <p:nvPr>
            <p:ph type="body" idx="12" sz="quarter"/>
          </p:nvPr>
        </p:nvSpPr>
        <p:spPr/>
        <p:txBody>
          <a:bodyPr/>
          <a:lstStyle/>
          <a:p>
            <a:pPr>
              <a:spcBef>
                <a:spcPts val="400"/>
              </a:spcBef>
              <a:buChar char="•"/>
            </a:pPr>
            <a:r>
              <a:rPr>
                <a:latin typeface="Arial"/>
              </a:rPr>
              <a:t>IBM/Stable: finalise team composition</a:t>
            </a:r>
          </a:p>
          <a:p>
            <a:pPr>
              <a:spcBef>
                <a:spcPts val="400"/>
              </a:spcBef>
              <a:buChar char="•"/>
            </a:pPr>
            <a:r>
              <a:rPr>
                <a:latin typeface="Arial"/>
              </a:rPr>
              <a:t>Jointly define KPIs and milestones</a:t>
            </a:r>
          </a:p>
          <a:p>
            <a:pPr>
              <a:spcBef>
                <a:spcPts val="400"/>
              </a:spcBef>
              <a:buChar char="•"/>
            </a:pPr>
            <a:r>
              <a:rPr>
                <a:latin typeface="Arial"/>
              </a:rPr>
              <a:t>NRW: provide access to stakeholders and data</a:t>
            </a:r>
          </a:p>
          <a:p>
            <a:pPr>
              <a:spcBef>
                <a:spcPts val="400"/>
              </a:spcBef>
              <a:buChar char="•"/>
            </a:pPr>
            <a:r>
              <a:rPr>
                <a:latin typeface="Arial"/>
              </a:rPr>
              <a:t>Agree sustainability and social value metrics</a:t>
            </a:r>
          </a:p>
          <a:p>
            <a:pPr>
              <a:spcBef>
                <a:spcPts val="400"/>
              </a:spcBef>
              <a:buChar char="•"/>
            </a:pPr>
            <a:r>
              <a:rPr>
                <a:latin typeface="Arial"/>
              </a:rPr>
              <a:t>Plan for continuous engagement and improvement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let’s partner with NRW</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Arial" charset="0"/>
            <a:cs typeface="Arial"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Consulting_Master_Presentation_2021_V02_Arial" id="{B2C576C2-600E-F64A-B9E3-D1962F0CA4D8}" vid="{07FDF6E9-F782-6448-8CF6-F1EBA0EAB26E}"/>
    </a:ext>
  </a:extLst>
</a:theme>
</file>

<file path=ppt/theme/theme2.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ppt/theme/theme3.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docProps/app.xml><?xml version="1.0" encoding="utf-8"?>
<Properties xmlns="http://schemas.openxmlformats.org/officeDocument/2006/extended-properties" xmlns:vt="http://schemas.openxmlformats.org/officeDocument/2006/docPropsVTypes">
  <Template/>
  <TotalTime>91</TotalTime>
  <Words>6653</Words>
  <Application>Microsoft Macintosh PowerPoint</Application>
  <PresentationFormat>On-screen Show (16:9)</PresentationFormat>
  <Paragraphs>1058</Paragraphs>
  <Slides>92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Arial</vt:lpstr>
      <vt:lpstr>IBM Plex Sans</vt:lpstr>
      <vt:lpstr>IBM Plex Sans Light</vt:lpstr>
      <vt:lpstr>Wingdings</vt:lpstr>
      <vt:lpstr>IBM Brand Template 2022</vt:lpstr>
      <vt:lpstr>Welcome to the  IBM Consulting  Presentation Template — Arial variant</vt:lpstr>
      <vt:lpstr>About this template</vt:lpstr>
      <vt:lpstr>Master pages</vt:lpstr>
      <vt:lpstr>Master slide type categories</vt:lpstr>
      <vt:lpstr>Background colors</vt:lpstr>
      <vt:lpstr>Guides and grid alignment</vt:lpstr>
      <vt:lpstr>Tick marks</vt:lpstr>
      <vt:lpstr>Color palette</vt:lpstr>
      <vt:lpstr>Theme and custom colors</vt:lpstr>
      <vt:lpstr>Bulleted lists</vt:lpstr>
      <vt:lpstr>Editing footers</vt:lpstr>
      <vt:lpstr>Master presentation template on image background 1, 3 line maximum, sentence case — First Lastname Job Title</vt:lpstr>
      <vt:lpstr>Master presentation template on image background 2, 3 line maximum, sentence case — First Lastname Job Title</vt:lpstr>
      <vt:lpstr>Master presentation template on image background 7,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gray background, 3 line maximum, sentence case — First Lastname Job Title</vt:lpstr>
      <vt:lpstr>Master presentation template on yellow background, 3 line maximum, sentence case — First Lastname Job Title</vt:lpstr>
      <vt:lpstr>Master presentation template on cyan background, 3 line maximum, sentence case — First Lastname Job Title</vt:lpstr>
      <vt:lpstr>Master presentation template on cyan split background, 3 line maximum, sentence case — First Lastname Job Title</vt:lpstr>
      <vt:lpstr>PowerPoint Presentation</vt:lpstr>
      <vt:lpstr>PowerPoint Presentation</vt:lpstr>
      <vt:lpstr>PowerPoint Presentation</vt:lpstr>
      <vt:lpstr>PowerPoint Presentation</vt:lpstr>
      <vt:lpstr>PowerPoint Presentation</vt:lpstr>
      <vt:lpstr>Contents</vt:lpstr>
      <vt:lpstr>Contents</vt:lpstr>
      <vt:lpstr>Part or section divider  with highlighted type</vt:lpstr>
      <vt:lpstr>Part or section divider  with highlighted type</vt:lpstr>
      <vt:lpstr>Section divider with page contents</vt:lpstr>
      <vt:lpstr>Section divider</vt:lpstr>
      <vt:lpstr>Fact with small description acting as headline or title of the page</vt:lpstr>
      <vt:lpstr>Fact with small description acting as headline or title with image</vt:lpstr>
      <vt:lpstr>Go simple and big if possible</vt:lpstr>
      <vt:lpstr>Go simple and big if possible</vt:lpstr>
      <vt:lpstr>“Design is a plan for arranging  elements in such a way as best to accomplish a particular purpose.”  Charles Eames The Information Machine, 1964</vt:lpstr>
      <vt:lpstr>PowerPoint Presentation</vt:lpstr>
      <vt:lpstr>Text goes here lorem ipsum</vt:lpstr>
      <vt:lpstr>Headline</vt:lpstr>
      <vt:lpstr>Headline</vt:lpstr>
      <vt:lpstr>Headline</vt:lpstr>
      <vt:lpstr>Headline</vt:lpstr>
      <vt:lpstr>Headline</vt:lpstr>
      <vt:lpstr>Headline</vt:lpstr>
      <vt:lpstr>Headline</vt:lpstr>
      <vt:lpstr>Headline</vt:lpstr>
      <vt:lpstr>Headline</vt:lpstr>
      <vt:lpstr>Headline</vt:lpstr>
      <vt:lpstr>Lorem ipsum dolor sit amet donec quam felis ultricies nec eu pellentesque pretium quis sem. Nulla consequat massa quis enim. </vt:lpstr>
      <vt:lpstr>Lorem ipsum dolor sit amet donec quam felis ultricies</vt:lpstr>
      <vt:lpstr>Boxes (4 tall)</vt:lpstr>
      <vt:lpstr>Headline</vt:lpstr>
      <vt:lpstr>Combined pie charts (unlabeled)</vt:lpstr>
      <vt:lpstr>Table</vt:lpstr>
      <vt:lpstr>Simplified pie chart (unlabeled)</vt:lpstr>
      <vt:lpstr>Case study (option 1)</vt:lpstr>
      <vt:lpstr>Case study (option 2)</vt:lpstr>
      <vt:lpstr>The team</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sign-off</vt:lpstr>
      <vt:lpstr>Organizational chart</vt:lpstr>
      <vt:lpstr>Proposed client project structure</vt:lpstr>
      <vt:lpstr>Value tree</vt:lpstr>
      <vt:lpstr>Value tree (complex)</vt:lpstr>
      <vt:lpstr>Graph template</vt:lpstr>
      <vt:lpstr>RACI table</vt:lpstr>
      <vt:lpstr>Portfolio matrix</vt:lpstr>
      <vt:lpstr>Strategy overview</vt:lpstr>
      <vt:lpstr>Combined pie charts (unlabeled)</vt:lpstr>
      <vt:lpstr>Simplified pie chart (unlabeled)</vt:lpstr>
      <vt:lpstr>Opportunity prioritization matrix</vt:lpstr>
      <vt:lpstr>Performance health check framework</vt:lpstr>
      <vt:lpstr>Stacked 3-layer  pyramid </vt:lpstr>
      <vt:lpstr>Stacked 3-layer  pyramid with list</vt:lpstr>
      <vt:lpstr>Puzzle piece detail  (stacked)</vt:lpstr>
      <vt:lpstr>Puzzle piece detail  (horizontal)</vt:lpstr>
      <vt:lpstr>World (editable)</vt:lpstr>
      <vt:lpstr>World (editable with  location markers)</vt:lpstr>
      <vt:lpstr>Color palette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IBM Presentation Template — Arial variant</dc:title>
  <dc:creator>Lucas Souza</dc:creator>
  <cp:lastModifiedBy>Katie Andresen</cp:lastModifiedBy>
  <cp:revision>9</cp:revision>
  <cp:lastPrinted>2019-04-25T15:14:05Z</cp:lastPrinted>
  <dcterms:created xsi:type="dcterms:W3CDTF">2022-03-31T19:33:22Z</dcterms:created>
  <dcterms:modified xsi:type="dcterms:W3CDTF">2022-04-01T00:26:21Z</dcterms:modified>
</cp:coreProperties>
</file>