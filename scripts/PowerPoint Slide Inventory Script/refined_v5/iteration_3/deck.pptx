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521415D9-36F7-43E2-AB2F-B90AF26B5E84}">
      <ns0:sectionLst xmlns:ns0="http://schemas.microsoft.com/office/powerpoint/2010/main">
        <ns0:section name="Introduction" id="{6B05997E-F851-47A4-A3AE-6FCC9C029C89}">
          <ns0:sldIdLst>
            <ns0:sldId id="256"/>
            <ns0:sldId id="257"/>
          </ns0:sldIdLst>
        </ns0:section>
        <ns0:section name="Section 1: IBM &amp; Stable Joint Proposition" id="{1782169E-1758-4E3D-B5E4-3A6EFE1E5B5B}">
          <ns0:sldIdLst>
            <ns0:sldId id="258"/>
            <ns0:sldId id="259"/>
            <ns0:sldId id="260"/>
            <ns0:sldId id="261"/>
            <ns0:sldId id="262"/>
            <ns0:sldId id="263"/>
            <ns0:sldId id="264"/>
            <ns0:sldId id="265"/>
            <ns0:sldId id="266"/>
            <ns0:sldId id="267"/>
          </ns0:sldIdLst>
        </ns0:section>
        <ns0:section name="Section 2: Scenarios 1 &amp; 2" id="{4A775B3B-C5D4-45B4-8508-E5768A3495BC}">
          <ns0:sldIdLst>
            <ns0:sldId id="268"/>
            <ns0:sldId id="269"/>
            <ns0:sldId id="270"/>
            <ns0:sldId id="271"/>
            <ns0:sldId id="272"/>
            <ns0:sldId id="273"/>
            <ns0:sldId id="274"/>
            <ns0:sldId id="275"/>
            <ns0:sldId id="276"/>
            <ns0:sldId id="277"/>
            <ns0:sldId id="278"/>
            <ns0:sldId id="279"/>
            <ns0:sldId id="280"/>
            <ns0:sldId id="281"/>
            <ns0:sldId id="282"/>
            <ns0:sldId id="283"/>
            <ns0:sldId id="284"/>
            <ns0:sldId id="285"/>
            <ns0:sldId id="286"/>
          </ns0:sldIdLst>
        </ns0:section>
        <ns0:section name="Section 3: Commercial Overview" id="{17E0C6E4-1B08-4D61-9C56-7CDCE1E0E1A8}">
          <ns0:sldIdLst>
            <ns0:sldId id="287"/>
            <ns0:sldId id="288"/>
            <ns0:sldId id="289"/>
            <ns0:sldId id="290"/>
            <ns0:sldId id="291"/>
            <ns0:sldId id="292"/>
            <ns0:sldId id="293"/>
          </ns0:sldIdLst>
        </ns0:section>
        <ns0:section name="Section 4: Sustainability &amp; Social Value" id="{B36C7F76-8ECC-445C-894F-E00ED3AB0241}">
          <ns0:sldIdLst>
            <ns0:sldId id="294"/>
            <ns0:sldId id="295"/>
            <ns0:sldId id="296"/>
            <ns0:sldId id="297"/>
            <ns0:sldId id="298"/>
            <ns0:sldId id="299"/>
            <ns0:sldId id="300"/>
            <ns0:sldId id="301"/>
            <ns0:sldId id="302"/>
            <ns0:sldId id="303"/>
            <ns0:sldId id="304"/>
          </ns0:sldIdLst>
        </ns0:section>
      </ns0: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proposal. This presentation introduces the IBM and Stable partnership, our approach, and how we will deliver value for NRW. We will cover our joint proposition, technical scenarios, commercial model, sustainability,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outlines the journey for today's session. We will start with our joint value proposition, move through scenario-based delivery approaches, discuss commercial terms, highlight our sustainability and social value commitments, and conclude with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scale and digital expertise with Stable's local Welsh delivery capability. This enables us to deliver complex transformation for NRW, grounded in local context and supported by world-class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underpin our approach for NRW: comprehensive capability, local presence, sustainable outcomes, and integrated delivery. Each pillar is essential for delivering transformation that is robust, relevant, and enduring.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model blends IBM's scale and Stable's local knowledge, ensuring NRW benefits from both world-class expertise and Welsh context. Teams are co-located, accountable, and focused on building NRW's internal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strengths align directly with NRW's needs: technical depth, public sector experience, local delivery, and a focus on sustainable transformation. We are not just a supplier but a strategic partner for NRW’s digital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spans major UK and Welsh public sector clients, demonstrating our ability to deliver at pace and scale. We have successfully modernised data, improved compliance, and built sustainable capability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cover the full DDaT spectrum: user-centred design, advanced data and AI, robust integration, and secure cloud delivery. These are directly relevant to NRW’s transformation priorities.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operating model ensures NRW is involved at every stage. Teams are multidisciplinary, agile, and focused on building NRW’s internal capability through hands-on delivery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 brings deep Welsh sector experience, supporting charities, SMEs, and public sector bodies. Their bilingual team delivers real social value and strengthens local skills and employment.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is measured, transparent, and consistently high-performing. These metrics reflect our commitment to quality, timeliness, and sustainable outcomes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to both the Customer Platform and Website Innovation Window is grounded in discovery, evidence, and iterative delivery. We ensure all investment decisions are validated by user need and technical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around three parallel activities: understanding users, assessing the technical landscape, and shaping delivery. This ensures the roadmap is grounded in real needs and technical feasibility.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is not just shaping but mobilisation. We embed delivery readiness, governance, and ways of working from the start, ensuring NRW can move confidently from discovery to delivery.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current environment is fragmented, with customer data and journeys split across multiple systems. This creates operational inefficiency, poor user experience, and challenges for integration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architecture leverages NRW’s Microsoft estate, with clear separation of engagement, service, integration, and data layers. This enables incremental modernisation and robust, scalable service delivery.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ensure the platform is robust, scalable, and future-proof. Security, modularity, and data governance are embedded from the outset, supporting NRW’s operational and compliance needs.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fragmentation is a core challenge. Our approach maps the landscape, introduces a shared identifier, and progressively integrates and governs data, enabling NRW to move toward a unified customer 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measurable outcome, ensuring discovery delivers tangible value and sets NRW up for successful delivery and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phased roadmap enables NRW to move from discovery through to live service in a controlled, evidence-based manner. Each phase builds on validated outcomes and increases NRW’s delivery maturity.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multi-layered, ensuring alignment from strategy to technical detail. Risks are proactively managed, and all decisions are transparent and evidence-based.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identified early and addressed through structured mitigation plans. Our approach ensures that technical, organisational, and operational risks are actively managed throughout delivery.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leverages NRW’s existing web stack, focusing on rapid prototyping and evidence generation within current technical constraints. Bilingual and accessibility needs are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12-week innovation window is structured for rapid learning. Each phase builds evidence, validates ideas, and supports informed decision-making for NRW.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the innovation window delivers actionable evidence, not just artefacts. NRW remains involved throughout, and all work is grounded in operational reality.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clear, measurable success criterion. This ensures the 12-week window delivers practical, decision-ready evidence for NRW.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team is multidisciplinary, blending IBM, Stable, and NRW roles. This ensures rapid progress, practical outputs, and strong engagement throughout the 12 weeks.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actively managed through the design of the innovation window. Early definition, continuous engagement, and structured testing ensure value is delivered within 12 weeks.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delivers practical, decision-oriented outputs. NRW receives evidence, prototypes, and a clear path for scaling or refining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transparency, and value for money. We offer multiple pricing models to suit different delivery stages and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stages require different models. Discovery benefits from T&amp;M flexibility; fixed price is used for well-defined outcomes; fixed capacity balances agility and cost; supplier-led suits ongoing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rate card and terms are transparent and flexible. We adjust for specialist needs and offer discounts for volume and stability, ensuring NRW gets value and clarity.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scenario-specific, with discovery using T&amp;M and the innovation window using a fixed capacity model. Detailed rates and milestones are included in the pricing template.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provide a comprehensive offer, but certain specialist or out-of-scope items may require adjustment. All inclusions and exclusions are clearly defined for NRW.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call-off mechanism ensures flexibility and clarity for each engagement. Next steps focus on refining scope, agreeing terms, and mobilising the right team for NRW.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and Stable embed environmental sustainability and social value throughout delivery, not as add-ons. Our commitments are practical, measurable, and aligned to NRW and Welsh public sector priorities.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commitments span environmental, linguistic, social, and community dimensions. We deliver measurable benefit for NRW, the Welsh public sector, and local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impact in Wales is tangible and ongoing. Their local presence, skills development, and community engagement directly support NRW’s social value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structured metrics and transparent reporting to ensure our commitments are delivered and improved over time. NRW can track progress and impact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digital transformation directly supports NRW’s environmental and social goals. Technology, skills, and community benefit are delivered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discipline, transparency, and tailored actions. We ensure all commitments are meaningful, measurable, and scalable for NRW.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actions ensure a smooth transition from proposal to delivery. We are ready to mobilise and begin work with NRW as soon as the call-off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consideration. Please contact any of our team for further discussion, clarification, or to arrange next steps. We look forward to partnering with NRW.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brand closing slide. No content required; this slide signals the end of the presentation and reinforces IBM and Stable’s commitment to NRW’s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Joint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IBM &amp; Stable Joint Proposition</a:t>
            </a:r>
          </a:p>
          <a:p>
            <a:pPr>
              <a:spcBef>
                <a:spcPts val="400"/>
              </a:spcBef>
              <a:buChar char="•"/>
            </a:pPr>
            <a:r>
              <a:rPr>
                <a:latin typeface="Arial"/>
              </a:rPr>
              <a:t>2. Scenarios 1 &amp; 2</a:t>
            </a:r>
          </a:p>
          <a:p>
            <a:pPr>
              <a:spcBef>
                <a:spcPts val="400"/>
              </a:spcBef>
              <a:buChar char="•"/>
            </a:pPr>
            <a:r>
              <a:rPr>
                <a:latin typeface="Arial"/>
              </a:rPr>
              <a:t>3. Commercial Overview</a:t>
            </a:r>
          </a:p>
          <a:p>
            <a:pPr>
              <a:spcBef>
                <a:spcPts val="400"/>
              </a:spcBef>
              <a:buChar char="•"/>
            </a:pPr>
            <a:r>
              <a:rPr>
                <a:latin typeface="Arial"/>
              </a:rPr>
              <a:t>4. Sustainability &amp; Social Value</a:t>
            </a:r>
          </a:p>
          <a:p>
            <a:pPr>
              <a:spcBef>
                <a:spcPts val="400"/>
              </a:spcBef>
              <a:buChar char="•"/>
            </a:pPr>
            <a:r>
              <a:rPr>
                <a:latin typeface="Arial"/>
              </a:rPr>
              <a:t>5.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IBM &amp; Stable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&amp; Stable: Transformation at scale with local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pillars of our joint proposition</a:t>
            </a:r>
          </a:p>
        </p:txBody>
      </p:sp>
      <p:sp>
        <p:nvSpPr>
          <p:cNvPr id="3" name="Content Placeholder 2"/>
          <p:cNvSpPr>
            <a:spLocks noGrp="1"/>
          </p:cNvSpPr>
          <p:nvPr>
            <p:ph idx="17" sz="quarter"/>
          </p:nvPr>
        </p:nvSpPr>
        <p:spPr/>
        <p:txBody>
          <a:bodyPr/>
          <a:lstStyle/>
          <a:p>
            <a:pPr>
              <a:spcBef>
                <a:spcPts val="400"/>
              </a:spcBef>
            </a:pPr>
            <a:r>
              <a:rPr>
                <a:latin typeface="Arial"/>
              </a:rPr>
              <a:t>End-to-End Capability</a:t>
            </a:r>
            <a:br/>
            <a:r>
              <a:rPr>
                <a:latin typeface="Arial"/>
              </a:rPr>
              <a:t>['Full lifecycle: discovery to live service', 'Structured engineering and product delivery', 'Proven in complex, regulated environments']</a:t>
            </a:r>
          </a:p>
        </p:txBody>
      </p:sp>
      <p:sp>
        <p:nvSpPr>
          <p:cNvPr id="4" name="Content Placeholder 3"/>
          <p:cNvSpPr>
            <a:spLocks noGrp="1"/>
          </p:cNvSpPr>
          <p:nvPr>
            <p:ph idx="18" sz="quarter"/>
          </p:nvPr>
        </p:nvSpPr>
        <p:spPr/>
        <p:txBody>
          <a:bodyPr/>
          <a:lstStyle/>
          <a:p>
            <a:pPr>
              <a:spcBef>
                <a:spcPts val="400"/>
              </a:spcBef>
            </a:pPr>
            <a:r>
              <a:rPr>
                <a:latin typeface="Arial"/>
              </a:rPr>
              <a:t>Local Welsh Delivery</a:t>
            </a:r>
            <a:br/>
            <a:r>
              <a:rPr>
                <a:latin typeface="Arial"/>
              </a:rPr>
              <a:t>['Stable’s Cardiff-based team', 'Bilingual and culturally aligned', 'Deep ties to Welsh public sector']</a:t>
            </a:r>
          </a:p>
        </p:txBody>
      </p:sp>
      <p:sp>
        <p:nvSpPr>
          <p:cNvPr id="5" name="Content Placeholder 4"/>
          <p:cNvSpPr>
            <a:spLocks noGrp="1"/>
          </p:cNvSpPr>
          <p:nvPr>
            <p:ph idx="20" sz="quarter"/>
          </p:nvPr>
        </p:nvSpPr>
        <p:spPr/>
        <p:txBody>
          <a:bodyPr/>
          <a:lstStyle/>
          <a:p>
            <a:pPr>
              <a:spcBef>
                <a:spcPts val="400"/>
              </a:spcBef>
            </a:pPr>
            <a:r>
              <a:rPr>
                <a:latin typeface="Arial"/>
              </a:rPr>
              <a:t>Sustainable Transformation</a:t>
            </a:r>
            <a:br/>
            <a:r>
              <a:rPr>
                <a:latin typeface="Arial"/>
              </a:rPr>
              <a:t>['Knowledge transfer, not dependency', 'Embedded capability uplift', 'Long-term client ownership focus']</a:t>
            </a:r>
          </a:p>
        </p:txBody>
      </p:sp>
      <p:sp>
        <p:nvSpPr>
          <p:cNvPr id="6" name="Content Placeholder 5"/>
          <p:cNvSpPr>
            <a:spLocks noGrp="1"/>
          </p:cNvSpPr>
          <p:nvPr>
            <p:ph idx="19" sz="quarter"/>
          </p:nvPr>
        </p:nvSpPr>
        <p:spPr/>
        <p:txBody>
          <a:bodyPr/>
          <a:lstStyle/>
          <a:p>
            <a:pPr>
              <a:spcBef>
                <a:spcPts val="400"/>
              </a:spcBef>
            </a:pPr>
            <a:r>
              <a:rPr>
                <a:latin typeface="Arial"/>
              </a:rPr>
              <a:t>Integrated Approach</a:t>
            </a:r>
            <a:br/>
            <a:r>
              <a:rPr>
                <a:latin typeface="Arial"/>
              </a:rPr>
              <a:t>['Strategy, design, engineering, operations', 'Blended teams with shared accountability', 'Agile, product-led delivery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blended IBM and Stable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 teams embedded with NRW stakeholders</a:t>
            </a:r>
          </a:p>
          <a:p>
            <a:pPr>
              <a:spcBef>
                <a:spcPts val="400"/>
              </a:spcBef>
              <a:buChar char="•"/>
            </a:pPr>
            <a:r>
              <a:rPr>
                <a:latin typeface="Arial"/>
              </a:rPr>
              <a:t>Stable provides local, bilingual expertise</a:t>
            </a:r>
          </a:p>
          <a:p>
            <a:pPr>
              <a:spcBef>
                <a:spcPts val="400"/>
              </a:spcBef>
              <a:buChar char="•"/>
            </a:pPr>
            <a:r>
              <a:rPr>
                <a:latin typeface="Arial"/>
              </a:rPr>
              <a:t>IBM brings global methods and accelerators</a:t>
            </a:r>
          </a:p>
          <a:p>
            <a:pPr>
              <a:spcBef>
                <a:spcPts val="400"/>
              </a:spcBef>
              <a:buChar char="•"/>
            </a:pPr>
            <a:r>
              <a:rPr>
                <a:latin typeface="Arial"/>
              </a:rPr>
              <a:t>Continuous knowledge transfer to NRW</a:t>
            </a:r>
          </a:p>
          <a:p>
            <a:pPr>
              <a:spcBef>
                <a:spcPts val="400"/>
              </a:spcBef>
              <a:buChar char="•"/>
            </a:pPr>
            <a:r>
              <a:rPr>
                <a:latin typeface="Arial"/>
              </a:rPr>
              <a:t>Cultural alignment with Welsh public sector</a:t>
            </a:r>
          </a:p>
          <a:p>
            <a:pPr>
              <a:spcBef>
                <a:spcPts val="400"/>
              </a:spcBef>
              <a:buChar char="•"/>
            </a:pPr>
            <a:r>
              <a:rPr>
                <a:latin typeface="Arial"/>
              </a:rPr>
              <a:t>Structured onboarding and mobilisation</a:t>
            </a:r>
          </a:p>
          <a:p>
            <a:pPr>
              <a:spcBef>
                <a:spcPts val="400"/>
              </a:spcBef>
              <a:buChar char="•"/>
            </a:pPr>
            <a:r>
              <a:rPr>
                <a:latin typeface="Arial"/>
              </a:rPr>
              <a:t>Direct access to Microsoft and AI specialists</a:t>
            </a:r>
          </a:p>
        </p:txBody>
      </p:sp>
      <p:sp>
        <p:nvSpPr>
          <p:cNvPr id="4" name="Text Placeholder 3"/>
          <p:cNvSpPr>
            <a:spLocks noGrp="1"/>
          </p:cNvSpPr>
          <p:nvPr>
            <p:ph type="body" idx="12" sz="quarter"/>
          </p:nvPr>
        </p:nvSpPr>
        <p:spPr/>
        <p:txBody>
          <a:bodyPr/>
          <a:lstStyle/>
          <a:p>
            <a:pPr>
              <a:spcBef>
                <a:spcPts val="400"/>
              </a:spcBef>
              <a:buChar char="•"/>
            </a:pPr>
            <a:r>
              <a:rPr>
                <a:latin typeface="Arial"/>
              </a:rPr>
              <a:t>Single-team accountability for outcomes</a:t>
            </a:r>
          </a:p>
          <a:p>
            <a:pPr>
              <a:spcBef>
                <a:spcPts val="400"/>
              </a:spcBef>
              <a:buChar char="•"/>
            </a:pPr>
            <a:r>
              <a:rPr>
                <a:latin typeface="Arial"/>
              </a:rPr>
              <a:t>Shared governance and transparent reporting</a:t>
            </a:r>
          </a:p>
          <a:p>
            <a:pPr>
              <a:spcBef>
                <a:spcPts val="400"/>
              </a:spcBef>
              <a:buChar char="•"/>
            </a:pPr>
            <a:r>
              <a:rPr>
                <a:latin typeface="Arial"/>
              </a:rPr>
              <a:t>Flexible scaling to match demand</a:t>
            </a:r>
          </a:p>
          <a:p>
            <a:pPr>
              <a:spcBef>
                <a:spcPts val="400"/>
              </a:spcBef>
              <a:buChar char="•"/>
            </a:pPr>
            <a:r>
              <a:rPr>
                <a:latin typeface="Arial"/>
              </a:rPr>
              <a:t>Seamless integration of local and global skills</a:t>
            </a:r>
          </a:p>
          <a:p>
            <a:pPr>
              <a:spcBef>
                <a:spcPts val="400"/>
              </a:spcBef>
              <a:buChar char="•"/>
            </a:pPr>
            <a:r>
              <a:rPr>
                <a:latin typeface="Arial"/>
              </a:rPr>
              <a:t>Proven in multi-supplier environments</a:t>
            </a:r>
          </a:p>
          <a:p>
            <a:pPr>
              <a:spcBef>
                <a:spcPts val="400"/>
              </a:spcBef>
              <a:buChar char="•"/>
            </a:pPr>
            <a:r>
              <a:rPr>
                <a:latin typeface="Arial"/>
              </a:rPr>
              <a:t>Focus on operational resilience and compliance</a:t>
            </a:r>
          </a:p>
          <a:p>
            <a:pPr>
              <a:spcBef>
                <a:spcPts val="400"/>
              </a:spcBef>
              <a:buChar char="•"/>
            </a:pPr>
            <a:r>
              <a:rPr>
                <a:latin typeface="Arial"/>
              </a:rPr>
              <a:t>Accelerated delivery through reusable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IBM &amp; Stable are the right fit for NRW</a:t>
            </a:r>
          </a:p>
        </p:txBody>
      </p:sp>
      <p:sp>
        <p:nvSpPr>
          <p:cNvPr id="3" name="Text Placeholder 2"/>
          <p:cNvSpPr>
            <a:spLocks noGrp="1"/>
          </p:cNvSpPr>
          <p:nvPr>
            <p:ph type="body" idx="13" sz="quarter"/>
          </p:nvPr>
        </p:nvSpPr>
        <p:spPr/>
        <p:txBody>
          <a:bodyPr/>
          <a:lstStyle/>
          <a:p>
            <a:pPr>
              <a:spcBef>
                <a:spcPts val="400"/>
              </a:spcBef>
              <a:buChar char="•"/>
            </a:pPr>
            <a:r>
              <a:rPr>
                <a:latin typeface="Arial"/>
              </a:rPr>
              <a:t>Experience in large-scale, regulated transformation</a:t>
            </a:r>
          </a:p>
          <a:p>
            <a:pPr>
              <a:spcBef>
                <a:spcPts val="400"/>
              </a:spcBef>
              <a:buChar char="•"/>
            </a:pPr>
            <a:r>
              <a:rPr>
                <a:latin typeface="Arial"/>
              </a:rPr>
              <a:t>Microsoft ecosystem and Azure specialism</a:t>
            </a:r>
          </a:p>
          <a:p>
            <a:pPr>
              <a:spcBef>
                <a:spcPts val="400"/>
              </a:spcBef>
              <a:buChar char="•"/>
            </a:pPr>
            <a:r>
              <a:rPr>
                <a:latin typeface="Arial"/>
              </a:rPr>
              <a:t>Deep public sector delivery track record</a:t>
            </a:r>
          </a:p>
          <a:p>
            <a:pPr>
              <a:spcBef>
                <a:spcPts val="400"/>
              </a:spcBef>
              <a:buChar char="•"/>
            </a:pPr>
            <a:r>
              <a:rPr>
                <a:latin typeface="Arial"/>
              </a:rPr>
              <a:t>Agile, product-led delivery aligned to GDS</a:t>
            </a:r>
          </a:p>
          <a:p>
            <a:pPr>
              <a:spcBef>
                <a:spcPts val="400"/>
              </a:spcBef>
              <a:buChar char="•"/>
            </a:pPr>
            <a:r>
              <a:rPr>
                <a:latin typeface="Arial"/>
              </a:rPr>
              <a:t>Structured methods for governance and assurance</a:t>
            </a:r>
          </a:p>
          <a:p>
            <a:pPr>
              <a:spcBef>
                <a:spcPts val="400"/>
              </a:spcBef>
              <a:buChar char="•"/>
            </a:pPr>
            <a:r>
              <a:rPr>
                <a:latin typeface="Arial"/>
              </a:rPr>
              <a:t>Proven knowledge transfer and capability uplift</a:t>
            </a:r>
          </a:p>
          <a:p>
            <a:pPr>
              <a:spcBef>
                <a:spcPts val="400"/>
              </a:spcBef>
              <a:buChar char="•"/>
            </a:pPr>
            <a:r>
              <a:rPr>
                <a:latin typeface="Arial"/>
              </a:rPr>
              <a:t>Strong partnership with Welsh-based Stable</a:t>
            </a:r>
          </a:p>
        </p:txBody>
      </p:sp>
      <p:sp>
        <p:nvSpPr>
          <p:cNvPr id="4" name="Text Placeholder 3"/>
          <p:cNvSpPr>
            <a:spLocks noGrp="1"/>
          </p:cNvSpPr>
          <p:nvPr>
            <p:ph type="body" idx="12" sz="quarter"/>
          </p:nvPr>
        </p:nvSpPr>
        <p:spPr/>
        <p:txBody>
          <a:bodyPr/>
          <a:lstStyle/>
          <a:p>
            <a:pPr>
              <a:spcBef>
                <a:spcPts val="400"/>
              </a:spcBef>
              <a:buChar char="•"/>
            </a:pPr>
            <a:r>
              <a:rPr>
                <a:latin typeface="Arial"/>
              </a:rPr>
              <a:t>Local presence and bilingual delivery</a:t>
            </a:r>
          </a:p>
          <a:p>
            <a:pPr>
              <a:spcBef>
                <a:spcPts val="400"/>
              </a:spcBef>
              <a:buChar char="•"/>
            </a:pPr>
            <a:r>
              <a:rPr>
                <a:latin typeface="Arial"/>
              </a:rPr>
              <a:t>Understanding of NRW's operational context</a:t>
            </a:r>
          </a:p>
          <a:p>
            <a:pPr>
              <a:spcBef>
                <a:spcPts val="400"/>
              </a:spcBef>
              <a:buChar char="•"/>
            </a:pPr>
            <a:r>
              <a:rPr>
                <a:latin typeface="Arial"/>
              </a:rPr>
              <a:t>Integrated approach, not just resource supply</a:t>
            </a:r>
          </a:p>
          <a:p>
            <a:pPr>
              <a:spcBef>
                <a:spcPts val="400"/>
              </a:spcBef>
              <a:buChar char="•"/>
            </a:pPr>
            <a:r>
              <a:rPr>
                <a:latin typeface="Arial"/>
              </a:rPr>
              <a:t>Sustainable, client-owned outcomes</a:t>
            </a:r>
          </a:p>
          <a:p>
            <a:pPr>
              <a:spcBef>
                <a:spcPts val="400"/>
              </a:spcBef>
              <a:buChar char="•"/>
            </a:pPr>
            <a:r>
              <a:rPr>
                <a:latin typeface="Arial"/>
              </a:rPr>
              <a:t>Track record in complex, multi-stakeholder settings</a:t>
            </a:r>
          </a:p>
          <a:p>
            <a:pPr>
              <a:spcBef>
                <a:spcPts val="400"/>
              </a:spcBef>
              <a:buChar char="•"/>
            </a:pPr>
            <a:r>
              <a:rPr>
                <a:latin typeface="Arial"/>
              </a:rPr>
              <a:t>Ability to scale and flex team composition</a:t>
            </a:r>
          </a:p>
          <a:p>
            <a:pPr>
              <a:spcBef>
                <a:spcPts val="400"/>
              </a:spcBef>
              <a:buChar char="•"/>
            </a:pPr>
            <a:r>
              <a:rPr>
                <a:latin typeface="Arial"/>
              </a:rPr>
              <a:t>Commitment to social value and sustainability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delivery in complex public sector environments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transformation for UK and Welsh public sector organisations.</a:t>
            </a:r>
          </a:p>
          <a:p>
            <a:pPr>
              <a:spcBef>
                <a:spcPts val="400"/>
              </a:spcBef>
              <a:buChar char="•"/>
            </a:pPr>
            <a:r>
              <a:rPr>
                <a:latin typeface="Arial"/>
              </a:rPr>
              <a:t>Environment Agency: unified data platform in 9 months</a:t>
            </a:r>
          </a:p>
          <a:p>
            <a:pPr>
              <a:spcBef>
                <a:spcPts val="400"/>
              </a:spcBef>
              <a:buChar char="•"/>
            </a:pPr>
            <a:r>
              <a:rPr>
                <a:latin typeface="Arial"/>
              </a:rPr>
              <a:t>DVLA: 30% faster data processing, improved compliance</a:t>
            </a:r>
          </a:p>
          <a:p>
            <a:pPr>
              <a:spcBef>
                <a:spcPts val="400"/>
              </a:spcBef>
              <a:buChar char="•"/>
            </a:pPr>
            <a:r>
              <a:rPr>
                <a:latin typeface="Arial"/>
              </a:rPr>
              <a:t>Welsh charities: digital services for Tŷ Hafan, Llamau</a:t>
            </a:r>
          </a:p>
          <a:p>
            <a:pPr>
              <a:spcBef>
                <a:spcPts val="400"/>
              </a:spcBef>
              <a:buChar char="•"/>
            </a:pPr>
            <a:r>
              <a:rPr>
                <a:latin typeface="Arial"/>
              </a:rPr>
              <a:t>NHS Digital: 18-month integration programme</a:t>
            </a:r>
          </a:p>
          <a:p>
            <a:pPr>
              <a:spcBef>
                <a:spcPts val="400"/>
              </a:spcBef>
              <a:buChar char="•"/>
            </a:pPr>
            <a:r>
              <a:rPr>
                <a:latin typeface="Arial"/>
              </a:rPr>
              <a:t>HMRC: 40% reduction in reporting effort</a:t>
            </a:r>
          </a:p>
          <a:p>
            <a:pPr>
              <a:spcBef>
                <a:spcPts val="400"/>
              </a:spcBef>
              <a:buChar char="•"/>
            </a:pPr>
            <a:r>
              <a:rPr>
                <a:latin typeface="Arial"/>
              </a:rPr>
              <a:t>Stable: local delivery for Welsh public sector</a:t>
            </a:r>
          </a:p>
          <a:p>
            <a:pPr>
              <a:spcBef>
                <a:spcPts val="400"/>
              </a:spcBef>
              <a:buChar char="•"/>
            </a:pPr>
            <a:r>
              <a:rPr>
                <a:latin typeface="Arial"/>
              </a:rPr>
              <a:t>Joint teams: successful knowledge 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principal areas of specialism</a:t>
            </a:r>
          </a:p>
        </p:txBody>
      </p:sp>
      <p:sp>
        <p:nvSpPr>
          <p:cNvPr id="3" name="Content Placeholder 2"/>
          <p:cNvSpPr>
            <a:spLocks noGrp="1"/>
          </p:cNvSpPr>
          <p:nvPr>
            <p:ph idx="17" sz="quarter"/>
          </p:nvPr>
        </p:nvSpPr>
        <p:spPr/>
        <p:txBody>
          <a:bodyPr/>
          <a:lstStyle/>
          <a:p>
            <a:pPr>
              <a:spcBef>
                <a:spcPts val="400"/>
              </a:spcBef>
            </a:pPr>
            <a:r>
              <a:rPr>
                <a:latin typeface="Arial"/>
              </a:rPr>
              <a:t>Digital Service Design</a:t>
            </a:r>
            <a:br/>
            <a:r>
              <a:rPr>
                <a:latin typeface="Arial"/>
              </a:rPr>
              <a:t>['User-centred, inclusive and outcome-driven', 'GDS-aligned, accessible, bilingual', 'Research, journey mapping, prototyping']</a:t>
            </a:r>
          </a:p>
        </p:txBody>
      </p:sp>
      <p:sp>
        <p:nvSpPr>
          <p:cNvPr id="4" name="Content Placeholder 3"/>
          <p:cNvSpPr>
            <a:spLocks noGrp="1"/>
          </p:cNvSpPr>
          <p:nvPr>
            <p:ph idx="18" sz="quarter"/>
          </p:nvPr>
        </p:nvSpPr>
        <p:spPr/>
        <p:txBody>
          <a:bodyPr/>
          <a:lstStyle/>
          <a:p>
            <a:pPr>
              <a:spcBef>
                <a:spcPts val="400"/>
              </a:spcBef>
            </a:pPr>
            <a:r>
              <a:rPr>
                <a:latin typeface="Arial"/>
              </a:rPr>
              <a:t>Data, Analytics &amp; AI</a:t>
            </a:r>
            <a:br/>
            <a:r>
              <a:rPr>
                <a:latin typeface="Arial"/>
              </a:rPr>
              <a:t>['Azure and Microsoft Fabric platforms', 'Governed, trusted data for analytics', 'Progression to predictive, AI-enabled decisions']</a:t>
            </a:r>
          </a:p>
        </p:txBody>
      </p:sp>
      <p:sp>
        <p:nvSpPr>
          <p:cNvPr id="5" name="Content Placeholder 4"/>
          <p:cNvSpPr>
            <a:spLocks noGrp="1"/>
          </p:cNvSpPr>
          <p:nvPr>
            <p:ph idx="20" sz="quarter"/>
          </p:nvPr>
        </p:nvSpPr>
        <p:spPr/>
        <p:txBody>
          <a:bodyPr/>
          <a:lstStyle/>
          <a:p>
            <a:pPr>
              <a:spcBef>
                <a:spcPts val="400"/>
              </a:spcBef>
            </a:pPr>
            <a:r>
              <a:rPr>
                <a:latin typeface="Arial"/>
              </a:rPr>
              <a:t>Platforms &amp; Integration</a:t>
            </a:r>
            <a:br/>
            <a:r>
              <a:rPr>
                <a:latin typeface="Arial"/>
              </a:rPr>
              <a:t>['API-led, modular architectures', 'Microservices for maintainability', 'Incremental modernisation across estates']</a:t>
            </a:r>
          </a:p>
        </p:txBody>
      </p:sp>
      <p:sp>
        <p:nvSpPr>
          <p:cNvPr id="6" name="Content Placeholder 5"/>
          <p:cNvSpPr>
            <a:spLocks noGrp="1"/>
          </p:cNvSpPr>
          <p:nvPr>
            <p:ph idx="19" sz="quarter"/>
          </p:nvPr>
        </p:nvSpPr>
        <p:spPr/>
        <p:txBody>
          <a:bodyPr/>
          <a:lstStyle/>
          <a:p>
            <a:pPr>
              <a:spcBef>
                <a:spcPts val="400"/>
              </a:spcBef>
            </a:pPr>
            <a:r>
              <a:rPr>
                <a:latin typeface="Arial"/>
              </a:rPr>
              <a:t>Cloud &amp; DevOps</a:t>
            </a:r>
            <a:br/>
            <a:r>
              <a:rPr>
                <a:latin typeface="Arial"/>
              </a:rPr>
              <a:t>['Hybrid cloud, DevSecOps, containerisation', 'Observability and resilience', 'FinOps for cost and compliance']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our teams work with NRW</a:t>
            </a:r>
          </a:p>
        </p:txBody>
      </p:sp>
      <p:sp>
        <p:nvSpPr>
          <p:cNvPr id="3" name="Text Placeholder 2"/>
          <p:cNvSpPr>
            <a:spLocks noGrp="1"/>
          </p:cNvSpPr>
          <p:nvPr>
            <p:ph type="body" idx="12" sz="quarter"/>
          </p:nvPr>
        </p:nvSpPr>
        <p:spPr/>
        <p:txBody>
          <a:bodyPr/>
          <a:lstStyle/>
          <a:p>
            <a:pPr>
              <a:spcBef>
                <a:spcPts val="400"/>
              </a:spcBef>
            </a:pPr>
            <a:r>
              <a:rPr>
                <a:latin typeface="Arial"/>
              </a:rPr>
              <a:t>Blended teams: IBM, Stable and NRW staff</a:t>
            </a:r>
          </a:p>
        </p:txBody>
      </p:sp>
      <p:sp>
        <p:nvSpPr>
          <p:cNvPr id="4" name="Text Placeholder 3"/>
          <p:cNvSpPr>
            <a:spLocks noGrp="1"/>
          </p:cNvSpPr>
          <p:nvPr>
            <p:ph type="body" idx="13" sz="quarter"/>
          </p:nvPr>
        </p:nvSpPr>
        <p:spPr/>
        <p:txBody>
          <a:bodyPr/>
          <a:lstStyle/>
          <a:p>
            <a:pPr>
              <a:spcBef>
                <a:spcPts val="400"/>
              </a:spcBef>
            </a:pPr>
            <a:r>
              <a:rPr>
                <a:latin typeface="Arial"/>
              </a:rPr>
              <a:t>Agile delivery: two-week sprints, show-and-tells</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coaching</a:t>
            </a:r>
          </a:p>
        </p:txBody>
      </p:sp>
      <p:sp>
        <p:nvSpPr>
          <p:cNvPr id="6" name="Text Placeholder 5"/>
          <p:cNvSpPr>
            <a:spLocks noGrp="1"/>
          </p:cNvSpPr>
          <p:nvPr>
            <p:ph type="body" idx="15" sz="quarter"/>
          </p:nvPr>
        </p:nvSpPr>
        <p:spPr/>
        <p:txBody>
          <a:bodyPr/>
          <a:lstStyle/>
          <a:p>
            <a:pPr>
              <a:spcBef>
                <a:spcPts val="400"/>
              </a:spcBef>
            </a:pPr>
            <a:r>
              <a:rPr>
                <a:latin typeface="Arial"/>
              </a:rPr>
              <a:t>Local presence: on-site and remote collaboration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 — Welsh public sector impact</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delivery for charities and public sector</a:t>
            </a:r>
          </a:p>
          <a:p>
            <a:pPr>
              <a:spcBef>
                <a:spcPts val="400"/>
              </a:spcBef>
              <a:buChar char="•"/>
            </a:pPr>
            <a:r>
              <a:rPr>
                <a:latin typeface="Arial"/>
              </a:rPr>
              <a:t>Bilingual digital services for Tŷ Hafan, Llamau</a:t>
            </a:r>
          </a:p>
          <a:p>
            <a:pPr>
              <a:spcBef>
                <a:spcPts val="400"/>
              </a:spcBef>
              <a:buChar char="•"/>
            </a:pPr>
            <a:r>
              <a:rPr>
                <a:latin typeface="Arial"/>
              </a:rPr>
              <a:t>Internship pathways with Welsh universities</a:t>
            </a:r>
          </a:p>
          <a:p>
            <a:pPr>
              <a:spcBef>
                <a:spcPts val="400"/>
              </a:spcBef>
              <a:buChar char="•"/>
            </a:pPr>
            <a:r>
              <a:rPr>
                <a:latin typeface="Arial"/>
              </a:rPr>
              <a:t>Community engagement and youth skills</a:t>
            </a:r>
          </a:p>
          <a:p>
            <a:pPr>
              <a:spcBef>
                <a:spcPts val="400"/>
              </a:spcBef>
              <a:buChar char="•"/>
            </a:pPr>
            <a:r>
              <a:rPr>
                <a:latin typeface="Arial"/>
              </a:rPr>
              <a:t>Support for Welsh SMEs and social enterprises</a:t>
            </a:r>
          </a:p>
        </p:txBody>
      </p:sp>
      <p:sp>
        <p:nvSpPr>
          <p:cNvPr id="4" name="Text Placeholder 3"/>
          <p:cNvSpPr>
            <a:spLocks noGrp="1"/>
          </p:cNvSpPr>
          <p:nvPr>
            <p:ph type="body" idx="15" sz="quarter"/>
          </p:nvPr>
        </p:nvSpPr>
        <p:spPr/>
        <p:txBody>
          <a:bodyPr/>
          <a:lstStyle/>
          <a:p>
            <a:pPr>
              <a:spcBef>
                <a:spcPts val="400"/>
              </a:spcBef>
              <a:buChar char="•"/>
            </a:pPr>
            <a:r>
              <a:rPr>
                <a:latin typeface="Arial"/>
              </a:rPr>
              <a:t>Cardiff-based team, Welsh-speaking leadership</a:t>
            </a:r>
          </a:p>
          <a:p>
            <a:pPr>
              <a:spcBef>
                <a:spcPts val="400"/>
              </a:spcBef>
              <a:buChar char="•"/>
            </a:pPr>
            <a:r>
              <a:rPr>
                <a:latin typeface="Arial"/>
              </a:rPr>
              <a:t>Deep ties to local communities</a:t>
            </a:r>
          </a:p>
          <a:p>
            <a:pPr>
              <a:spcBef>
                <a:spcPts val="400"/>
              </a:spcBef>
              <a:buChar char="•"/>
            </a:pPr>
            <a:r>
              <a:rPr>
                <a:latin typeface="Arial"/>
              </a:rPr>
              <a:t>Active in DigiGirlz and school partnerships</a:t>
            </a:r>
          </a:p>
          <a:p>
            <a:pPr>
              <a:spcBef>
                <a:spcPts val="400"/>
              </a:spcBef>
              <a:buChar char="•"/>
            </a:pPr>
            <a:r>
              <a:rPr>
                <a:latin typeface="Arial"/>
              </a:rPr>
              <a:t>Proven digital skills development</a:t>
            </a:r>
          </a:p>
          <a:p>
            <a:pPr>
              <a:spcBef>
                <a:spcPts val="400"/>
              </a:spcBef>
              <a:buChar char="•"/>
            </a:pPr>
            <a:r>
              <a:rPr>
                <a:latin typeface="Arial"/>
              </a:rPr>
              <a:t>Track record in sustainable delivery</a:t>
            </a:r>
          </a:p>
        </p:txBody>
      </p:sp>
      <p:sp>
        <p:nvSpPr>
          <p:cNvPr id="5" name="Picture Placeholder 4"/>
          <p:cNvSpPr>
            <a:spLocks noGrp="1"/>
          </p:cNvSpPr>
          <p:nvPr>
            <p:ph type="pic" idx="14" sz="quarter"/>
          </p:nvPr>
        </p:nvSpPr>
        <p:spPr/>
        <p:txBody>
          <a:body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delivery performance — headline metrics</a:t>
            </a:r>
          </a:p>
        </p:txBody>
      </p:sp>
      <p:sp>
        <p:nvSpPr>
          <p:cNvPr id="3" name="Text Placeholder 2"/>
          <p:cNvSpPr>
            <a:spLocks noGrp="1"/>
          </p:cNvSpPr>
          <p:nvPr>
            <p:ph type="body" idx="12" sz="quarter"/>
          </p:nvPr>
        </p:nvSpPr>
        <p:spPr/>
        <p:txBody>
          <a:bodyPr/>
          <a:lstStyle/>
          <a:p>
            <a:pPr>
              <a:spcBef>
                <a:spcPts val="400"/>
              </a:spcBef>
              <a:buChar char="•"/>
            </a:pPr>
            <a:r>
              <a:rPr>
                <a:latin typeface="Arial"/>
              </a:rPr>
              <a:t>93% of sprint goals delivered on time</a:t>
            </a:r>
          </a:p>
          <a:p>
            <a:pPr>
              <a:spcBef>
                <a:spcPts val="400"/>
              </a:spcBef>
              <a:buChar char="•"/>
            </a:pPr>
            <a:r>
              <a:rPr>
                <a:latin typeface="Arial"/>
              </a:rPr>
              <a:t>Zero critical defects at Beta launch</a:t>
            </a:r>
          </a:p>
          <a:p>
            <a:pPr>
              <a:spcBef>
                <a:spcPts val="400"/>
              </a:spcBef>
              <a:buChar char="•"/>
            </a:pPr>
            <a:r>
              <a:rPr>
                <a:latin typeface="Arial"/>
              </a:rPr>
              <a:t>30% faster data processing for DVLA</a:t>
            </a:r>
          </a:p>
          <a:p>
            <a:pPr>
              <a:spcBef>
                <a:spcPts val="400"/>
              </a:spcBef>
              <a:buChar char="•"/>
            </a:pPr>
            <a:r>
              <a:rPr>
                <a:latin typeface="Arial"/>
              </a:rPr>
              <a:t>18-month delivery for NHS Digital integration</a:t>
            </a:r>
          </a:p>
          <a:p>
            <a:pPr>
              <a:spcBef>
                <a:spcPts val="400"/>
              </a:spcBef>
              <a:buChar char="•"/>
            </a:pPr>
            <a:r>
              <a:rPr>
                <a:latin typeface="Arial"/>
              </a:rPr>
              <a:t>40% reporting effort reduction at HMRC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Scenarios 1 &amp;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structured, evidence-led approach for both scenarios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Discovery and shaping approach</a:t>
            </a:r>
          </a:p>
        </p:txBody>
      </p:sp>
      <p:sp>
        <p:nvSpPr>
          <p:cNvPr id="3" name="Text Placeholder 2"/>
          <p:cNvSpPr>
            <a:spLocks noGrp="1"/>
          </p:cNvSpPr>
          <p:nvPr>
            <p:ph type="body" idx="12" sz="quarter"/>
          </p:nvPr>
        </p:nvSpPr>
        <p:spPr/>
        <p:txBody>
          <a:bodyPr/>
          <a:lstStyle/>
          <a:p>
            <a:pPr>
              <a:spcBef>
                <a:spcPts val="400"/>
              </a:spcBef>
            </a:pPr>
            <a:r>
              <a:rPr>
                <a:latin typeface="Arial"/>
              </a:rPr>
              <a:t>User &amp; stakeholder discovery — identify pain points</a:t>
            </a:r>
          </a:p>
        </p:txBody>
      </p:sp>
      <p:sp>
        <p:nvSpPr>
          <p:cNvPr id="4" name="Text Placeholder 3"/>
          <p:cNvSpPr>
            <a:spLocks noGrp="1"/>
          </p:cNvSpPr>
          <p:nvPr>
            <p:ph type="body" idx="13" sz="quarter"/>
          </p:nvPr>
        </p:nvSpPr>
        <p:spPr/>
        <p:txBody>
          <a:bodyPr/>
          <a:lstStyle/>
          <a:p>
            <a:pPr>
              <a:spcBef>
                <a:spcPts val="400"/>
              </a:spcBef>
            </a:pPr>
            <a:r>
              <a:rPr>
                <a:latin typeface="Arial"/>
              </a:rPr>
              <a:t>Technical &amp; architectural assessment — baseline and constraints</a:t>
            </a:r>
          </a:p>
        </p:txBody>
      </p:sp>
      <p:sp>
        <p:nvSpPr>
          <p:cNvPr id="5" name="Text Placeholder 4"/>
          <p:cNvSpPr>
            <a:spLocks noGrp="1"/>
          </p:cNvSpPr>
          <p:nvPr>
            <p:ph type="body" idx="14" sz="quarter"/>
          </p:nvPr>
        </p:nvSpPr>
        <p:spPr/>
        <p:txBody>
          <a:bodyPr/>
          <a:lstStyle/>
          <a:p>
            <a:pPr>
              <a:spcBef>
                <a:spcPts val="400"/>
              </a:spcBef>
            </a:pPr>
            <a:r>
              <a:rPr>
                <a:latin typeface="Arial"/>
              </a:rPr>
              <a:t>Commercial &amp; delivery assessment — phase and sequence</a:t>
            </a:r>
          </a:p>
        </p:txBody>
      </p:sp>
      <p:sp>
        <p:nvSpPr>
          <p:cNvPr id="6" name="Text Placeholder 5"/>
          <p:cNvSpPr>
            <a:spLocks noGrp="1"/>
          </p:cNvSpPr>
          <p:nvPr>
            <p:ph type="body" idx="15" sz="quarter"/>
          </p:nvPr>
        </p:nvSpPr>
        <p:spPr/>
        <p:txBody>
          <a:bodyPr/>
          <a:lstStyle/>
          <a:p>
            <a:pPr>
              <a:spcBef>
                <a:spcPts val="400"/>
              </a:spcBef>
            </a:pPr>
            <a:r>
              <a:rPr>
                <a:latin typeface="Arial"/>
              </a:rPr>
              <a:t>Evidence-based roadmap — inform investment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phase: how we deliver</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with NRW engagement</a:t>
            </a:r>
          </a:p>
          <a:p>
            <a:pPr>
              <a:spcBef>
                <a:spcPts val="400"/>
              </a:spcBef>
              <a:buChar char="•"/>
            </a:pPr>
            <a:r>
              <a:rPr>
                <a:latin typeface="Arial"/>
              </a:rPr>
              <a:t>Co-design workshops and user research</a:t>
            </a:r>
          </a:p>
          <a:p>
            <a:pPr>
              <a:spcBef>
                <a:spcPts val="400"/>
              </a:spcBef>
              <a:buChar char="•"/>
            </a:pPr>
            <a:r>
              <a:rPr>
                <a:latin typeface="Arial"/>
              </a:rPr>
              <a:t>Iterative analysis and rapid prototyping</a:t>
            </a:r>
          </a:p>
          <a:p>
            <a:pPr>
              <a:spcBef>
                <a:spcPts val="400"/>
              </a:spcBef>
              <a:buChar char="•"/>
            </a:pPr>
            <a:r>
              <a:rPr>
                <a:latin typeface="Arial"/>
              </a:rPr>
              <a:t>Continuous validation of assumptions</a:t>
            </a:r>
          </a:p>
          <a:p>
            <a:pPr>
              <a:spcBef>
                <a:spcPts val="400"/>
              </a:spcBef>
              <a:buChar char="•"/>
            </a:pPr>
            <a:r>
              <a:rPr>
                <a:latin typeface="Arial"/>
              </a:rPr>
              <a:t>Agile sprints and show-and-tells</a:t>
            </a:r>
          </a:p>
          <a:p>
            <a:pPr>
              <a:spcBef>
                <a:spcPts val="400"/>
              </a:spcBef>
              <a:buChar char="•"/>
            </a:pPr>
            <a:r>
              <a:rPr>
                <a:latin typeface="Arial"/>
              </a:rPr>
              <a:t>Early mobilisation of delivery readiness</a:t>
            </a:r>
          </a:p>
          <a:p>
            <a:pPr>
              <a:spcBef>
                <a:spcPts val="400"/>
              </a:spcBef>
              <a:buChar char="•"/>
            </a:pPr>
            <a:r>
              <a:rPr>
                <a:latin typeface="Arial"/>
              </a:rPr>
              <a:t>Structured knowledge management</a:t>
            </a:r>
          </a:p>
        </p:txBody>
      </p:sp>
      <p:sp>
        <p:nvSpPr>
          <p:cNvPr id="4" name="Text Placeholder 3"/>
          <p:cNvSpPr>
            <a:spLocks noGrp="1"/>
          </p:cNvSpPr>
          <p:nvPr>
            <p:ph type="body" idx="12" sz="quarter"/>
          </p:nvPr>
        </p:nvSpPr>
        <p:spPr/>
        <p:txBody>
          <a:bodyPr/>
          <a:lstStyle/>
          <a:p>
            <a:pPr>
              <a:spcBef>
                <a:spcPts val="400"/>
              </a:spcBef>
              <a:buChar char="•"/>
            </a:pPr>
            <a:r>
              <a:rPr>
                <a:latin typeface="Arial"/>
              </a:rPr>
              <a:t>Prioritised 18–24 month roadmap</a:t>
            </a:r>
          </a:p>
          <a:p>
            <a:pPr>
              <a:spcBef>
                <a:spcPts val="400"/>
              </a:spcBef>
              <a:buChar char="•"/>
            </a:pPr>
            <a:r>
              <a:rPr>
                <a:latin typeface="Arial"/>
              </a:rPr>
              <a:t>Baseline architecture and technical constraints</a:t>
            </a:r>
          </a:p>
          <a:p>
            <a:pPr>
              <a:spcBef>
                <a:spcPts val="400"/>
              </a:spcBef>
              <a:buChar char="•"/>
            </a:pPr>
            <a:r>
              <a:rPr>
                <a:latin typeface="Arial"/>
              </a:rPr>
              <a:t>Sequenced delivery plan for business case</a:t>
            </a:r>
          </a:p>
          <a:p>
            <a:pPr>
              <a:spcBef>
                <a:spcPts val="400"/>
              </a:spcBef>
              <a:buChar char="•"/>
            </a:pPr>
            <a:r>
              <a:rPr>
                <a:latin typeface="Arial"/>
              </a:rPr>
              <a:t>Traceability from user need to investment</a:t>
            </a:r>
          </a:p>
          <a:p>
            <a:pPr>
              <a:spcBef>
                <a:spcPts val="400"/>
              </a:spcBef>
              <a:buChar char="•"/>
            </a:pPr>
            <a:r>
              <a:rPr>
                <a:latin typeface="Arial"/>
              </a:rPr>
              <a:t>Clear governance and team mobilisation</a:t>
            </a:r>
          </a:p>
          <a:p>
            <a:pPr>
              <a:spcBef>
                <a:spcPts val="400"/>
              </a:spcBef>
              <a:buChar char="•"/>
            </a:pPr>
            <a:r>
              <a:rPr>
                <a:latin typeface="Arial"/>
              </a:rPr>
              <a:t>Outcome-based prioritisation frameworks</a:t>
            </a:r>
          </a:p>
          <a:p>
            <a:pPr>
              <a:spcBef>
                <a:spcPts val="400"/>
              </a:spcBef>
              <a:buChar char="•"/>
            </a:pPr>
            <a:r>
              <a:rPr>
                <a:latin typeface="Arial"/>
              </a:rPr>
              <a:t>Evidence for future platform evolution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state: fragmented customer data and journeys</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user journeys, no real-time view</a:t>
            </a:r>
          </a:p>
          <a:p>
            <a:pPr>
              <a:spcBef>
                <a:spcPts val="400"/>
              </a:spcBef>
              <a:buChar char="•"/>
            </a:pPr>
            <a:r>
              <a:rPr>
                <a:latin typeface="Arial"/>
              </a:rPr>
              <a:t>Limited integration with live data sources</a:t>
            </a:r>
          </a:p>
          <a:p>
            <a:pPr>
              <a:spcBef>
                <a:spcPts val="400"/>
              </a:spcBef>
              <a:buChar char="•"/>
            </a:pPr>
            <a:r>
              <a:rPr>
                <a:latin typeface="Arial"/>
              </a:rPr>
              <a:t>Manual reconciliation and duplication</a:t>
            </a:r>
          </a:p>
          <a:p>
            <a:pPr>
              <a:spcBef>
                <a:spcPts val="400"/>
              </a:spcBef>
              <a:buChar char="•"/>
            </a:pPr>
            <a:r>
              <a:rPr>
                <a:latin typeface="Arial"/>
              </a:rPr>
              <a:t>Siloed legacy and modern systems</a:t>
            </a:r>
          </a:p>
          <a:p>
            <a:pPr>
              <a:spcBef>
                <a:spcPts val="400"/>
              </a:spcBef>
              <a:buChar char="•"/>
            </a:pPr>
            <a:r>
              <a:rPr>
                <a:latin typeface="Arial"/>
              </a:rPr>
              <a:t>Barriers to analytics and insight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architecture: Microsoft-aligned, layered platform</a:t>
            </a:r>
          </a:p>
        </p:txBody>
      </p:sp>
      <p:sp>
        <p:nvSpPr>
          <p:cNvPr id="3" name="Text Placeholder 2"/>
          <p:cNvSpPr>
            <a:spLocks noGrp="1"/>
          </p:cNvSpPr>
          <p:nvPr>
            <p:ph type="body" idx="12" sz="quarter"/>
          </p:nvPr>
        </p:nvSpPr>
        <p:spPr/>
        <p:txBody>
          <a:bodyPr/>
          <a:lstStyle/>
          <a:p>
            <a:pPr>
              <a:spcBef>
                <a:spcPts val="400"/>
              </a:spcBef>
              <a:buChar char="•"/>
            </a:pPr>
            <a:r>
              <a:rPr>
                <a:latin typeface="Arial"/>
              </a:rPr>
              <a:t>Customer Engagement Layer: portals, web, content</a:t>
            </a:r>
          </a:p>
          <a:p>
            <a:pPr>
              <a:spcBef>
                <a:spcPts val="400"/>
              </a:spcBef>
              <a:buChar char="•"/>
            </a:pPr>
            <a:r>
              <a:rPr>
                <a:latin typeface="Arial"/>
              </a:rPr>
              <a:t>Service Management Layer: Dynamics 365 as system of record</a:t>
            </a:r>
          </a:p>
          <a:p>
            <a:pPr>
              <a:spcBef>
                <a:spcPts val="400"/>
              </a:spcBef>
              <a:buChar char="•"/>
            </a:pPr>
            <a:r>
              <a:rPr>
                <a:latin typeface="Arial"/>
              </a:rPr>
              <a:t>Integration Layer: Azure services, API-first, event-driven</a:t>
            </a:r>
          </a:p>
          <a:p>
            <a:pPr>
              <a:spcBef>
                <a:spcPts val="400"/>
              </a:spcBef>
              <a:buChar char="•"/>
            </a:pPr>
            <a:r>
              <a:rPr>
                <a:latin typeface="Arial"/>
              </a:rPr>
              <a:t>Data &amp; Insights Layer: governed, trusted data on Azure</a:t>
            </a:r>
          </a:p>
          <a:p>
            <a:pPr>
              <a:spcBef>
                <a:spcPts val="400"/>
              </a:spcBef>
              <a:buChar char="•"/>
            </a:pPr>
            <a:r>
              <a:rPr>
                <a:latin typeface="Arial"/>
              </a:rPr>
              <a:t>Separation of concerns for maintainability</a:t>
            </a:r>
          </a:p>
          <a:p>
            <a:pPr>
              <a:spcBef>
                <a:spcPts val="400"/>
              </a:spcBef>
              <a:buChar char="•"/>
            </a:pPr>
            <a:r>
              <a:rPr>
                <a:latin typeface="Arial"/>
              </a:rPr>
              <a:t>Modular, loosely coupled components</a:t>
            </a:r>
          </a:p>
          <a:p>
            <a:pPr>
              <a:spcBef>
                <a:spcPts val="400"/>
              </a:spcBef>
              <a:buChar char="•"/>
            </a:pPr>
            <a:r>
              <a:rPr>
                <a:latin typeface="Arial"/>
              </a:rPr>
              <a:t>Security, privacy, and resilience by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a:t>
            </a:r>
          </a:p>
        </p:txBody>
      </p:sp>
      <p:sp>
        <p:nvSpPr>
          <p:cNvPr id="3" name="Content Placeholder 2"/>
          <p:cNvSpPr>
            <a:spLocks noGrp="1"/>
          </p:cNvSpPr>
          <p:nvPr>
            <p:ph idx="17" sz="quarter"/>
          </p:nvPr>
        </p:nvSpPr>
        <p:spPr/>
        <p:txBody>
          <a:bodyPr/>
          <a:lstStyle/>
          <a:p>
            <a:pPr>
              <a:spcBef>
                <a:spcPts val="400"/>
              </a:spcBef>
            </a:pPr>
            <a:r>
              <a:rPr>
                <a:latin typeface="Arial"/>
              </a:rPr>
              <a:t>Cloud-First, SaaS-Preferred</a:t>
            </a:r>
            <a:br/>
            <a:r>
              <a:rPr>
                <a:latin typeface="Arial"/>
              </a:rPr>
              <a:t>['Maximise managed Microsoft services', 'Limit bespoke infrastructure', 'Default to scalable, secure cloud']</a:t>
            </a:r>
          </a:p>
        </p:txBody>
      </p:sp>
      <p:sp>
        <p:nvSpPr>
          <p:cNvPr id="4" name="Content Placeholder 3"/>
          <p:cNvSpPr>
            <a:spLocks noGrp="1"/>
          </p:cNvSpPr>
          <p:nvPr>
            <p:ph idx="18" sz="quarter"/>
          </p:nvPr>
        </p:nvSpPr>
        <p:spPr/>
        <p:txBody>
          <a:bodyPr/>
          <a:lstStyle/>
          <a:p>
            <a:pPr>
              <a:spcBef>
                <a:spcPts val="400"/>
              </a:spcBef>
            </a:pPr>
            <a:r>
              <a:rPr>
                <a:latin typeface="Arial"/>
              </a:rPr>
              <a:t>Modularity &amp; Loose Coupling</a:t>
            </a:r>
            <a:br/>
            <a:r>
              <a:rPr>
                <a:latin typeface="Arial"/>
              </a:rPr>
              <a:t>['Separate experience, logic, integration', 'API-first, event-driven design', 'Avoid point-to-point integration']</a:t>
            </a:r>
          </a:p>
        </p:txBody>
      </p:sp>
      <p:sp>
        <p:nvSpPr>
          <p:cNvPr id="5" name="Content Placeholder 4"/>
          <p:cNvSpPr>
            <a:spLocks noGrp="1"/>
          </p:cNvSpPr>
          <p:nvPr>
            <p:ph idx="20" sz="quarter"/>
          </p:nvPr>
        </p:nvSpPr>
        <p:spPr/>
        <p:txBody>
          <a:bodyPr/>
          <a:lstStyle/>
          <a:p>
            <a:pPr>
              <a:spcBef>
                <a:spcPts val="400"/>
              </a:spcBef>
            </a:pPr>
            <a:r>
              <a:rPr>
                <a:latin typeface="Arial"/>
              </a:rPr>
              <a:t>Data as a Governed Asset</a:t>
            </a:r>
            <a:br/>
            <a:r>
              <a:rPr>
                <a:latin typeface="Arial"/>
              </a:rPr>
              <a:t>['Clear ownership and lineage', 'Trusted, reusable data products', 'Interoperability with data platform']</a:t>
            </a:r>
          </a:p>
        </p:txBody>
      </p:sp>
      <p:sp>
        <p:nvSpPr>
          <p:cNvPr id="6" name="Content Placeholder 5"/>
          <p:cNvSpPr>
            <a:spLocks noGrp="1"/>
          </p:cNvSpPr>
          <p:nvPr>
            <p:ph idx="19" sz="quarter"/>
          </p:nvPr>
        </p:nvSpPr>
        <p:spPr/>
        <p:txBody>
          <a:bodyPr/>
          <a:lstStyle/>
          <a:p>
            <a:pPr>
              <a:spcBef>
                <a:spcPts val="400"/>
              </a:spcBef>
            </a:pPr>
            <a:r>
              <a:rPr>
                <a:latin typeface="Arial"/>
              </a:rPr>
              <a:t>Security &amp; Operability</a:t>
            </a:r>
            <a:br/>
            <a:r>
              <a:rPr>
                <a:latin typeface="Arial"/>
              </a:rPr>
              <a:t>['Zero trust, identity-led design', 'Observability and resilience built in', 'Continuous compliance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addressing fragmentation</a:t>
            </a:r>
          </a:p>
        </p:txBody>
      </p:sp>
      <p:sp>
        <p:nvSpPr>
          <p:cNvPr id="3" name="Text Placeholder 2"/>
          <p:cNvSpPr>
            <a:spLocks noGrp="1"/>
          </p:cNvSpPr>
          <p:nvPr>
            <p:ph type="body" idx="13" sz="quarter"/>
          </p:nvPr>
        </p:nvSpPr>
        <p:spPr/>
        <p:txBody>
          <a:bodyPr/>
          <a:lstStyle/>
          <a:p>
            <a:pPr>
              <a:spcBef>
                <a:spcPts val="400"/>
              </a:spcBef>
              <a:buChar char="•"/>
            </a:pPr>
            <a:r>
              <a:rPr>
                <a:latin typeface="Arial"/>
              </a:rPr>
              <a:t>Inconsistent customer records across platforms</a:t>
            </a:r>
          </a:p>
          <a:p>
            <a:pPr>
              <a:spcBef>
                <a:spcPts val="400"/>
              </a:spcBef>
              <a:buChar char="•"/>
            </a:pPr>
            <a:r>
              <a:rPr>
                <a:latin typeface="Arial"/>
              </a:rPr>
              <a:t>Disconnected data flows and ownership gaps</a:t>
            </a:r>
          </a:p>
          <a:p>
            <a:pPr>
              <a:spcBef>
                <a:spcPts val="400"/>
              </a:spcBef>
              <a:buChar char="•"/>
            </a:pPr>
            <a:r>
              <a:rPr>
                <a:latin typeface="Arial"/>
              </a:rPr>
              <a:t>Fragmented user journeys and service views</a:t>
            </a:r>
          </a:p>
          <a:p>
            <a:pPr>
              <a:spcBef>
                <a:spcPts val="400"/>
              </a:spcBef>
              <a:buChar char="•"/>
            </a:pPr>
            <a:r>
              <a:rPr>
                <a:latin typeface="Arial"/>
              </a:rPr>
              <a:t>Legacy system dependencies</a:t>
            </a:r>
          </a:p>
          <a:p>
            <a:pPr>
              <a:spcBef>
                <a:spcPts val="400"/>
              </a:spcBef>
              <a:buChar char="•"/>
            </a:pPr>
            <a:r>
              <a:rPr>
                <a:latin typeface="Arial"/>
              </a:rPr>
              <a:t>Duplication and poor data quality</a:t>
            </a:r>
          </a:p>
          <a:p>
            <a:pPr>
              <a:spcBef>
                <a:spcPts val="400"/>
              </a:spcBef>
              <a:buChar char="•"/>
            </a:pPr>
            <a:r>
              <a:rPr>
                <a:latin typeface="Arial"/>
              </a:rPr>
              <a:t>No single customer identity</a:t>
            </a:r>
          </a:p>
          <a:p>
            <a:pPr>
              <a:spcBef>
                <a:spcPts val="400"/>
              </a:spcBef>
              <a:buChar char="•"/>
            </a:pPr>
            <a:r>
              <a:rPr>
                <a:latin typeface="Arial"/>
              </a:rPr>
              <a:t>Barriers to real-time analytics</a:t>
            </a:r>
          </a:p>
        </p:txBody>
      </p:sp>
      <p:sp>
        <p:nvSpPr>
          <p:cNvPr id="4" name="Text Placeholder 3"/>
          <p:cNvSpPr>
            <a:spLocks noGrp="1"/>
          </p:cNvSpPr>
          <p:nvPr>
            <p:ph type="body" idx="12" sz="quarter"/>
          </p:nvPr>
        </p:nvSpPr>
        <p:spPr/>
        <p:txBody>
          <a:bodyPr/>
          <a:lstStyle/>
          <a:p>
            <a:pPr>
              <a:spcBef>
                <a:spcPts val="400"/>
              </a:spcBef>
              <a:buChar char="•"/>
            </a:pPr>
            <a:r>
              <a:rPr>
                <a:latin typeface="Arial"/>
              </a:rPr>
              <a:t>Map data across CRM, CMS, GIS, legacy</a:t>
            </a:r>
          </a:p>
          <a:p>
            <a:pPr>
              <a:spcBef>
                <a:spcPts val="400"/>
              </a:spcBef>
              <a:buChar char="•"/>
            </a:pPr>
            <a:r>
              <a:rPr>
                <a:latin typeface="Arial"/>
              </a:rPr>
              <a:t>Introduce shared customer identifier</a:t>
            </a:r>
          </a:p>
          <a:p>
            <a:pPr>
              <a:spcBef>
                <a:spcPts val="400"/>
              </a:spcBef>
              <a:buChar char="•"/>
            </a:pPr>
            <a:r>
              <a:rPr>
                <a:latin typeface="Arial"/>
              </a:rPr>
              <a:t>Dynamics 365 as authoritative domain</a:t>
            </a:r>
          </a:p>
          <a:p>
            <a:pPr>
              <a:spcBef>
                <a:spcPts val="400"/>
              </a:spcBef>
              <a:buChar char="•"/>
            </a:pPr>
            <a:r>
              <a:rPr>
                <a:latin typeface="Arial"/>
              </a:rPr>
              <a:t>API-based integration for consistency</a:t>
            </a:r>
          </a:p>
          <a:p>
            <a:pPr>
              <a:spcBef>
                <a:spcPts val="400"/>
              </a:spcBef>
              <a:buChar char="•"/>
            </a:pPr>
            <a:r>
              <a:rPr>
                <a:latin typeface="Arial"/>
              </a:rPr>
              <a:t>Event-driven updates across systems</a:t>
            </a:r>
          </a:p>
          <a:p>
            <a:pPr>
              <a:spcBef>
                <a:spcPts val="400"/>
              </a:spcBef>
              <a:buChar char="•"/>
            </a:pPr>
            <a:r>
              <a:rPr>
                <a:latin typeface="Arial"/>
              </a:rPr>
              <a:t>Progressive data consolidation</a:t>
            </a:r>
          </a:p>
          <a:p>
            <a:pPr>
              <a:spcBef>
                <a:spcPts val="400"/>
              </a:spcBef>
              <a:buChar char="•"/>
            </a:pPr>
            <a:r>
              <a:rPr>
                <a:latin typeface="Arial"/>
              </a:rPr>
              <a:t>Governed data platform for analytics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A unified platform will reduce operational friction</a:t>
            </a:r>
          </a:p>
          <a:p>
            <a:pPr>
              <a:spcBef>
                <a:spcPts val="400"/>
              </a:spcBef>
              <a:buChar char="•"/>
            </a:pPr>
            <a:r>
              <a:rPr>
                <a:latin typeface="Arial"/>
              </a:rPr>
              <a:t>API-first integration will improve data consistency</a:t>
            </a:r>
          </a:p>
          <a:p>
            <a:pPr>
              <a:spcBef>
                <a:spcPts val="400"/>
              </a:spcBef>
              <a:buChar char="•"/>
            </a:pPr>
            <a:r>
              <a:rPr>
                <a:latin typeface="Arial"/>
              </a:rPr>
              <a:t>Governed data will support analytics and AI</a:t>
            </a:r>
          </a:p>
          <a:p>
            <a:pPr>
              <a:spcBef>
                <a:spcPts val="400"/>
              </a:spcBef>
              <a:buChar char="•"/>
            </a:pPr>
            <a:r>
              <a:rPr>
                <a:latin typeface="Arial"/>
              </a:rPr>
              <a:t>Modular architecture enables phased delivery</a:t>
            </a:r>
          </a:p>
          <a:p>
            <a:pPr>
              <a:spcBef>
                <a:spcPts val="400"/>
              </a:spcBef>
              <a:buChar char="•"/>
            </a:pPr>
            <a:r>
              <a:rPr>
                <a:latin typeface="Arial"/>
              </a:rPr>
              <a:t>Knowledge transfer will reduce client dependency</a:t>
            </a:r>
          </a:p>
          <a:p>
            <a:pPr>
              <a:spcBef>
                <a:spcPts val="400"/>
              </a:spcBef>
              <a:buChar char="•"/>
            </a:pPr>
            <a:r>
              <a:rPr>
                <a:latin typeface="Arial"/>
              </a:rPr>
              <a:t>Security by design will ensure compliance</a:t>
            </a:r>
          </a:p>
          <a:p>
            <a:pPr>
              <a:spcBef>
                <a:spcPts val="400"/>
              </a:spcBef>
              <a:buChar char="•"/>
            </a:pPr>
            <a:r>
              <a:rPr>
                <a:latin typeface="Arial"/>
              </a:rPr>
              <a:t>Blended teams accelerate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Reduction in duplicated customer records</a:t>
            </a:r>
          </a:p>
          <a:p>
            <a:pPr>
              <a:spcBef>
                <a:spcPts val="400"/>
              </a:spcBef>
              <a:buChar char="•"/>
            </a:pPr>
            <a:r>
              <a:rPr>
                <a:latin typeface="Arial"/>
              </a:rPr>
              <a:t>All key systems integrated via APIs</a:t>
            </a:r>
          </a:p>
          <a:p>
            <a:pPr>
              <a:spcBef>
                <a:spcPts val="400"/>
              </a:spcBef>
              <a:buChar char="•"/>
            </a:pPr>
            <a:r>
              <a:rPr>
                <a:latin typeface="Arial"/>
              </a:rPr>
              <a:t>Trusted data products available for reporting</a:t>
            </a:r>
          </a:p>
          <a:p>
            <a:pPr>
              <a:spcBef>
                <a:spcPts val="400"/>
              </a:spcBef>
              <a:buChar char="•"/>
            </a:pPr>
            <a:r>
              <a:rPr>
                <a:latin typeface="Arial"/>
              </a:rPr>
              <a:t>Incremental delivery of new features</a:t>
            </a:r>
          </a:p>
          <a:p>
            <a:pPr>
              <a:spcBef>
                <a:spcPts val="400"/>
              </a:spcBef>
              <a:buChar char="•"/>
            </a:pPr>
            <a:r>
              <a:rPr>
                <a:latin typeface="Arial"/>
              </a:rPr>
              <a:t>NRW staff leading product teams by end of Alpha</a:t>
            </a:r>
          </a:p>
          <a:p>
            <a:pPr>
              <a:spcBef>
                <a:spcPts val="400"/>
              </a:spcBef>
              <a:buChar char="•"/>
            </a:pPr>
            <a:r>
              <a:rPr>
                <a:latin typeface="Arial"/>
              </a:rPr>
              <a:t>Zero critical security findings at go-live</a:t>
            </a:r>
          </a:p>
          <a:p>
            <a:pPr>
              <a:spcBef>
                <a:spcPts val="400"/>
              </a:spcBef>
              <a:buChar char="•"/>
            </a:pPr>
            <a:r>
              <a:rPr>
                <a:latin typeface="Arial"/>
              </a:rPr>
              <a:t>Sustained team performance post-handover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Four-phase delivery roadmap for NRW</a:t>
            </a:r>
          </a:p>
        </p:txBody>
      </p:sp>
      <p:sp>
        <p:nvSpPr>
          <p:cNvPr id="3" name="Content Placeholder 2"/>
          <p:cNvSpPr>
            <a:spLocks noGrp="1"/>
          </p:cNvSpPr>
          <p:nvPr>
            <p:ph idx="17" sz="quarter"/>
          </p:nvPr>
        </p:nvSpPr>
        <p:spPr/>
        <p:txBody>
          <a:bodyPr/>
          <a:lstStyle/>
          <a:p>
            <a:pPr>
              <a:spcBef>
                <a:spcPts val="400"/>
              </a:spcBef>
            </a:pPr>
            <a:r>
              <a:rPr>
                <a:latin typeface="Arial"/>
              </a:rPr>
              <a:t>Discovery</a:t>
            </a:r>
            <a:br/>
            <a:r>
              <a:rPr>
                <a:latin typeface="Arial"/>
              </a:rPr>
              <a:t>6 weeks: map systems, research, prioritise; define hypotheses</a:t>
            </a:r>
          </a:p>
        </p:txBody>
      </p:sp>
      <p:sp>
        <p:nvSpPr>
          <p:cNvPr id="4" name="Content Placeholder 3"/>
          <p:cNvSpPr>
            <a:spLocks noGrp="1"/>
          </p:cNvSpPr>
          <p:nvPr>
            <p:ph idx="18" sz="quarter"/>
          </p:nvPr>
        </p:nvSpPr>
        <p:spPr/>
        <p:txBody>
          <a:bodyPr/>
          <a:lstStyle/>
          <a:p>
            <a:pPr>
              <a:spcBef>
                <a:spcPts val="400"/>
              </a:spcBef>
            </a:pPr>
            <a:r>
              <a:rPr>
                <a:latin typeface="Arial"/>
              </a:rPr>
              <a:t>Alpha</a:t>
            </a:r>
            <a:br/>
            <a:r>
              <a:rPr>
                <a:latin typeface="Arial"/>
              </a:rPr>
              <a:t>Mobilise blended teams; validate technical baseline; sequenced plan</a:t>
            </a:r>
          </a:p>
        </p:txBody>
      </p:sp>
      <p:sp>
        <p:nvSpPr>
          <p:cNvPr id="5" name="Content Placeholder 4"/>
          <p:cNvSpPr>
            <a:spLocks noGrp="1"/>
          </p:cNvSpPr>
          <p:nvPr>
            <p:ph idx="20" sz="quarter"/>
          </p:nvPr>
        </p:nvSpPr>
        <p:spPr/>
        <p:txBody>
          <a:bodyPr/>
          <a:lstStyle/>
          <a:p>
            <a:pPr>
              <a:spcBef>
                <a:spcPts val="400"/>
              </a:spcBef>
            </a:pPr>
            <a:r>
              <a:rPr>
                <a:latin typeface="Arial"/>
              </a:rPr>
              <a:t>Beta</a:t>
            </a:r>
            <a:br/>
            <a:r>
              <a:rPr>
                <a:latin typeface="Arial"/>
              </a:rPr>
              <a:t>Pilot teams for value streams; prototype, test, integrate data</a:t>
            </a:r>
          </a:p>
        </p:txBody>
      </p:sp>
      <p:sp>
        <p:nvSpPr>
          <p:cNvPr id="6" name="Content Placeholder 5"/>
          <p:cNvSpPr>
            <a:spLocks noGrp="1"/>
          </p:cNvSpPr>
          <p:nvPr>
            <p:ph idx="19" sz="quarter"/>
          </p:nvPr>
        </p:nvSpPr>
        <p:spPr/>
        <p:txBody>
          <a:bodyPr/>
          <a:lstStyle/>
          <a:p>
            <a:pPr>
              <a:spcBef>
                <a:spcPts val="400"/>
              </a:spcBef>
            </a:pPr>
            <a:r>
              <a:rPr>
                <a:latin typeface="Arial"/>
              </a:rPr>
              <a:t>Live</a:t>
            </a:r>
            <a:br/>
            <a:r>
              <a:rPr>
                <a:latin typeface="Arial"/>
              </a:rPr>
              <a:t>Embed KT/coaching; transition to sustainable ops; planned handover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model: aligned strategy, delivery, technical control</a:t>
            </a:r>
          </a:p>
        </p:txBody>
      </p:sp>
      <p:sp>
        <p:nvSpPr>
          <p:cNvPr id="3" name="Content Placeholder 2"/>
          <p:cNvSpPr>
            <a:spLocks noGrp="1"/>
          </p:cNvSpPr>
          <p:nvPr>
            <p:ph idx="17" sz="quarter"/>
          </p:nvPr>
        </p:nvSpPr>
        <p:spPr/>
        <p:txBody>
          <a:bodyPr/>
          <a:lstStyle/>
          <a:p>
            <a:pPr>
              <a:spcBef>
                <a:spcPts val="400"/>
              </a:spcBef>
            </a:pPr>
            <a:r>
              <a:rPr>
                <a:latin typeface="Arial"/>
              </a:rPr>
              <a:t>Strategic governance</a:t>
            </a:r>
            <a:br/>
            <a:r>
              <a:rPr>
                <a:latin typeface="Arial"/>
              </a:rPr>
              <a:t>Monthly executive steering: set direction, outcomes, and alignment.</a:t>
            </a:r>
          </a:p>
        </p:txBody>
      </p:sp>
      <p:sp>
        <p:nvSpPr>
          <p:cNvPr id="4" name="Content Placeholder 3"/>
          <p:cNvSpPr>
            <a:spLocks noGrp="1"/>
          </p:cNvSpPr>
          <p:nvPr>
            <p:ph idx="18" sz="quarter"/>
          </p:nvPr>
        </p:nvSpPr>
        <p:spPr/>
        <p:txBody>
          <a:bodyPr/>
          <a:lstStyle/>
          <a:p>
            <a:pPr>
              <a:spcBef>
                <a:spcPts val="400"/>
              </a:spcBef>
            </a:pPr>
            <a:r>
              <a:rPr>
                <a:latin typeface="Arial"/>
              </a:rPr>
              <a:t>Programme governance</a:t>
            </a:r>
            <a:br/>
            <a:r>
              <a:rPr>
                <a:latin typeface="Arial"/>
              </a:rPr>
              <a:t>Fortnightly programme board: milestones, finances, risks, dependencies.</a:t>
            </a:r>
          </a:p>
        </p:txBody>
      </p:sp>
      <p:sp>
        <p:nvSpPr>
          <p:cNvPr id="5" name="Content Placeholder 4"/>
          <p:cNvSpPr>
            <a:spLocks noGrp="1"/>
          </p:cNvSpPr>
          <p:nvPr>
            <p:ph idx="20" sz="quarter"/>
          </p:nvPr>
        </p:nvSpPr>
        <p:spPr/>
        <p:txBody>
          <a:bodyPr/>
          <a:lstStyle/>
          <a:p>
            <a:pPr>
              <a:spcBef>
                <a:spcPts val="400"/>
              </a:spcBef>
            </a:pPr>
            <a:r>
              <a:rPr>
                <a:latin typeface="Arial"/>
              </a:rPr>
              <a:t>Technical governance</a:t>
            </a:r>
            <a:br/>
            <a:r>
              <a:rPr>
                <a:latin typeface="Arial"/>
              </a:rPr>
              <a:t>Weekly architecture review: technical consistency, security, compliance.</a:t>
            </a:r>
          </a:p>
        </p:txBody>
      </p:sp>
      <p:sp>
        <p:nvSpPr>
          <p:cNvPr id="6" name="Content Placeholder 5"/>
          <p:cNvSpPr>
            <a:spLocks noGrp="1"/>
          </p:cNvSpPr>
          <p:nvPr>
            <p:ph idx="19" sz="quarter"/>
          </p:nvPr>
        </p:nvSpPr>
        <p:spPr/>
        <p:txBody>
          <a:bodyPr/>
          <a:lstStyle/>
          <a:p>
            <a:pPr>
              <a:spcBef>
                <a:spcPts val="400"/>
              </a:spcBef>
            </a:pPr>
            <a:r>
              <a:rPr>
                <a:latin typeface="Arial"/>
              </a:rPr>
              <a:t>Risk management</a:t>
            </a:r>
            <a:br/>
            <a:r>
              <a:rPr>
                <a:latin typeface="Arial"/>
              </a:rPr>
              <a:t>Live risk registers, threat testing, and contingency/rollback plans.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affecting matching accuracy</a:t>
            </a:r>
          </a:p>
          <a:p>
            <a:pPr>
              <a:spcBef>
                <a:spcPts val="400"/>
              </a:spcBef>
              <a:buChar char="•"/>
            </a:pPr>
            <a:r>
              <a:rPr>
                <a:latin typeface="Arial"/>
              </a:rPr>
              <a:t>Hidden dependencies in legacy systems</a:t>
            </a:r>
          </a:p>
          <a:p>
            <a:pPr>
              <a:spcBef>
                <a:spcPts val="400"/>
              </a:spcBef>
              <a:buChar char="•"/>
            </a:pPr>
            <a:r>
              <a:rPr>
                <a:latin typeface="Arial"/>
              </a:rPr>
              <a:t>Integration performance constraints</a:t>
            </a:r>
          </a:p>
          <a:p>
            <a:pPr>
              <a:spcBef>
                <a:spcPts val="400"/>
              </a:spcBef>
              <a:buChar char="•"/>
            </a:pPr>
            <a:r>
              <a:rPr>
                <a:latin typeface="Arial"/>
              </a:rPr>
              <a:t>Security and privacy compliance gaps</a:t>
            </a:r>
          </a:p>
          <a:p>
            <a:pPr>
              <a:spcBef>
                <a:spcPts val="400"/>
              </a:spcBef>
              <a:buChar char="•"/>
            </a:pPr>
            <a:r>
              <a:rPr>
                <a:latin typeface="Arial"/>
              </a:rPr>
              <a:t>Inconsistent ownership of customer data</a:t>
            </a:r>
          </a:p>
          <a:p>
            <a:pPr>
              <a:spcBef>
                <a:spcPts val="400"/>
              </a:spcBef>
              <a:buChar char="•"/>
            </a:pPr>
            <a:r>
              <a:rPr>
                <a:latin typeface="Arial"/>
              </a:rPr>
              <a:t>Limited organisational readiness for change</a:t>
            </a:r>
          </a:p>
          <a:p>
            <a:pPr>
              <a:spcBef>
                <a:spcPts val="400"/>
              </a:spcBef>
              <a:buChar char="•"/>
            </a:pPr>
            <a:r>
              <a:rPr>
                <a:latin typeface="Arial"/>
              </a:rPr>
              <a:t>Service disruption during migration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data profiling and validation</a:t>
            </a:r>
          </a:p>
          <a:p>
            <a:pPr>
              <a:spcBef>
                <a:spcPts val="400"/>
              </a:spcBef>
              <a:buChar char="•"/>
            </a:pPr>
            <a:r>
              <a:rPr>
                <a:latin typeface="Arial"/>
              </a:rPr>
              <a:t>Dependency mapping and phased migration</a:t>
            </a:r>
          </a:p>
          <a:p>
            <a:pPr>
              <a:spcBef>
                <a:spcPts val="400"/>
              </a:spcBef>
              <a:buChar char="•"/>
            </a:pPr>
            <a:r>
              <a:rPr>
                <a:latin typeface="Arial"/>
              </a:rPr>
              <a:t>Performance testing and monitoring</a:t>
            </a:r>
          </a:p>
          <a:p>
            <a:pPr>
              <a:spcBef>
                <a:spcPts val="400"/>
              </a:spcBef>
              <a:buChar char="•"/>
            </a:pPr>
            <a:r>
              <a:rPr>
                <a:latin typeface="Arial"/>
              </a:rPr>
              <a:t>Zero trust, identity-led security design</a:t>
            </a:r>
          </a:p>
          <a:p>
            <a:pPr>
              <a:spcBef>
                <a:spcPts val="400"/>
              </a:spcBef>
              <a:buChar char="•"/>
            </a:pPr>
            <a:r>
              <a:rPr>
                <a:latin typeface="Arial"/>
              </a:rPr>
              <a:t>Clear data stewardship roles</a:t>
            </a:r>
          </a:p>
          <a:p>
            <a:pPr>
              <a:spcBef>
                <a:spcPts val="400"/>
              </a:spcBef>
              <a:buChar char="•"/>
            </a:pPr>
            <a:r>
              <a:rPr>
                <a:latin typeface="Arial"/>
              </a:rPr>
              <a:t>Change management and coaching</a:t>
            </a:r>
          </a:p>
          <a:p>
            <a:pPr>
              <a:spcBef>
                <a:spcPts val="400"/>
              </a:spcBef>
              <a:buChar char="•"/>
            </a:pPr>
            <a:r>
              <a:rPr>
                <a:latin typeface="Arial"/>
              </a:rPr>
              <a:t>Contingency and rollback planning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Website innovation — technical context</a:t>
            </a:r>
          </a:p>
        </p:txBody>
      </p:sp>
      <p:sp>
        <p:nvSpPr>
          <p:cNvPr id="3" name="Text Placeholder 2"/>
          <p:cNvSpPr>
            <a:spLocks noGrp="1"/>
          </p:cNvSpPr>
          <p:nvPr>
            <p:ph type="body" idx="12" sz="quarter"/>
          </p:nvPr>
        </p:nvSpPr>
        <p:spPr/>
        <p:txBody>
          <a:bodyPr/>
          <a:lstStyle/>
          <a:p>
            <a:pPr>
              <a:spcBef>
                <a:spcPts val="400"/>
              </a:spcBef>
              <a:buChar char="•"/>
            </a:pPr>
            <a:r>
              <a:rPr>
                <a:latin typeface="Arial"/>
              </a:rPr>
              <a:t>Umbraco CMS, Microsoft 365 workflows</a:t>
            </a:r>
          </a:p>
          <a:p>
            <a:pPr>
              <a:spcBef>
                <a:spcPts val="400"/>
              </a:spcBef>
              <a:buChar char="•"/>
            </a:pPr>
            <a:r>
              <a:rPr>
                <a:latin typeface="Arial"/>
              </a:rPr>
              <a:t>Azure-hosted services and APIs</a:t>
            </a:r>
          </a:p>
          <a:p>
            <a:pPr>
              <a:spcBef>
                <a:spcPts val="400"/>
              </a:spcBef>
              <a:buChar char="•"/>
            </a:pPr>
            <a:r>
              <a:rPr>
                <a:latin typeface="Arial"/>
              </a:rPr>
              <a:t>Identity via Entra ID and Azure AD B2C</a:t>
            </a:r>
          </a:p>
          <a:p>
            <a:pPr>
              <a:spcBef>
                <a:spcPts val="400"/>
              </a:spcBef>
              <a:buChar char="•"/>
            </a:pPr>
            <a:r>
              <a:rPr>
                <a:latin typeface="Arial"/>
              </a:rPr>
              <a:t>Bilingual content and accessibility requirements</a:t>
            </a:r>
          </a:p>
          <a:p>
            <a:pPr>
              <a:spcBef>
                <a:spcPts val="400"/>
              </a:spcBef>
              <a:buChar char="•"/>
            </a:pPr>
            <a:r>
              <a:rPr>
                <a:latin typeface="Arial"/>
              </a:rPr>
              <a:t>Integration with live and location-based data</a:t>
            </a:r>
          </a:p>
          <a:p>
            <a:pPr>
              <a:spcBef>
                <a:spcPts val="400"/>
              </a:spcBef>
              <a:buChar char="•"/>
            </a:pPr>
            <a:r>
              <a:rPr>
                <a:latin typeface="Arial"/>
              </a:rPr>
              <a:t>Constraints of current estate</a:t>
            </a:r>
          </a:p>
          <a:p>
            <a:pPr>
              <a:spcBef>
                <a:spcPts val="400"/>
              </a:spcBef>
              <a:buChar char="•"/>
            </a:pPr>
            <a:r>
              <a:rPr>
                <a:latin typeface="Arial"/>
              </a:rPr>
              <a:t>Focus on rapid, low-risk experimentation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Four-phase innovation plan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 analyse journeys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experiments, prototypes</a:t>
            </a:r>
          </a:p>
        </p:txBody>
      </p:sp>
      <p:sp>
        <p:nvSpPr>
          <p:cNvPr id="5" name="Text Placeholder 4"/>
          <p:cNvSpPr>
            <a:spLocks noGrp="1"/>
          </p:cNvSpPr>
          <p:nvPr>
            <p:ph type="body" idx="14" sz="quarter"/>
          </p:nvPr>
        </p:nvSpPr>
        <p:spPr/>
        <p:txBody>
          <a:bodyPr/>
          <a:lstStyle/>
          <a:p>
            <a:pPr>
              <a:spcBef>
                <a:spcPts val="400"/>
              </a:spcBef>
            </a:pPr>
            <a:r>
              <a:rPr>
                <a:latin typeface="Arial"/>
              </a:rPr>
              <a:t>Design &amp; Build: deepen strongest candidates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inform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innovation — our approach</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Jointly define testable hypotheses with NRW</a:t>
            </a:r>
          </a:p>
          <a:p>
            <a:pPr>
              <a:spcBef>
                <a:spcPts val="400"/>
              </a:spcBef>
              <a:buChar char="•"/>
            </a:pPr>
            <a:r>
              <a:rPr>
                <a:latin typeface="Arial"/>
              </a:rPr>
              <a:t>Focus on measurable user and organisational problems</a:t>
            </a:r>
          </a:p>
          <a:p>
            <a:pPr>
              <a:spcBef>
                <a:spcPts val="400"/>
              </a:spcBef>
              <a:buChar char="•"/>
            </a:pPr>
            <a:r>
              <a:rPr>
                <a:latin typeface="Arial"/>
              </a:rPr>
              <a:t>Design lightweight experiments, not just ideas</a:t>
            </a:r>
          </a:p>
          <a:p>
            <a:pPr>
              <a:spcBef>
                <a:spcPts val="400"/>
              </a:spcBef>
              <a:buChar char="•"/>
            </a:pPr>
            <a:r>
              <a:rPr>
                <a:latin typeface="Arial"/>
              </a:rPr>
              <a:t>Embed user-centred, bilingual design</a:t>
            </a:r>
          </a:p>
          <a:p>
            <a:pPr>
              <a:spcBef>
                <a:spcPts val="400"/>
              </a:spcBef>
              <a:buChar char="•"/>
            </a:pPr>
            <a:r>
              <a:rPr>
                <a:latin typeface="Arial"/>
              </a:rPr>
              <a:t>Continuous stakeholder engagement</a:t>
            </a:r>
          </a:p>
          <a:p>
            <a:pPr>
              <a:spcBef>
                <a:spcPts val="400"/>
              </a:spcBef>
              <a:buChar char="•"/>
            </a:pPr>
            <a:r>
              <a:rPr>
                <a:latin typeface="Arial"/>
              </a:rPr>
              <a:t>Evidence-based decision making</a:t>
            </a:r>
          </a:p>
          <a:p>
            <a:pPr>
              <a:spcBef>
                <a:spcPts val="400"/>
              </a:spcBef>
              <a:buChar char="•"/>
            </a:pPr>
            <a:r>
              <a:rPr>
                <a:latin typeface="Arial"/>
              </a:rPr>
              <a:t>Rapid disposal of weak ideas</a:t>
            </a:r>
          </a:p>
        </p:txBody>
      </p:sp>
      <p:sp>
        <p:nvSpPr>
          <p:cNvPr id="4" name="Text Placeholder 3"/>
          <p:cNvSpPr>
            <a:spLocks noGrp="1"/>
          </p:cNvSpPr>
          <p:nvPr>
            <p:ph type="body" idx="12" sz="quarter"/>
          </p:nvPr>
        </p:nvSpPr>
        <p:spPr/>
        <p:txBody>
          <a:bodyPr/>
          <a:lstStyle/>
          <a:p>
            <a:pPr>
              <a:spcBef>
                <a:spcPts val="400"/>
              </a:spcBef>
              <a:buChar char="•"/>
            </a:pPr>
            <a:r>
              <a:rPr>
                <a:latin typeface="Arial"/>
              </a:rPr>
              <a:t>Prototypes for navigation, search, content</a:t>
            </a:r>
          </a:p>
          <a:p>
            <a:pPr>
              <a:spcBef>
                <a:spcPts val="400"/>
              </a:spcBef>
              <a:buChar char="•"/>
            </a:pPr>
            <a:r>
              <a:rPr>
                <a:latin typeface="Arial"/>
              </a:rPr>
              <a:t>Accessibility and bilingual testing</a:t>
            </a:r>
          </a:p>
          <a:p>
            <a:pPr>
              <a:spcBef>
                <a:spcPts val="400"/>
              </a:spcBef>
              <a:buChar char="•"/>
            </a:pPr>
            <a:r>
              <a:rPr>
                <a:latin typeface="Arial"/>
              </a:rPr>
              <a:t>Live or near-live data integration</a:t>
            </a:r>
          </a:p>
          <a:p>
            <a:pPr>
              <a:spcBef>
                <a:spcPts val="400"/>
              </a:spcBef>
              <a:buChar char="•"/>
            </a:pPr>
            <a:r>
              <a:rPr>
                <a:latin typeface="Arial"/>
              </a:rPr>
              <a:t>Prioritised improvement backlog</a:t>
            </a:r>
          </a:p>
          <a:p>
            <a:pPr>
              <a:spcBef>
                <a:spcPts val="400"/>
              </a:spcBef>
              <a:buChar char="•"/>
            </a:pPr>
            <a:r>
              <a:rPr>
                <a:latin typeface="Arial"/>
              </a:rPr>
              <a:t>Measurement framework for outcomes</a:t>
            </a:r>
          </a:p>
          <a:p>
            <a:pPr>
              <a:spcBef>
                <a:spcPts val="400"/>
              </a:spcBef>
              <a:buChar char="•"/>
            </a:pPr>
            <a:r>
              <a:rPr>
                <a:latin typeface="Arial"/>
              </a:rPr>
              <a:t>Technical feasibility proven early</a:t>
            </a:r>
          </a:p>
          <a:p>
            <a:pPr>
              <a:spcBef>
                <a:spcPts val="400"/>
              </a:spcBef>
              <a:buChar char="•"/>
            </a:pPr>
            <a:r>
              <a:rPr>
                <a:latin typeface="Arial"/>
              </a:rPr>
              <a:t>Clear recommendations for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Improved navigation reduces user friction</a:t>
            </a:r>
          </a:p>
          <a:p>
            <a:pPr>
              <a:spcBef>
                <a:spcPts val="400"/>
              </a:spcBef>
              <a:buChar char="•"/>
            </a:pPr>
            <a:r>
              <a:rPr>
                <a:latin typeface="Arial"/>
              </a:rPr>
              <a:t>Search relevance increases task completion</a:t>
            </a:r>
          </a:p>
          <a:p>
            <a:pPr>
              <a:spcBef>
                <a:spcPts val="400"/>
              </a:spcBef>
              <a:buChar char="•"/>
            </a:pPr>
            <a:r>
              <a:rPr>
                <a:latin typeface="Arial"/>
              </a:rPr>
              <a:t>Bilingual content parity enhances accessibility</a:t>
            </a:r>
          </a:p>
          <a:p>
            <a:pPr>
              <a:spcBef>
                <a:spcPts val="400"/>
              </a:spcBef>
              <a:buChar char="•"/>
            </a:pPr>
            <a:r>
              <a:rPr>
                <a:latin typeface="Arial"/>
              </a:rPr>
              <a:t>Live data integration supports real-time info</a:t>
            </a:r>
          </a:p>
          <a:p>
            <a:pPr>
              <a:spcBef>
                <a:spcPts val="400"/>
              </a:spcBef>
              <a:buChar char="•"/>
            </a:pPr>
            <a:r>
              <a:rPr>
                <a:latin typeface="Arial"/>
              </a:rPr>
              <a:t>Content structure improves findability</a:t>
            </a:r>
          </a:p>
          <a:p>
            <a:pPr>
              <a:spcBef>
                <a:spcPts val="400"/>
              </a:spcBef>
              <a:buChar char="•"/>
            </a:pPr>
            <a:r>
              <a:rPr>
                <a:latin typeface="Arial"/>
              </a:rPr>
              <a:t>Prototypes align to WCAG 2.2 AA</a:t>
            </a:r>
          </a:p>
          <a:p>
            <a:pPr>
              <a:spcBef>
                <a:spcPts val="400"/>
              </a:spcBef>
              <a:buChar char="•"/>
            </a:pPr>
            <a:r>
              <a:rPr>
                <a:latin typeface="Arial"/>
              </a:rPr>
              <a:t>Stakeholder engagement accelerates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Measured reduction in failed user journeys</a:t>
            </a:r>
          </a:p>
          <a:p>
            <a:pPr>
              <a:spcBef>
                <a:spcPts val="400"/>
              </a:spcBef>
              <a:buChar char="•"/>
            </a:pPr>
            <a:r>
              <a:rPr>
                <a:latin typeface="Arial"/>
              </a:rPr>
              <a:t>Increased search effectiveness scores</a:t>
            </a:r>
          </a:p>
          <a:p>
            <a:pPr>
              <a:spcBef>
                <a:spcPts val="400"/>
              </a:spcBef>
              <a:buChar char="•"/>
            </a:pPr>
            <a:r>
              <a:rPr>
                <a:latin typeface="Arial"/>
              </a:rPr>
              <a:t>Accessibility compliance verified</a:t>
            </a:r>
          </a:p>
          <a:p>
            <a:pPr>
              <a:spcBef>
                <a:spcPts val="400"/>
              </a:spcBef>
              <a:buChar char="•"/>
            </a:pPr>
            <a:r>
              <a:rPr>
                <a:latin typeface="Arial"/>
              </a:rPr>
              <a:t>Live data displayed in MVP prototypes</a:t>
            </a:r>
          </a:p>
          <a:p>
            <a:pPr>
              <a:spcBef>
                <a:spcPts val="400"/>
              </a:spcBef>
              <a:buChar char="•"/>
            </a:pPr>
            <a:r>
              <a:rPr>
                <a:latin typeface="Arial"/>
              </a:rPr>
              <a:t>Content patterns reused across site</a:t>
            </a:r>
          </a:p>
          <a:p>
            <a:pPr>
              <a:spcBef>
                <a:spcPts val="400"/>
              </a:spcBef>
              <a:buChar char="•"/>
            </a:pPr>
            <a:r>
              <a:rPr>
                <a:latin typeface="Arial"/>
              </a:rPr>
              <a:t>Positive user feedback on bilingual features</a:t>
            </a:r>
          </a:p>
          <a:p>
            <a:pPr>
              <a:spcBef>
                <a:spcPts val="400"/>
              </a:spcBef>
              <a:buChar char="•"/>
            </a:pPr>
            <a:r>
              <a:rPr>
                <a:latin typeface="Arial"/>
              </a:rPr>
              <a:t>Clear evidence for scale or stop decisions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team roles for rapid, practical delivery</a:t>
            </a:r>
          </a:p>
        </p:txBody>
      </p:sp>
      <p:sp>
        <p:nvSpPr>
          <p:cNvPr id="3" name="Content Placeholder 2"/>
          <p:cNvSpPr>
            <a:spLocks noGrp="1"/>
          </p:cNvSpPr>
          <p:nvPr>
            <p:ph idx="17" sz="quarter"/>
          </p:nvPr>
        </p:nvSpPr>
        <p:spPr/>
        <p:txBody>
          <a:bodyPr/>
          <a:lstStyle/>
          <a:p>
            <a:pPr>
              <a:spcBef>
                <a:spcPts val="400"/>
              </a:spcBef>
            </a:pPr>
            <a:r>
              <a:rPr>
                <a:latin typeface="Arial"/>
              </a:rPr>
              <a:t>Product &amp; Delivery Leadership</a:t>
            </a:r>
            <a:br/>
            <a:r>
              <a:rPr>
                <a:latin typeface="Arial"/>
              </a:rPr>
              <a:t>IBM/Stable leads; align to objectives; coordinate delivery &amp; reporting</a:t>
            </a:r>
          </a:p>
        </p:txBody>
      </p:sp>
      <p:sp>
        <p:nvSpPr>
          <p:cNvPr id="4" name="Content Placeholder 3"/>
          <p:cNvSpPr>
            <a:spLocks noGrp="1"/>
          </p:cNvSpPr>
          <p:nvPr>
            <p:ph idx="18" sz="quarter"/>
          </p:nvPr>
        </p:nvSpPr>
        <p:spPr/>
        <p:txBody>
          <a:bodyPr/>
          <a:lstStyle/>
          <a:p>
            <a:pPr>
              <a:spcBef>
                <a:spcPts val="400"/>
              </a:spcBef>
            </a:pPr>
            <a:r>
              <a:rPr>
                <a:latin typeface="Arial"/>
              </a:rPr>
              <a:t>UX &amp; Content Design</a:t>
            </a:r>
            <a:br/>
            <a:r>
              <a:rPr>
                <a:latin typeface="Arial"/>
              </a:rPr>
              <a:t>Research/prototype; bilingual &amp; accessibility; define content patterns</a:t>
            </a:r>
          </a:p>
        </p:txBody>
      </p:sp>
      <p:sp>
        <p:nvSpPr>
          <p:cNvPr id="5" name="Content Placeholder 4"/>
          <p:cNvSpPr>
            <a:spLocks noGrp="1"/>
          </p:cNvSpPr>
          <p:nvPr>
            <p:ph idx="20" sz="quarter"/>
          </p:nvPr>
        </p:nvSpPr>
        <p:spPr/>
        <p:txBody>
          <a:bodyPr/>
          <a:lstStyle/>
          <a:p>
            <a:pPr>
              <a:spcBef>
                <a:spcPts val="400"/>
              </a:spcBef>
            </a:pPr>
            <a:r>
              <a:rPr>
                <a:latin typeface="Arial"/>
              </a:rPr>
              <a:t>Engineering &amp; Data</a:t>
            </a:r>
            <a:br/>
            <a:r>
              <a:rPr>
                <a:latin typeface="Arial"/>
              </a:rPr>
              <a:t>Assess feasibility; integrate systems; enable data/AI for experiments</a:t>
            </a:r>
          </a:p>
        </p:txBody>
      </p:sp>
      <p:sp>
        <p:nvSpPr>
          <p:cNvPr id="6" name="Content Placeholder 5"/>
          <p:cNvSpPr>
            <a:spLocks noGrp="1"/>
          </p:cNvSpPr>
          <p:nvPr>
            <p:ph idx="19" sz="quarter"/>
          </p:nvPr>
        </p:nvSpPr>
        <p:spPr/>
        <p:txBody>
          <a:bodyPr/>
          <a:lstStyle/>
          <a:p>
            <a:pPr>
              <a:spcBef>
                <a:spcPts val="400"/>
              </a:spcBef>
            </a:pPr>
            <a:r>
              <a:rPr>
                <a:latin typeface="Arial"/>
              </a:rPr>
              <a:t>NRW Stakeholder Roles</a:t>
            </a:r>
            <a:br/>
            <a:r>
              <a:rPr>
                <a:latin typeface="Arial"/>
              </a:rPr>
              <a:t>Sponsors/SMEs; content owners &amp; user access; participate in reviews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 for testing</a:t>
            </a:r>
          </a:p>
          <a:p>
            <a:pPr>
              <a:spcBef>
                <a:spcPts val="400"/>
              </a:spcBef>
              <a:buChar char="•"/>
            </a:pPr>
            <a:r>
              <a:rPr>
                <a:latin typeface="Arial"/>
              </a:rPr>
              <a:t>Technical constraints of current estate</a:t>
            </a:r>
          </a:p>
          <a:p>
            <a:pPr>
              <a:spcBef>
                <a:spcPts val="400"/>
              </a:spcBef>
              <a:buChar char="•"/>
            </a:pPr>
            <a:r>
              <a:rPr>
                <a:latin typeface="Arial"/>
              </a:rPr>
              <a:t>Content model inconsistencies</a:t>
            </a:r>
          </a:p>
          <a:p>
            <a:pPr>
              <a:spcBef>
                <a:spcPts val="400"/>
              </a:spcBef>
              <a:buChar char="•"/>
            </a:pPr>
            <a:r>
              <a:rPr>
                <a:latin typeface="Arial"/>
              </a:rPr>
              <a:t>Accessibility and bilingual gaps</a:t>
            </a:r>
          </a:p>
          <a:p>
            <a:pPr>
              <a:spcBef>
                <a:spcPts val="400"/>
              </a:spcBef>
              <a:buChar char="•"/>
            </a:pPr>
            <a:r>
              <a:rPr>
                <a:latin typeface="Arial"/>
              </a:rPr>
              <a:t>Time pressure for evidence generation</a:t>
            </a:r>
          </a:p>
          <a:p>
            <a:pPr>
              <a:spcBef>
                <a:spcPts val="400"/>
              </a:spcBef>
              <a:buChar char="•"/>
            </a:pPr>
            <a:r>
              <a:rPr>
                <a:latin typeface="Arial"/>
              </a:rPr>
              <a:t>Stakeholder decision delays</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Secure user and stakeholder engagement upfront</a:t>
            </a:r>
          </a:p>
          <a:p>
            <a:pPr>
              <a:spcBef>
                <a:spcPts val="400"/>
              </a:spcBef>
              <a:buChar char="•"/>
            </a:pPr>
            <a:r>
              <a:rPr>
                <a:latin typeface="Arial"/>
              </a:rPr>
              <a:t>Feasibility testing in initial phase</a:t>
            </a:r>
          </a:p>
          <a:p>
            <a:pPr>
              <a:spcBef>
                <a:spcPts val="400"/>
              </a:spcBef>
              <a:buChar char="•"/>
            </a:pPr>
            <a:r>
              <a:rPr>
                <a:latin typeface="Arial"/>
              </a:rPr>
              <a:t>Structured content and authoring approach</a:t>
            </a:r>
          </a:p>
          <a:p>
            <a:pPr>
              <a:spcBef>
                <a:spcPts val="400"/>
              </a:spcBef>
              <a:buChar char="•"/>
            </a:pPr>
            <a:r>
              <a:rPr>
                <a:latin typeface="Arial"/>
              </a:rPr>
              <a:t>Accessibility and bilingual testing embedded</a:t>
            </a:r>
          </a:p>
          <a:p>
            <a:pPr>
              <a:spcBef>
                <a:spcPts val="400"/>
              </a:spcBef>
              <a:buChar char="•"/>
            </a:pPr>
            <a:r>
              <a:rPr>
                <a:latin typeface="Arial"/>
              </a:rPr>
              <a:t>Disciplined prioritisation of experiments</a:t>
            </a:r>
          </a:p>
          <a:p>
            <a:pPr>
              <a:spcBef>
                <a:spcPts val="400"/>
              </a:spcBef>
              <a:buChar char="•"/>
            </a:pPr>
            <a:r>
              <a:rPr>
                <a:latin typeface="Arial"/>
              </a:rPr>
              <a:t>Regular decision points with NRW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evidence, prototypes, and a scaling path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Commercial Overview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transparent commercial model for NRW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by delivery stage</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discovery, evolving requirements</a:t>
            </a:r>
          </a:p>
          <a:p>
            <a:pPr>
              <a:spcBef>
                <a:spcPts val="400"/>
              </a:spcBef>
              <a:buChar char="•"/>
            </a:pPr>
            <a:r>
              <a:rPr>
                <a:latin typeface="Arial"/>
              </a:rPr>
              <a:t>Fixed Price: defined scope and outcomes</a:t>
            </a:r>
          </a:p>
          <a:p>
            <a:pPr>
              <a:spcBef>
                <a:spcPts val="400"/>
              </a:spcBef>
              <a:buChar char="•"/>
            </a:pPr>
            <a:r>
              <a:rPr>
                <a:latin typeface="Arial"/>
              </a:rPr>
              <a:t>Fixed Capacity: stable teams, controlled budget</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services and support</a:t>
            </a:r>
          </a:p>
          <a:p>
            <a:pPr>
              <a:spcBef>
                <a:spcPts val="400"/>
              </a:spcBef>
              <a:buChar char="•"/>
            </a:pPr>
            <a:r>
              <a:rPr>
                <a:latin typeface="Arial"/>
              </a:rPr>
              <a:t>Stage-fit pricing reduces risk and improves predictability</a:t>
            </a:r>
          </a:p>
          <a:p>
            <a:pPr>
              <a:spcBef>
                <a:spcPts val="400"/>
              </a:spcBef>
              <a:buChar char="•"/>
            </a:pPr>
            <a:r>
              <a:rPr>
                <a:latin typeface="Arial"/>
              </a:rPr>
              <a:t>We align commercials to delivery approach and governance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commercial assumptions and terms</a:t>
            </a:r>
          </a:p>
        </p:txBody>
      </p:sp>
      <p:sp>
        <p:nvSpPr>
          <p:cNvPr id="3" name="Text Placeholder 2"/>
          <p:cNvSpPr>
            <a:spLocks noGrp="1"/>
          </p:cNvSpPr>
          <p:nvPr>
            <p:ph type="body" idx="13" sz="quarter"/>
          </p:nvPr>
        </p:nvSpPr>
        <p:spPr/>
        <p:txBody>
          <a:bodyPr/>
          <a:lstStyle/>
          <a:p>
            <a:pPr>
              <a:spcBef>
                <a:spcPts val="400"/>
              </a:spcBef>
              <a:buChar char="•"/>
            </a:pPr>
            <a:r>
              <a:rPr>
                <a:latin typeface="Arial"/>
              </a:rPr>
              <a:t>Standard role definitions per framework</a:t>
            </a:r>
          </a:p>
          <a:p>
            <a:pPr>
              <a:spcBef>
                <a:spcPts val="400"/>
              </a:spcBef>
              <a:buChar char="•"/>
            </a:pPr>
            <a:r>
              <a:rPr>
                <a:latin typeface="Arial"/>
              </a:rPr>
              <a:t>Inclusive of all delivery costs</a:t>
            </a:r>
          </a:p>
          <a:p>
            <a:pPr>
              <a:spcBef>
                <a:spcPts val="400"/>
              </a:spcBef>
              <a:buChar char="•"/>
            </a:pPr>
            <a:r>
              <a:rPr>
                <a:latin typeface="Arial"/>
              </a:rPr>
              <a:t>8-hour working day</a:t>
            </a:r>
          </a:p>
          <a:p>
            <a:pPr>
              <a:spcBef>
                <a:spcPts val="400"/>
              </a:spcBef>
              <a:buChar char="•"/>
            </a:pPr>
            <a:r>
              <a:rPr>
                <a:latin typeface="Arial"/>
              </a:rPr>
              <a:t>Normal delivery environments</a:t>
            </a:r>
          </a:p>
          <a:p>
            <a:pPr>
              <a:spcBef>
                <a:spcPts val="400"/>
              </a:spcBef>
              <a:buChar char="•"/>
            </a:pPr>
            <a:r>
              <a:rPr>
                <a:latin typeface="Arial"/>
              </a:rPr>
              <a:t>Innovation fund contribution included</a:t>
            </a:r>
          </a:p>
          <a:p>
            <a:pPr>
              <a:spcBef>
                <a:spcPts val="400"/>
              </a:spcBef>
              <a:buChar char="•"/>
            </a:pPr>
            <a:r>
              <a:rPr>
                <a:latin typeface="Arial"/>
              </a:rPr>
              <a:t>Transparent reporting and invoicing</a:t>
            </a:r>
          </a:p>
          <a:p>
            <a:pPr>
              <a:spcBef>
                <a:spcPts val="400"/>
              </a:spcBef>
              <a:buChar char="•"/>
            </a:pPr>
            <a:r>
              <a:rPr>
                <a:latin typeface="Arial"/>
              </a:rPr>
              <a:t>Volume discounts for sustained delivery</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may adjust rates</a:t>
            </a:r>
          </a:p>
          <a:p>
            <a:pPr>
              <a:spcBef>
                <a:spcPts val="400"/>
              </a:spcBef>
              <a:buChar char="•"/>
            </a:pPr>
            <a:r>
              <a:rPr>
                <a:latin typeface="Arial"/>
              </a:rPr>
              <a:t>Mobilisation requirements may affect cost</a:t>
            </a:r>
          </a:p>
          <a:p>
            <a:pPr>
              <a:spcBef>
                <a:spcPts val="400"/>
              </a:spcBef>
              <a:buChar char="•"/>
            </a:pPr>
            <a:r>
              <a:rPr>
                <a:latin typeface="Arial"/>
              </a:rPr>
              <a:t>Rates refined at call-off if needed</a:t>
            </a:r>
          </a:p>
          <a:p>
            <a:pPr>
              <a:spcBef>
                <a:spcPts val="400"/>
              </a:spcBef>
              <a:buChar char="•"/>
            </a:pPr>
            <a:r>
              <a:rPr>
                <a:latin typeface="Arial"/>
              </a:rPr>
              <a:t>Discounts for longer-term engagements</a:t>
            </a:r>
          </a:p>
          <a:p>
            <a:pPr>
              <a:spcBef>
                <a:spcPts val="400"/>
              </a:spcBef>
              <a:buChar char="•"/>
            </a:pPr>
            <a:r>
              <a:rPr>
                <a:latin typeface="Arial"/>
              </a:rPr>
              <a:t>KPIs and milestones for payment</a:t>
            </a:r>
          </a:p>
          <a:p>
            <a:pPr>
              <a:spcBef>
                <a:spcPts val="400"/>
              </a:spcBef>
              <a:buChar char="•"/>
            </a:pPr>
            <a:r>
              <a:rPr>
                <a:latin typeface="Arial"/>
              </a:rPr>
              <a:t>Call-off process for bespoke needs</a:t>
            </a:r>
          </a:p>
          <a:p>
            <a:pPr>
              <a:spcBef>
                <a:spcPts val="400"/>
              </a:spcBef>
              <a:buChar char="•"/>
            </a:pPr>
            <a:r>
              <a:rPr>
                <a:latin typeface="Arial"/>
              </a:rPr>
              <a:t>Aligned to ISIP Pricing Template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Indicative pricing structure</a:t>
            </a:r>
          </a:p>
        </p:txBody>
      </p:sp>
      <p:sp>
        <p:nvSpPr>
          <p:cNvPr id="3" name="Text Placeholder 2"/>
          <p:cNvSpPr>
            <a:spLocks noGrp="1"/>
          </p:cNvSpPr>
          <p:nvPr>
            <p:ph type="body" idx="12" sz="quarter"/>
          </p:nvPr>
        </p:nvSpPr>
        <p:spPr/>
        <p:txBody>
          <a:bodyPr/>
          <a:lstStyle/>
          <a:p>
            <a:pPr>
              <a:spcBef>
                <a:spcPts val="400"/>
              </a:spcBef>
              <a:buChar char="•"/>
            </a:pPr>
            <a:r>
              <a:rPr>
                <a:latin typeface="Arial"/>
              </a:rPr>
              <a:t>Discovery (Scenario 1): T&amp;M, blended day rates by role</a:t>
            </a:r>
          </a:p>
          <a:p>
            <a:pPr>
              <a:spcBef>
                <a:spcPts val="400"/>
              </a:spcBef>
              <a:buChar char="•"/>
            </a:pPr>
            <a:r>
              <a:rPr>
                <a:latin typeface="Arial"/>
              </a:rPr>
              <a:t>Innovation Window (Scenario 2): fixed capacity team for 12 weeks</a:t>
            </a:r>
          </a:p>
          <a:p>
            <a:pPr>
              <a:spcBef>
                <a:spcPts val="400"/>
              </a:spcBef>
              <a:buChar char="•"/>
            </a:pPr>
            <a:r>
              <a:rPr>
                <a:latin typeface="Arial"/>
              </a:rPr>
              <a:t>Team composition flexes by phase and complexity</a:t>
            </a:r>
          </a:p>
          <a:p>
            <a:pPr>
              <a:spcBef>
                <a:spcPts val="400"/>
              </a:spcBef>
              <a:buChar char="•"/>
            </a:pPr>
            <a:r>
              <a:rPr>
                <a:latin typeface="Arial"/>
              </a:rPr>
              <a:t>Estimated total provided in ISIP Pricing Template</a:t>
            </a:r>
          </a:p>
          <a:p>
            <a:pPr>
              <a:spcBef>
                <a:spcPts val="400"/>
              </a:spcBef>
              <a:buChar char="•"/>
            </a:pPr>
            <a:r>
              <a:rPr>
                <a:latin typeface="Arial"/>
              </a:rPr>
              <a:t>Payment milestones linked to agreed deliverables</a:t>
            </a:r>
          </a:p>
          <a:p>
            <a:pPr>
              <a:spcBef>
                <a:spcPts val="400"/>
              </a:spcBef>
              <a:buChar char="•"/>
            </a:pPr>
            <a:r>
              <a:rPr>
                <a:latin typeface="Arial"/>
              </a:rPr>
              <a:t>All rates and assumptions detailed in submission</a:t>
            </a:r>
          </a:p>
          <a:p>
            <a:pPr>
              <a:spcBef>
                <a:spcPts val="400"/>
              </a:spcBef>
              <a:buChar char="•"/>
            </a:pPr>
            <a:r>
              <a:rPr>
                <a:latin typeface="Arial"/>
              </a:rPr>
              <a:t>Volume discounts applied for sustained delivery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and isn't included</a:t>
            </a:r>
          </a:p>
        </p:txBody>
      </p:sp>
      <p:sp>
        <p:nvSpPr>
          <p:cNvPr id="3" name="Text Placeholder 2"/>
          <p:cNvSpPr>
            <a:spLocks noGrp="1"/>
          </p:cNvSpPr>
          <p:nvPr>
            <p:ph type="body" idx="13" sz="quarter"/>
          </p:nvPr>
        </p:nvSpPr>
        <p:spPr/>
        <p:txBody>
          <a:bodyPr/>
          <a:lstStyle/>
          <a:p>
            <a:pPr>
              <a:spcBef>
                <a:spcPts val="400"/>
              </a:spcBef>
              <a:buChar char="•"/>
            </a:pPr>
            <a:r>
              <a:rPr>
                <a:latin typeface="Arial"/>
              </a:rPr>
              <a:t>All standard delivery costs</a:t>
            </a:r>
          </a:p>
          <a:p>
            <a:pPr>
              <a:spcBef>
                <a:spcPts val="400"/>
              </a:spcBef>
              <a:buChar char="•"/>
            </a:pPr>
            <a:r>
              <a:rPr>
                <a:latin typeface="Arial"/>
              </a:rPr>
              <a:t>Knowledge transfer and documentation</a:t>
            </a:r>
          </a:p>
          <a:p>
            <a:pPr>
              <a:spcBef>
                <a:spcPts val="400"/>
              </a:spcBef>
              <a:buChar char="•"/>
            </a:pPr>
            <a:r>
              <a:rPr>
                <a:latin typeface="Arial"/>
              </a:rPr>
              <a:t>On-site and remote delivery as required</a:t>
            </a:r>
          </a:p>
          <a:p>
            <a:pPr>
              <a:spcBef>
                <a:spcPts val="400"/>
              </a:spcBef>
              <a:buChar char="•"/>
            </a:pPr>
            <a:r>
              <a:rPr>
                <a:latin typeface="Arial"/>
              </a:rPr>
              <a:t>Access to IBM and Stable accelerators</a:t>
            </a:r>
          </a:p>
          <a:p>
            <a:pPr>
              <a:spcBef>
                <a:spcPts val="400"/>
              </a:spcBef>
              <a:buChar char="•"/>
            </a:pPr>
            <a:r>
              <a:rPr>
                <a:latin typeface="Arial"/>
              </a:rPr>
              <a:t>Continuous reporting and governance</a:t>
            </a:r>
          </a:p>
          <a:p>
            <a:pPr>
              <a:spcBef>
                <a:spcPts val="400"/>
              </a:spcBef>
              <a:buChar char="•"/>
            </a:pPr>
            <a:r>
              <a:rPr>
                <a:latin typeface="Arial"/>
              </a:rPr>
              <a:t>Innovation fund contribution</a:t>
            </a:r>
          </a:p>
          <a:p>
            <a:pPr>
              <a:spcBef>
                <a:spcPts val="400"/>
              </a:spcBef>
              <a:buChar char="•"/>
            </a:pPr>
            <a:r>
              <a:rPr>
                <a:latin typeface="Arial"/>
              </a:rPr>
              <a:t>Sustainability and social value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outside standard scope</a:t>
            </a:r>
          </a:p>
          <a:p>
            <a:pPr>
              <a:spcBef>
                <a:spcPts val="400"/>
              </a:spcBef>
              <a:buChar char="•"/>
            </a:pPr>
            <a:r>
              <a:rPr>
                <a:latin typeface="Arial"/>
              </a:rPr>
              <a:t>Unusual mobilisation requirements</a:t>
            </a:r>
          </a:p>
          <a:p>
            <a:pPr>
              <a:spcBef>
                <a:spcPts val="400"/>
              </a:spcBef>
              <a:buChar char="•"/>
            </a:pPr>
            <a:r>
              <a:rPr>
                <a:latin typeface="Arial"/>
              </a:rPr>
              <a:t>Sustained volume demand may adjust rates</a:t>
            </a:r>
          </a:p>
          <a:p>
            <a:pPr>
              <a:spcBef>
                <a:spcPts val="400"/>
              </a:spcBef>
              <a:buChar char="•"/>
            </a:pPr>
            <a:r>
              <a:rPr>
                <a:latin typeface="Arial"/>
              </a:rPr>
              <a:t>Bespoke integrations not in initial scope</a:t>
            </a:r>
          </a:p>
          <a:p>
            <a:pPr>
              <a:spcBef>
                <a:spcPts val="400"/>
              </a:spcBef>
              <a:buChar char="•"/>
            </a:pPr>
            <a:r>
              <a:rPr>
                <a:latin typeface="Arial"/>
              </a:rPr>
              <a:t>Third-party licensing costs</a:t>
            </a:r>
          </a:p>
          <a:p>
            <a:pPr>
              <a:spcBef>
                <a:spcPts val="400"/>
              </a:spcBef>
              <a:buChar char="•"/>
            </a:pPr>
            <a:r>
              <a:rPr>
                <a:latin typeface="Arial"/>
              </a:rPr>
              <a:t>Major changes to requirements post-mobilisation</a:t>
            </a:r>
          </a:p>
          <a:p>
            <a:pPr>
              <a:spcBef>
                <a:spcPts val="400"/>
              </a:spcBef>
              <a:buChar char="•"/>
            </a:pPr>
            <a:r>
              <a:rPr>
                <a:latin typeface="Arial"/>
              </a:rPr>
              <a:t>Additional support beyond agreed phases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Call-off mechanism and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Framework call-off for scenario-specific engagements</a:t>
            </a:r>
          </a:p>
          <a:p>
            <a:pPr>
              <a:spcBef>
                <a:spcPts val="400"/>
              </a:spcBef>
              <a:buChar char="•"/>
            </a:pPr>
            <a:r>
              <a:rPr>
                <a:latin typeface="Arial"/>
              </a:rPr>
              <a:t>Refine scope and pricing at call-off</a:t>
            </a:r>
          </a:p>
          <a:p>
            <a:pPr>
              <a:spcBef>
                <a:spcPts val="400"/>
              </a:spcBef>
              <a:buChar char="•"/>
            </a:pPr>
            <a:r>
              <a:rPr>
                <a:latin typeface="Arial"/>
              </a:rPr>
              <a:t>Agree KPIs, milestones, and reporting</a:t>
            </a:r>
          </a:p>
          <a:p>
            <a:pPr>
              <a:spcBef>
                <a:spcPts val="400"/>
              </a:spcBef>
              <a:buChar char="•"/>
            </a:pPr>
            <a:r>
              <a:rPr>
                <a:latin typeface="Arial"/>
              </a:rPr>
              <a:t>Mobilise blended teams with NRW</a:t>
            </a:r>
          </a:p>
          <a:p>
            <a:pPr>
              <a:spcBef>
                <a:spcPts val="400"/>
              </a:spcBef>
              <a:buChar char="•"/>
            </a:pPr>
            <a:r>
              <a:rPr>
                <a:latin typeface="Arial"/>
              </a:rPr>
              <a:t>Continuous dialogue on delivery model</a:t>
            </a:r>
          </a:p>
        </p:txBody>
      </p:sp>
      <p:sp>
        <p:nvSpPr>
          <p:cNvPr id="4" name="Text Placeholder 3"/>
          <p:cNvSpPr>
            <a:spLocks noGrp="1"/>
          </p:cNvSpPr>
          <p:nvPr>
            <p:ph type="body" idx="12" sz="quarter"/>
          </p:nvPr>
        </p:nvSpPr>
        <p:spPr/>
        <p:txBody>
          <a:bodyPr/>
          <a:lstStyle/>
          <a:p>
            <a:pPr>
              <a:spcBef>
                <a:spcPts val="400"/>
              </a:spcBef>
              <a:buChar char="•"/>
            </a:pPr>
            <a:r>
              <a:rPr>
                <a:latin typeface="Arial"/>
              </a:rPr>
              <a:t>NRW: review and confirm preferred commercial model</a:t>
            </a:r>
          </a:p>
          <a:p>
            <a:pPr>
              <a:spcBef>
                <a:spcPts val="400"/>
              </a:spcBef>
              <a:buChar char="•"/>
            </a:pPr>
            <a:r>
              <a:rPr>
                <a:latin typeface="Arial"/>
              </a:rPr>
              <a:t>NRW: provide feedback on proposal</a:t>
            </a:r>
          </a:p>
          <a:p>
            <a:pPr>
              <a:spcBef>
                <a:spcPts val="400"/>
              </a:spcBef>
              <a:buChar char="•"/>
            </a:pPr>
            <a:r>
              <a:rPr>
                <a:latin typeface="Arial"/>
              </a:rPr>
              <a:t>IBM/Stable: finalise team mobilisation plan</a:t>
            </a:r>
          </a:p>
          <a:p>
            <a:pPr>
              <a:spcBef>
                <a:spcPts val="400"/>
              </a:spcBef>
              <a:buChar char="•"/>
            </a:pPr>
            <a:r>
              <a:rPr>
                <a:latin typeface="Arial"/>
              </a:rPr>
              <a:t>Jointly agree governance and reporting cadence</a:t>
            </a:r>
          </a:p>
          <a:p>
            <a:pPr>
              <a:spcBef>
                <a:spcPts val="400"/>
              </a:spcBef>
              <a:buChar char="•"/>
            </a:pPr>
            <a:r>
              <a:rPr>
                <a:latin typeface="Arial"/>
              </a:rPr>
              <a:t>Set up initial discovery or innovation window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Sustainability &amp; Social Value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are core to our approach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sustainability and social value commitments</a:t>
            </a:r>
          </a:p>
        </p:txBody>
      </p:sp>
      <p:sp>
        <p:nvSpPr>
          <p:cNvPr id="3" name="Content Placeholder 2"/>
          <p:cNvSpPr>
            <a:spLocks noGrp="1"/>
          </p:cNvSpPr>
          <p:nvPr>
            <p:ph idx="17" sz="quarter"/>
          </p:nvPr>
        </p:nvSpPr>
        <p:spPr/>
        <p:txBody>
          <a:bodyPr/>
          <a:lstStyle/>
          <a:p>
            <a:pPr>
              <a:spcBef>
                <a:spcPts val="400"/>
              </a:spcBef>
            </a:pPr>
            <a:r>
              <a:rPr>
                <a:latin typeface="Arial"/>
              </a:rPr>
              <a:t>Net-Zero by Design</a:t>
            </a:r>
            <a:br/>
            <a:r>
              <a:rPr>
                <a:latin typeface="Arial"/>
              </a:rPr>
              <a:t>['Cloud platforms reduce carbon footprint', 'FinOps and GreenOps for cost and impact', 'Formal carbon reduction plans in place']</a:t>
            </a:r>
          </a:p>
        </p:txBody>
      </p:sp>
      <p:sp>
        <p:nvSpPr>
          <p:cNvPr id="4" name="Content Placeholder 3"/>
          <p:cNvSpPr>
            <a:spLocks noGrp="1"/>
          </p:cNvSpPr>
          <p:nvPr>
            <p:ph idx="18" sz="quarter"/>
          </p:nvPr>
        </p:nvSpPr>
        <p:spPr/>
        <p:txBody>
          <a:bodyPr/>
          <a:lstStyle/>
          <a:p>
            <a:pPr>
              <a:spcBef>
                <a:spcPts val="400"/>
              </a:spcBef>
            </a:pPr>
            <a:r>
              <a:rPr>
                <a:latin typeface="Arial"/>
              </a:rPr>
              <a:t>Welsh-Language Service</a:t>
            </a:r>
            <a:br/>
            <a:r>
              <a:rPr>
                <a:latin typeface="Arial"/>
              </a:rPr>
              <a:t>['Bilingual delivery by Stable', 'Cultural alignment with Welsh communities', 'Accessible, inclusive digital services']</a:t>
            </a:r>
          </a:p>
        </p:txBody>
      </p:sp>
      <p:sp>
        <p:nvSpPr>
          <p:cNvPr id="5" name="Content Placeholder 4"/>
          <p:cNvSpPr>
            <a:spLocks noGrp="1"/>
          </p:cNvSpPr>
          <p:nvPr>
            <p:ph idx="20" sz="quarter"/>
          </p:nvPr>
        </p:nvSpPr>
        <p:spPr/>
        <p:txBody>
          <a:bodyPr/>
          <a:lstStyle/>
          <a:p>
            <a:pPr>
              <a:spcBef>
                <a:spcPts val="400"/>
              </a:spcBef>
            </a:pPr>
            <a:r>
              <a:rPr>
                <a:latin typeface="Arial"/>
              </a:rPr>
              <a:t>Social Value in Wales</a:t>
            </a:r>
            <a:br/>
            <a:r>
              <a:rPr>
                <a:latin typeface="Arial"/>
              </a:rPr>
              <a:t>['Local employment and skills development', 'Support for Welsh SMEs and social enterprises', 'Internship pathways and youth engagement']</a:t>
            </a:r>
          </a:p>
        </p:txBody>
      </p:sp>
      <p:sp>
        <p:nvSpPr>
          <p:cNvPr id="6" name="Content Placeholder 5"/>
          <p:cNvSpPr>
            <a:spLocks noGrp="1"/>
          </p:cNvSpPr>
          <p:nvPr>
            <p:ph idx="19" sz="quarter"/>
          </p:nvPr>
        </p:nvSpPr>
        <p:spPr/>
        <p:txBody>
          <a:bodyPr/>
          <a:lstStyle/>
          <a:p>
            <a:pPr>
              <a:spcBef>
                <a:spcPts val="400"/>
              </a:spcBef>
            </a:pPr>
            <a:r>
              <a:rPr>
                <a:latin typeface="Arial"/>
              </a:rPr>
              <a:t>Community Benefit</a:t>
            </a:r>
            <a:br/>
            <a:r>
              <a:rPr>
                <a:latin typeface="Arial"/>
              </a:rPr>
              <a:t>['Charity support and volunteering', 'Active participation in digital skills initiatives', 'Transparent reporting on outcomes']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delivery in Wales</a:t>
            </a:r>
          </a:p>
        </p:txBody>
      </p:sp>
      <p:sp>
        <p:nvSpPr>
          <p:cNvPr id="3" name="Content Placeholder 2"/>
          <p:cNvSpPr>
            <a:spLocks noGrp="1"/>
          </p:cNvSpPr>
          <p:nvPr>
            <p:ph idx="17" sz="quarter"/>
          </p:nvPr>
        </p:nvSpPr>
        <p:spPr/>
        <p:txBody>
          <a:bodyPr/>
          <a:lstStyle/>
          <a:p>
            <a:pPr>
              <a:spcBef>
                <a:spcPts val="400"/>
              </a:spcBef>
            </a:pPr>
            <a:r>
              <a:rPr>
                <a:latin typeface="Arial"/>
              </a:rPr>
              <a:t>Local leadership &amp; workforce</a:t>
            </a:r>
            <a:br/>
            <a:r>
              <a:rPr>
                <a:latin typeface="Arial"/>
              </a:rPr>
              <a:t>Cardiff HQ; Welsh-speaking leadership; retain Welsh-based talent</a:t>
            </a:r>
          </a:p>
        </p:txBody>
      </p:sp>
      <p:sp>
        <p:nvSpPr>
          <p:cNvPr id="4" name="Content Placeholder 3"/>
          <p:cNvSpPr>
            <a:spLocks noGrp="1"/>
          </p:cNvSpPr>
          <p:nvPr>
            <p:ph idx="18" sz="quarter"/>
          </p:nvPr>
        </p:nvSpPr>
        <p:spPr/>
        <p:txBody>
          <a:bodyPr/>
          <a:lstStyle/>
          <a:p>
            <a:pPr>
              <a:spcBef>
                <a:spcPts val="400"/>
              </a:spcBef>
            </a:pPr>
            <a:r>
              <a:rPr>
                <a:latin typeface="Arial"/>
              </a:rPr>
              <a:t>Partnering with Welsh organisations</a:t>
            </a:r>
            <a:br/>
            <a:r>
              <a:rPr>
                <a:latin typeface="Arial"/>
              </a:rPr>
              <a:t>Welsh SMEs &amp; social enterprises; supports local charities</a:t>
            </a:r>
          </a:p>
        </p:txBody>
      </p:sp>
      <p:sp>
        <p:nvSpPr>
          <p:cNvPr id="5" name="Content Placeholder 4"/>
          <p:cNvSpPr>
            <a:spLocks noGrp="1"/>
          </p:cNvSpPr>
          <p:nvPr>
            <p:ph idx="20" sz="quarter"/>
          </p:nvPr>
        </p:nvSpPr>
        <p:spPr/>
        <p:txBody>
          <a:bodyPr/>
          <a:lstStyle/>
          <a:p>
            <a:pPr>
              <a:spcBef>
                <a:spcPts val="400"/>
              </a:spcBef>
            </a:pPr>
            <a:r>
              <a:rPr>
                <a:latin typeface="Arial"/>
              </a:rPr>
              <a:t>Skills &amp; youth pathways</a:t>
            </a:r>
            <a:br/>
            <a:r>
              <a:rPr>
                <a:latin typeface="Arial"/>
              </a:rPr>
              <a:t>Internships with Welsh universities; school and youth skills partnerships</a:t>
            </a:r>
          </a:p>
        </p:txBody>
      </p:sp>
      <p:sp>
        <p:nvSpPr>
          <p:cNvPr id="6" name="Content Placeholder 5"/>
          <p:cNvSpPr>
            <a:spLocks noGrp="1"/>
          </p:cNvSpPr>
          <p:nvPr>
            <p:ph idx="19" sz="quarter"/>
          </p:nvPr>
        </p:nvSpPr>
        <p:spPr/>
        <p:txBody>
          <a:bodyPr/>
          <a:lstStyle/>
          <a:p>
            <a:pPr>
              <a:spcBef>
                <a:spcPts val="400"/>
              </a:spcBef>
            </a:pPr>
            <a:r>
              <a:rPr>
                <a:latin typeface="Arial"/>
              </a:rPr>
              <a:t>Digital careers for young people</a:t>
            </a:r>
            <a:br/>
            <a:r>
              <a:rPr>
                <a:latin typeface="Arial"/>
              </a:rPr>
              <a:t>DigiGirlz and Scouts; promotes digital roles and progression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measure sustainability and social value</a:t>
            </a:r>
          </a:p>
        </p:txBody>
      </p:sp>
      <p:sp>
        <p:nvSpPr>
          <p:cNvPr id="3" name="Text Placeholder 2"/>
          <p:cNvSpPr>
            <a:spLocks noGrp="1"/>
          </p:cNvSpPr>
          <p:nvPr>
            <p:ph type="body" idx="13" sz="quarter"/>
          </p:nvPr>
        </p:nvSpPr>
        <p:spPr/>
        <p:txBody>
          <a:bodyPr/>
          <a:lstStyle/>
          <a:p>
            <a:pPr>
              <a:spcBef>
                <a:spcPts val="400"/>
              </a:spcBef>
              <a:buChar char="•"/>
            </a:pPr>
            <a:r>
              <a:rPr>
                <a:latin typeface="Arial"/>
              </a:rPr>
              <a:t>Carbon impact of digital services</a:t>
            </a:r>
          </a:p>
          <a:p>
            <a:pPr>
              <a:spcBef>
                <a:spcPts val="400"/>
              </a:spcBef>
              <a:buChar char="•"/>
            </a:pPr>
            <a:r>
              <a:rPr>
                <a:latin typeface="Arial"/>
              </a:rPr>
              <a:t>Local supplier participation rates</a:t>
            </a:r>
          </a:p>
          <a:p>
            <a:pPr>
              <a:spcBef>
                <a:spcPts val="400"/>
              </a:spcBef>
              <a:buChar char="•"/>
            </a:pPr>
            <a:r>
              <a:rPr>
                <a:latin typeface="Arial"/>
              </a:rPr>
              <a:t>Skills uplift and training outcomes</a:t>
            </a:r>
          </a:p>
          <a:p>
            <a:pPr>
              <a:spcBef>
                <a:spcPts val="400"/>
              </a:spcBef>
              <a:buChar char="•"/>
            </a:pPr>
            <a:r>
              <a:rPr>
                <a:latin typeface="Arial"/>
              </a:rPr>
              <a:t>Internship and employment metrics</a:t>
            </a:r>
          </a:p>
          <a:p>
            <a:pPr>
              <a:spcBef>
                <a:spcPts val="400"/>
              </a:spcBef>
              <a:buChar char="•"/>
            </a:pPr>
            <a:r>
              <a:rPr>
                <a:latin typeface="Arial"/>
              </a:rPr>
              <a:t>Charity and community engagement hours</a:t>
            </a:r>
          </a:p>
          <a:p>
            <a:pPr>
              <a:spcBef>
                <a:spcPts val="400"/>
              </a:spcBef>
              <a:buChar char="•"/>
            </a:pPr>
            <a:r>
              <a:rPr>
                <a:latin typeface="Arial"/>
              </a:rPr>
              <a:t>Welsh-language service adoption</a:t>
            </a:r>
          </a:p>
          <a:p>
            <a:pPr>
              <a:spcBef>
                <a:spcPts val="400"/>
              </a:spcBef>
              <a:buChar char="•"/>
            </a:pPr>
            <a:r>
              <a:rPr>
                <a:latin typeface="Arial"/>
              </a:rPr>
              <a:t>Sustainability KPIs tracked at call-off</a:t>
            </a:r>
          </a:p>
        </p:txBody>
      </p:sp>
      <p:sp>
        <p:nvSpPr>
          <p:cNvPr id="4" name="Text Placeholder 3"/>
          <p:cNvSpPr>
            <a:spLocks noGrp="1"/>
          </p:cNvSpPr>
          <p:nvPr>
            <p:ph type="body" idx="12" sz="quarter"/>
          </p:nvPr>
        </p:nvSpPr>
        <p:spPr/>
        <p:txBody>
          <a:bodyPr/>
          <a:lstStyle/>
          <a:p>
            <a:pPr>
              <a:spcBef>
                <a:spcPts val="400"/>
              </a:spcBef>
              <a:buChar char="•"/>
            </a:pPr>
            <a:r>
              <a:rPr>
                <a:latin typeface="Arial"/>
              </a:rPr>
              <a:t>Service-level reporting on carbon and cost</a:t>
            </a:r>
          </a:p>
          <a:p>
            <a:pPr>
              <a:spcBef>
                <a:spcPts val="400"/>
              </a:spcBef>
              <a:buChar char="•"/>
            </a:pPr>
            <a:r>
              <a:rPr>
                <a:latin typeface="Arial"/>
              </a:rPr>
              <a:t>Transparent tracking of social value actions</a:t>
            </a:r>
          </a:p>
          <a:p>
            <a:pPr>
              <a:spcBef>
                <a:spcPts val="400"/>
              </a:spcBef>
              <a:buChar char="•"/>
            </a:pPr>
            <a:r>
              <a:rPr>
                <a:latin typeface="Arial"/>
              </a:rPr>
              <a:t>Continuous improvement and feedback loops</a:t>
            </a:r>
          </a:p>
          <a:p>
            <a:pPr>
              <a:spcBef>
                <a:spcPts val="400"/>
              </a:spcBef>
              <a:buChar char="•"/>
            </a:pPr>
            <a:r>
              <a:rPr>
                <a:latin typeface="Arial"/>
              </a:rPr>
              <a:t>Proportionate commitments by engagement size</a:t>
            </a:r>
          </a:p>
          <a:p>
            <a:pPr>
              <a:spcBef>
                <a:spcPts val="400"/>
              </a:spcBef>
              <a:buChar char="•"/>
            </a:pPr>
            <a:r>
              <a:rPr>
                <a:latin typeface="Arial"/>
              </a:rPr>
              <a:t>Formal governance for sustainability</a:t>
            </a:r>
          </a:p>
          <a:p>
            <a:pPr>
              <a:spcBef>
                <a:spcPts val="400"/>
              </a:spcBef>
              <a:buChar char="•"/>
            </a:pPr>
            <a:r>
              <a:rPr>
                <a:latin typeface="Arial"/>
              </a:rPr>
              <a:t>Alignment to framework reporting</a:t>
            </a:r>
          </a:p>
          <a:p>
            <a:pPr>
              <a:spcBef>
                <a:spcPts val="400"/>
              </a:spcBef>
              <a:buChar char="•"/>
            </a:pPr>
            <a:r>
              <a:rPr>
                <a:latin typeface="Arial"/>
              </a:rPr>
              <a:t>Evidence-based impact reviews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 delivery supporting NRW’s environmental mission</a:t>
            </a:r>
          </a:p>
        </p:txBody>
      </p:sp>
      <p:sp>
        <p:nvSpPr>
          <p:cNvPr id="3" name="Text Placeholder 2"/>
          <p:cNvSpPr>
            <a:spLocks noGrp="1"/>
          </p:cNvSpPr>
          <p:nvPr>
            <p:ph type="body" idx="13" sz="quarter"/>
          </p:nvPr>
        </p:nvSpPr>
        <p:spPr/>
        <p:txBody>
          <a:bodyPr/>
          <a:lstStyle/>
          <a:p>
            <a:pPr>
              <a:spcBef>
                <a:spcPts val="400"/>
              </a:spcBef>
              <a:buChar char="•"/>
            </a:pPr>
            <a:r>
              <a:rPr>
                <a:latin typeface="Arial"/>
              </a:rPr>
              <a:t>Cloud platforms consolidate infrastructure, reducing emissions</a:t>
            </a:r>
          </a:p>
          <a:p>
            <a:pPr>
              <a:spcBef>
                <a:spcPts val="400"/>
              </a:spcBef>
              <a:buChar char="•"/>
            </a:pPr>
            <a:r>
              <a:rPr>
                <a:latin typeface="Arial"/>
              </a:rPr>
              <a:t>Data platforms enable better resource management</a:t>
            </a:r>
          </a:p>
          <a:p>
            <a:pPr>
              <a:spcBef>
                <a:spcPts val="400"/>
              </a:spcBef>
              <a:buChar char="•"/>
            </a:pPr>
            <a:r>
              <a:rPr>
                <a:latin typeface="Arial"/>
              </a:rPr>
              <a:t>Operational efficiency supports sustainability goals</a:t>
            </a:r>
          </a:p>
          <a:p>
            <a:pPr>
              <a:spcBef>
                <a:spcPts val="400"/>
              </a:spcBef>
              <a:buChar char="•"/>
            </a:pPr>
            <a:r>
              <a:rPr>
                <a:latin typeface="Arial"/>
              </a:rPr>
              <a:t>GreenOps practices optimise energy use</a:t>
            </a:r>
          </a:p>
        </p:txBody>
      </p:sp>
      <p:sp>
        <p:nvSpPr>
          <p:cNvPr id="4" name="Text Placeholder 3"/>
          <p:cNvSpPr>
            <a:spLocks noGrp="1"/>
          </p:cNvSpPr>
          <p:nvPr>
            <p:ph type="body" idx="12" sz="quarter"/>
          </p:nvPr>
        </p:nvSpPr>
        <p:spPr/>
        <p:txBody>
          <a:bodyPr/>
          <a:lstStyle/>
          <a:p>
            <a:pPr>
              <a:spcBef>
                <a:spcPts val="400"/>
              </a:spcBef>
              <a:buChar char="•"/>
            </a:pPr>
            <a:r>
              <a:rPr>
                <a:latin typeface="Arial"/>
              </a:rPr>
              <a:t>Social value embedded in all delivery phases</a:t>
            </a:r>
          </a:p>
          <a:p>
            <a:pPr>
              <a:spcBef>
                <a:spcPts val="400"/>
              </a:spcBef>
              <a:buChar char="•"/>
            </a:pPr>
            <a:r>
              <a:rPr>
                <a:latin typeface="Arial"/>
              </a:rPr>
              <a:t>Local skills development strengthens Welsh economy</a:t>
            </a:r>
          </a:p>
          <a:p>
            <a:pPr>
              <a:spcBef>
                <a:spcPts val="400"/>
              </a:spcBef>
              <a:buChar char="•"/>
            </a:pPr>
            <a:r>
              <a:rPr>
                <a:latin typeface="Arial"/>
              </a:rPr>
              <a:t>Community benefit extends beyond project scope</a:t>
            </a:r>
          </a:p>
          <a:p>
            <a:pPr>
              <a:spcBef>
                <a:spcPts val="400"/>
              </a:spcBef>
              <a:buChar char="•"/>
            </a:pPr>
            <a:r>
              <a:rPr>
                <a:latin typeface="Arial"/>
              </a:rPr>
              <a:t>Digital transformation aligned to public value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risks and controls</a:t>
            </a:r>
          </a:p>
        </p:txBody>
      </p:sp>
      <p:sp>
        <p:nvSpPr>
          <p:cNvPr id="3" name="Text Placeholder 2"/>
          <p:cNvSpPr>
            <a:spLocks noGrp="1"/>
          </p:cNvSpPr>
          <p:nvPr>
            <p:ph type="body" idx="13" sz="quarter"/>
          </p:nvPr>
        </p:nvSpPr>
        <p:spPr/>
        <p:txBody>
          <a:bodyPr/>
          <a:lstStyle/>
          <a:p>
            <a:pPr>
              <a:spcBef>
                <a:spcPts val="400"/>
              </a:spcBef>
              <a:buChar char="•"/>
            </a:pPr>
            <a:r>
              <a:rPr>
                <a:latin typeface="Arial"/>
              </a:rPr>
              <a:t>Insufficient tracking of commitments</a:t>
            </a:r>
          </a:p>
          <a:p>
            <a:pPr>
              <a:spcBef>
                <a:spcPts val="400"/>
              </a:spcBef>
              <a:buChar char="•"/>
            </a:pPr>
            <a:r>
              <a:rPr>
                <a:latin typeface="Arial"/>
              </a:rPr>
              <a:t>Overly generic social value actions</a:t>
            </a:r>
          </a:p>
          <a:p>
            <a:pPr>
              <a:spcBef>
                <a:spcPts val="400"/>
              </a:spcBef>
              <a:buChar char="•"/>
            </a:pPr>
            <a:r>
              <a:rPr>
                <a:latin typeface="Arial"/>
              </a:rPr>
              <a:t>Lack of local supplier engagement</a:t>
            </a:r>
          </a:p>
          <a:p>
            <a:pPr>
              <a:spcBef>
                <a:spcPts val="400"/>
              </a:spcBef>
              <a:buChar char="•"/>
            </a:pPr>
            <a:r>
              <a:rPr>
                <a:latin typeface="Arial"/>
              </a:rPr>
              <a:t>Carbon reduction not embedded in delivery</a:t>
            </a:r>
          </a:p>
          <a:p>
            <a:pPr>
              <a:spcBef>
                <a:spcPts val="400"/>
              </a:spcBef>
              <a:buChar char="•"/>
            </a:pPr>
            <a:r>
              <a:rPr>
                <a:latin typeface="Arial"/>
              </a:rPr>
              <a:t>Limited community benefit realisation</a:t>
            </a:r>
          </a:p>
          <a:p>
            <a:pPr>
              <a:spcBef>
                <a:spcPts val="400"/>
              </a:spcBef>
              <a:buChar char="•"/>
            </a:pPr>
            <a:r>
              <a:rPr>
                <a:latin typeface="Arial"/>
              </a:rPr>
              <a:t>Inconsistent reporting across call-offs</a:t>
            </a:r>
          </a:p>
          <a:p>
            <a:pPr>
              <a:spcBef>
                <a:spcPts val="400"/>
              </a:spcBef>
              <a:buChar char="•"/>
            </a:pPr>
            <a:r>
              <a:rPr>
                <a:latin typeface="Arial"/>
              </a:rPr>
              <a:t>Difficulty scaling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reporting and KPIs</a:t>
            </a:r>
          </a:p>
          <a:p>
            <a:pPr>
              <a:spcBef>
                <a:spcPts val="400"/>
              </a:spcBef>
              <a:buChar char="•"/>
            </a:pPr>
            <a:r>
              <a:rPr>
                <a:latin typeface="Arial"/>
              </a:rPr>
              <a:t>Tailored actions for each engagement</a:t>
            </a:r>
          </a:p>
          <a:p>
            <a:pPr>
              <a:spcBef>
                <a:spcPts val="400"/>
              </a:spcBef>
              <a:buChar char="•"/>
            </a:pPr>
            <a:r>
              <a:rPr>
                <a:latin typeface="Arial"/>
              </a:rPr>
              <a:t>Prioritise Welsh-based delivery and SMEs</a:t>
            </a:r>
          </a:p>
          <a:p>
            <a:pPr>
              <a:spcBef>
                <a:spcPts val="400"/>
              </a:spcBef>
              <a:buChar char="•"/>
            </a:pPr>
            <a:r>
              <a:rPr>
                <a:latin typeface="Arial"/>
              </a:rPr>
              <a:t>GreenOps and FinOps embedded from start</a:t>
            </a:r>
          </a:p>
          <a:p>
            <a:pPr>
              <a:spcBef>
                <a:spcPts val="400"/>
              </a:spcBef>
              <a:buChar char="•"/>
            </a:pPr>
            <a:r>
              <a:rPr>
                <a:latin typeface="Arial"/>
              </a:rPr>
              <a:t>Community engagement tracked and reported</a:t>
            </a:r>
          </a:p>
          <a:p>
            <a:pPr>
              <a:spcBef>
                <a:spcPts val="400"/>
              </a:spcBef>
              <a:buChar char="•"/>
            </a:pPr>
            <a:r>
              <a:rPr>
                <a:latin typeface="Arial"/>
              </a:rPr>
              <a:t>Framework-aligned governance</a:t>
            </a:r>
          </a:p>
          <a:p>
            <a:pPr>
              <a:spcBef>
                <a:spcPts val="400"/>
              </a:spcBef>
              <a:buChar char="•"/>
            </a:pPr>
            <a:r>
              <a:rPr>
                <a:latin typeface="Arial"/>
              </a:rPr>
              <a:t>Scalable, proportionate commitments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and next steps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actions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Review and feedback on proposal</a:t>
            </a:r>
          </a:p>
          <a:p>
            <a:pPr>
              <a:spcBef>
                <a:spcPts val="400"/>
              </a:spcBef>
              <a:buChar char="•"/>
            </a:pPr>
            <a:r>
              <a:rPr>
                <a:latin typeface="Arial"/>
              </a:rPr>
              <a:t>Confirm preferred delivery and commercial model</a:t>
            </a:r>
          </a:p>
          <a:p>
            <a:pPr>
              <a:spcBef>
                <a:spcPts val="400"/>
              </a:spcBef>
              <a:buChar char="•"/>
            </a:pPr>
            <a:r>
              <a:rPr>
                <a:latin typeface="Arial"/>
              </a:rPr>
              <a:t>Agree call-off scope and mobilisation plan</a:t>
            </a:r>
          </a:p>
          <a:p>
            <a:pPr>
              <a:spcBef>
                <a:spcPts val="400"/>
              </a:spcBef>
              <a:buChar char="•"/>
            </a:pPr>
            <a:r>
              <a:rPr>
                <a:latin typeface="Arial"/>
              </a:rPr>
              <a:t>Set up initial governance and reporting</a:t>
            </a:r>
          </a:p>
          <a:p>
            <a:pPr>
              <a:spcBef>
                <a:spcPts val="400"/>
              </a:spcBef>
              <a:buChar char="•"/>
            </a:pPr>
            <a:r>
              <a:rPr>
                <a:latin typeface="Arial"/>
              </a:rPr>
              <a:t>Schedule discovery or innovation window start</a:t>
            </a:r>
          </a:p>
        </p:txBody>
      </p:sp>
      <p:sp>
        <p:nvSpPr>
          <p:cNvPr id="4" name="Text Placeholder 3"/>
          <p:cNvSpPr>
            <a:spLocks noGrp="1"/>
          </p:cNvSpPr>
          <p:nvPr>
            <p:ph type="body" idx="12" sz="quarter"/>
          </p:nvPr>
        </p:nvSpPr>
        <p:spPr/>
        <p:txBody>
          <a:bodyPr/>
          <a:lstStyle/>
          <a:p>
            <a:pPr>
              <a:spcBef>
                <a:spcPts val="400"/>
              </a:spcBef>
              <a:buChar char="•"/>
            </a:pPr>
            <a:r>
              <a:rPr>
                <a:latin typeface="Arial"/>
              </a:rPr>
              <a:t>IBM/Stable: finalise team composition</a:t>
            </a:r>
          </a:p>
          <a:p>
            <a:pPr>
              <a:spcBef>
                <a:spcPts val="400"/>
              </a:spcBef>
              <a:buChar char="•"/>
            </a:pPr>
            <a:r>
              <a:rPr>
                <a:latin typeface="Arial"/>
              </a:rPr>
              <a:t>Jointly define KPIs and milestones</a:t>
            </a:r>
          </a:p>
          <a:p>
            <a:pPr>
              <a:spcBef>
                <a:spcPts val="400"/>
              </a:spcBef>
              <a:buChar char="•"/>
            </a:pPr>
            <a:r>
              <a:rPr>
                <a:latin typeface="Arial"/>
              </a:rPr>
              <a:t>NRW: provide access to stakeholders and data</a:t>
            </a:r>
          </a:p>
          <a:p>
            <a:pPr>
              <a:spcBef>
                <a:spcPts val="400"/>
              </a:spcBef>
              <a:buChar char="•"/>
            </a:pPr>
            <a:r>
              <a:rPr>
                <a:latin typeface="Arial"/>
              </a:rPr>
              <a:t>Agree sustainability and social value metrics</a:t>
            </a:r>
          </a:p>
          <a:p>
            <a:pPr>
              <a:spcBef>
                <a:spcPts val="400"/>
              </a:spcBef>
              <a:buChar char="•"/>
            </a:pPr>
            <a:r>
              <a:rPr>
                <a:latin typeface="Arial"/>
              </a:rPr>
              <a:t>Plan for continuous engagement and improvement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let’s partner with NRW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